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OpenCalc HarmonyOS Demo — aid-workflow 客户实验手册。本次 demo 基于 GitHub Issue #47，目标是带客户走一遍完整的 aid-workflow 流程：从基线代码克隆，到 3 个增量需求开发、编译验证、模拟器取证、最终生成可发布的客户手册。整套交付物在 JungleTestLabs/opencalc-harmonyos-demo 仓库，14 页 PPT 配 4 个独立项目目录。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这次 demo 的需求来自张老师 5 月 17 日提的 Issue #47，标记为「🔴 紧急」+ type:verification。原文要求：创建一个独立 repo，放 4 个文件夹（1 个基线 + 3 个增量需求），每个需求用最新的 aid-workflow command 做开发、编译验证、生成带截图的测试报告，最终为客户准备 DEMO 实验手册。任务交给狗助实施，爹助验证。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两个 agent 接力：狗助（JungleAssistant）负责需求分析、开发、实施和修 bug，用的是 requirement-development skill；产出 7 个 spec 文件后，把 issue 转给爹助（IntelliJungle）。爹助拉最新代码，走 requirement-verification skill，做 5 维度代码审查、模拟器实测取证，写 verification-report.md，最后审核客户手册可发布性。流水线：需求 → 🐶实施 → git push → 👴验证 → 客户手册 → 交付。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repo 下 4 个目录平铺。0-basic 是基线版本（克隆自 opencalc-harmonyos main），保留原始代码以供对比。1-percent-button 加 % 按钮（S 级，+5 行）；2-tip-calculator 新增小费计算器（S 级，+512 行）；3-draw-func 加函数图像绘制（M 级，+573 行）。所有项目编译都过了（3.7s~3.9s）。每个增量项目 = 0-basic + 一个独立需求，方便客户对比 before/after。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requirement-development skill 的标准 5 步：① 意图识别 → info.md（评估 S/M/L）；② 需求分析 → proposal.md（典型用例 + 验收草稿）；③ 详细规格 → delta-spec.md（完整 AC）；④ 任务拆分 → tasks.md + todo.md；⑤ 实施报告 → apply-report.md。每一步产物即下一步输入。爹助验证完追加 verification-report.md。每个需求共 7 个 spec 文件，全部用 markdown 相对路径超链接，客户点击直达。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最简单的一个需求，S 级，单文件 +5 行。新增 BtnPct Builder，在第一行 Row 里加 this.BtnPct() 调用。4 个测试用例全 PASS：50+10%=55、100-20%=80、200*15%=30、50%=0.5。但顺手发现一个 bug：第一行加了 % 后变成 5 个按钮，原始宽度 22%×4+14% = 102% 溢出右边框 — 详情看 P10。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新增独立页面 TipCalculatorPage.ets（410 行）+ 改 Index.ets 加导航入口（+102 行）。架构：4 预设比例按钮（10/15/18/20%）+ 自定义输入，三重输入校验（金额&gt;0、人数&gt;0、比例有效），实时计算公式：金额 ×(1+比例)÷人数。4 个测试用例全 PASS，包括两个错误场景（金额=0、人数=0）的提示。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M 级，新增 DrawFuncPage.ets（491 行）+ Index.ets（+82 行）。核心能力：Canvas 渲染坐标轴/网格/刻度，CalcEngine 采样，6 预设（sin/cos/tan/x²/x³/sqrt），智能变量替换（只替换独立 x），NaN 断点处理（tan(π/2) 自动断线），自适应 y 轴。爹助修了 8 个 ArkTS 类型错误：内联对象 {x:number,y:number} → 抽 interface Point；flexWrap 不存在 → 移除该属性。修复后 BUILD SUCCESSFUL 3.73s。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这次实验最大的硬骨头，影响全部 4 个项目。症状是 hvigorw --sync 报错说缺 5 个组件，但 SDK 物理文件齐全。根因：DevEco Studio 自带的 hos-config.json 里 pathVersionMapper["6.0.2"]="" 是空串（falsy），导致 _parsingPlatforms() 永远不被触发；而 SDK 是嵌套布局，组件全被 _isComponentInRightPlace() 拒掉。修复：在每个项目的 hvigorfile.ts 里运行时打补丁，用绝对路径预热 require 缓存，原地改 HOS_CONFIG.pathVersionMapper['6.0.2'] 为非空串。这样后续插件加载缓存命中，_parsingPlatforms 被触发，子组件被映射到真实存在的 openharmony/&lt;comp&gt; 和 hms/&lt;comp&gt;。优点是不动 /Applications、跟项目走、DevEco Studio 升级不会覆盖。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before/after 对比一目了然。Before：5 个按钮宽度 22%×4 + 14% = 102%，最后一个 ÷ 按钮被截掉。After：给 BtnAct/BtnOp 加宽度参数，第一行传 '18%'，合计 86%，留 14% 给 margin。其他行保持 22%×4 = 88% 不变。这是一次典型的「发现-定位-修-验证」小循环。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左半边是编译/安装命令，右半边是 3 个演示路径。前提：HarmonyOS 模拟器已连接（127.0.0.1:5555）。编译用 hvigorw assembleHap，安装用 hdc install，启动用 hdc shell aa start。注意警告：3 个项目共用同一 bundleName，后装的会覆盖前一个，演示时要重新装目标 HAP。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5 个常见现象的检查路径：① SDK_COMPONENT_MISSING → 看 hvigorfile.ts 补丁；② ArkTS 类型错误 → 看 verification-report.md 修复清单；③ 按钮/页面不显示 → 检查 Index.ets 导航和 Row 子组件；④ 计算结果不对 → 看核心方法（calculate/getPercentString/sampleFunction）；⑤ 不知道改了什么 → diff ../0-basic/ 或看 apply-report.md。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5 条总结：① aid-workflow 7 个 spec 文件是组织复杂需求的脚手架，每步产物即下步输入，中途换人也能 pick up；② 运行时补丁优于改系统文件，hvigorfile.ts 这种「项目级 hook 点」可以透明拦截；③ 截图取证用 hdc 串接（snapshot + dumpLayout + uinput）也能绕过 MCP 不可用；④ DEMO 手册要做到「客户没做完也能看到结果」— 截图本地化 + 相对路径超链接；⑤ 共用 bundleName 在多版本演示场景下要注意 install 互覆盖。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4 个链接索引：Issue 来源（hermes-agent-workflow#47）、代码仓库（opencalc-harmonyos-demo）、aid-workflow 实施 skill 和验证 skill、基线代码（opencalc-harmonyos main）。结束页。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af78fd7c8377aa27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a41bcd65d6a0b250.jpg"/>
  <Relationship Id="rId3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1301d3402a4a0204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35015ae6cdaae867.jpg"/>
  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857250"/>
            <a:ext cx="10668000" cy="5143500"/>
          </a:xfrm>
          <a:prstGeom prst="rect">
            <a:avLst/>
          </a:prstGeom>
          <a:noFill/>
          <a:ln w="9525">
            <a:solidFill>
              <a:srgbClr val="E5E5EA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762000" y="857250"/>
            <a:ext cx="1905000" cy="323850"/>
          </a:xfrm>
          <a:prstGeom prst="rect">
            <a:avLst/>
          </a:prstGeom>
          <a:solidFill>
            <a:srgbClr val="F5F5F7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940118" y="971074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CUSTOMER DEMO MANUAL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02970" y="2341245"/>
            <a:ext cx="7694609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OpenCalc HarmonyOS Demo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25830" y="3164205"/>
            <a:ext cx="397916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aid-workflow 客户实验手册</a:t>
            </a:r>
          </a:p>
        </p:txBody>
      </p:sp>
      <p:sp>
        <p:nvSpPr>
          <p:cNvPr id="9" name="Line 9"/>
          <p:cNvSpPr/>
          <p:nvPr/>
        </p:nvSpPr>
        <p:spPr>
          <a:xfrm>
            <a:off x="952500" y="3829050"/>
            <a:ext cx="1333500" cy="9525"/>
          </a:xfrm>
          <a:custGeom>
            <a:avLst/>
            <a:gdLst/>
            <a:ahLst/>
            <a:cxnLst/>
            <a:rect l="l" t="t" r="r" b="b"/>
            <a:pathLst>
              <a:path w="1333500" h="952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937260" y="4118610"/>
            <a:ext cx="472744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从 Issue #47 出发 · 4 个项目 · 3 个增量需求 · 1 套验证流程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90600" y="5010150"/>
            <a:ext cx="2095500" cy="307181"/>
            <a:chOff x="990600" y="5010150"/>
            <a:chExt cx="2095500" cy="307181"/>
          </a:xfrm>
        </p:grpSpPr>
        <p:sp>
          <p:nvSpPr>
            <p:cNvPr id="11" name="Ellipse 11"/>
            <p:cNvSpPr/>
            <p:nvPr/>
          </p:nvSpPr>
          <p:spPr>
            <a:xfrm>
              <a:off x="990600" y="5010150"/>
              <a:ext cx="266700" cy="266700"/>
            </a:xfrm>
            <a:prstGeom prst="ellipse">
              <a:avLst/>
            </a:prstGeom>
            <a:solidFill>
              <a:srgbClr val="B7DAB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29332" y="509539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AC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1447800" y="5010150"/>
              <a:ext cx="266700" cy="266700"/>
            </a:xfrm>
            <a:prstGeom prst="ellipse">
              <a:avLst/>
            </a:prstGeom>
            <a:solidFill>
              <a:srgbClr val="B4D2E4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27650" y="5095399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%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1905000" y="5010150"/>
              <a:ext cx="266700" cy="266700"/>
            </a:xfrm>
            <a:prstGeom prst="ellipse">
              <a:avLst/>
            </a:prstGeom>
            <a:solidFill>
              <a:srgbClr val="B4D2E4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984850" y="5095399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÷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2362200" y="5010150"/>
              <a:ext cx="266700" cy="266700"/>
            </a:xfrm>
            <a:prstGeom prst="ellipse">
              <a:avLst/>
            </a:prstGeom>
            <a:solidFill>
              <a:srgbClr val="F5F5F7"/>
            </a:solidFill>
            <a:ln w="9525">
              <a:solidFill>
                <a:srgbClr val="E5E5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442050" y="5095399"/>
              <a:ext cx="1070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7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2819400" y="5010150"/>
              <a:ext cx="266700" cy="26670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891019" y="5088731"/>
              <a:ext cx="1234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=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3322320" y="5103495"/>
            <a:ext cx="32958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— 借 OpenCalc 自身配色（运算符/数字/等号 + % 新增）</a:t>
            </a:r>
          </a:p>
        </p:txBody>
      </p:sp>
      <p:sp>
        <p:nvSpPr>
          <p:cNvPr id="23" name="Line 23"/>
          <p:cNvSpPr/>
          <p:nvPr/>
        </p:nvSpPr>
        <p:spPr>
          <a:xfrm>
            <a:off x="952500" y="5715000"/>
            <a:ext cx="10287000" cy="9525"/>
          </a:xfrm>
          <a:custGeom>
            <a:avLst/>
            <a:gdLst/>
            <a:ahLst/>
            <a:cxnLst/>
            <a:rect l="l" t="t" r="r" b="b"/>
            <a:pathLst>
              <a:path w="10287000" h="9525">
                <a:moveTo>
                  <a:pt x="0" y="0"/>
                </a:moveTo>
                <a:lnTo>
                  <a:pt x="102870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940118" y="5895499"/>
            <a:ext cx="5018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Issue ·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511618" y="5895499"/>
            <a:ext cx="29510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Intelli-Jungle/hermes-agent-workflow#47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131118" y="5895499"/>
            <a:ext cx="4590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Repo ·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702618" y="5895499"/>
            <a:ext cx="29866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JungleTestLabs/opencalc-harmonyos-demo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622274" y="589549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2026-05-17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885622" y="59116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01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15683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02 · BACKGROUND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2972764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起因（Issue #47）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838200" y="1314450"/>
            <a:ext cx="987695" cy="182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0" b="1" dirty="0">
                <a:solidFill>
                  <a:srgbClr val="B4D2E4"/>
                </a:solidFill>
                <a:latin typeface="Arial"/>
                <a:ea typeface="Microsoft YaHei"/>
                <a:cs typeface="Arial"/>
              </a:rPr>
              <a:t>“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93545" y="2184082"/>
            <a:ext cx="728343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创建一个 opencalc-harmonyos-demo 的 repo，里面 4 个文件夹：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93545" y="2565082"/>
            <a:ext cx="372894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0-basic（基线）+ 3 个增量需求。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95450" y="3228975"/>
            <a:ext cx="631459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每个需求用最新的 aid-workflow command 做开发、编译验证、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5450" y="3571875"/>
            <a:ext cx="577786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生成带截图的测试报告。最终为客户准备 DEMO 实验手册。</a:t>
            </a:r>
          </a:p>
        </p:txBody>
      </p:sp>
      <p:sp>
        <p:nvSpPr>
          <p:cNvPr id="12" name="Line 12"/>
          <p:cNvSpPr/>
          <p:nvPr/>
        </p:nvSpPr>
        <p:spPr>
          <a:xfrm>
            <a:off x="1714500" y="438150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701165" y="4553902"/>
            <a:ext cx="271033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—— @zhangtbj · 2026-05-17 04:26 UTC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714500" y="4953000"/>
            <a:ext cx="4229100" cy="304800"/>
            <a:chOff x="1714500" y="4953000"/>
            <a:chExt cx="4229100" cy="304800"/>
          </a:xfrm>
        </p:grpSpPr>
        <p:sp>
          <p:nvSpPr>
            <p:cNvPr id="14" name="Rectangle 14"/>
            <p:cNvSpPr/>
            <p:nvPr/>
          </p:nvSpPr>
          <p:spPr>
            <a:xfrm>
              <a:off x="1714500" y="4953000"/>
              <a:ext cx="1143000" cy="304800"/>
            </a:xfrm>
            <a:prstGeom prst="roundRect">
              <a:avLst>
                <a:gd name="adj" fmla="val 50000"/>
              </a:avLst>
            </a:prstGeom>
            <a:solidFill>
              <a:srgbClr val="FCE4EC"/>
            </a:solidFill>
            <a:ln w="9525">
              <a:solidFill>
                <a:srgbClr val="F44B3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060553" y="5047774"/>
              <a:ext cx="45089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44B3F"/>
                  </a:solidFill>
                  <a:latin typeface="Arial"/>
                  <a:ea typeface="Microsoft YaHei"/>
                  <a:cs typeface="Arial"/>
                </a:rPr>
                <a:t>🔴 紧急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971800" y="4953000"/>
              <a:ext cx="1524000" cy="304800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 w="9525">
              <a:solidFill>
                <a:srgbClr val="E5E5E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109103" y="5047774"/>
              <a:ext cx="124939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type:verification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610100" y="4953000"/>
              <a:ext cx="1333500" cy="304800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 w="9525">
              <a:solidFill>
                <a:srgbClr val="E5E5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837271" y="5047774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State: OPEN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702118" y="56859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链接 →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273618" y="5685949"/>
            <a:ext cx="431808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github.com/Intelli-Jungle/hermes-agent-workflow/issues/47</a:t>
            </a:r>
          </a:p>
        </p:txBody>
      </p:sp>
      <p:sp>
        <p:nvSpPr>
          <p:cNvPr id="23" name="Line 23"/>
          <p:cNvSpPr/>
          <p:nvPr/>
        </p:nvSpPr>
        <p:spPr>
          <a:xfrm>
            <a:off x="762000" y="62865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751522" y="646414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046000" y="646414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02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7652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03 · ROLES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143732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角色分工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42630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两个 agent 的接力流水线 — 各司其职，clear handoff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2095500"/>
            <a:ext cx="5334000" cy="361950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089660" y="2261235"/>
            <a:ext cx="444056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🐶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82140" y="2377440"/>
            <a:ext cx="597789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狗助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92618" y="2714149"/>
            <a:ext cx="11283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JungleAssistant</a:t>
            </a:r>
          </a:p>
        </p:txBody>
      </p:sp>
      <p:sp>
        <p:nvSpPr>
          <p:cNvPr id="12" name="Line 12"/>
          <p:cNvSpPr/>
          <p:nvPr/>
        </p:nvSpPr>
        <p:spPr>
          <a:xfrm>
            <a:off x="1143000" y="3028950"/>
            <a:ext cx="4572000" cy="9525"/>
          </a:xfrm>
          <a:custGeom>
            <a:avLst/>
            <a:gdLst/>
            <a:ahLst/>
            <a:cxnLst/>
            <a:rect l="l" t="t" r="r" b="b"/>
            <a:pathLst>
              <a:path w="4572000" h="9525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129665" y="325850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RESPONSIBILITIES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09675" y="3594735"/>
            <a:ext cx="5988558" cy="1539240"/>
            <a:chOff x="1209675" y="3594735"/>
            <a:chExt cx="5988558" cy="1539240"/>
          </a:xfrm>
        </p:grpSpPr>
        <p:sp>
          <p:nvSpPr>
            <p:cNvPr id="14" name="Ellipse 14"/>
            <p:cNvSpPr/>
            <p:nvPr/>
          </p:nvSpPr>
          <p:spPr>
            <a:xfrm>
              <a:off x="1209675" y="3648075"/>
              <a:ext cx="57150" cy="57150"/>
            </a:xfrm>
            <a:prstGeom prst="ellipse">
              <a:avLst/>
            </a:prstGeom>
            <a:solidFill>
              <a:srgbClr val="B4D2E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375410" y="3594735"/>
              <a:ext cx="37635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读需求 → 调用 requirement-development skill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1209675" y="3971925"/>
              <a:ext cx="57150" cy="57150"/>
            </a:xfrm>
            <a:prstGeom prst="ellipse">
              <a:avLst/>
            </a:prstGeom>
            <a:solidFill>
              <a:srgbClr val="B4D2E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375410" y="3918585"/>
              <a:ext cx="582282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产出 7 个 spec 文件（info/proposal/delta/tasks/todo/apply/notes）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1209675" y="4295775"/>
              <a:ext cx="57150" cy="57150"/>
            </a:xfrm>
            <a:prstGeom prst="ellipse">
              <a:avLst/>
            </a:prstGeom>
            <a:solidFill>
              <a:srgbClr val="B4D2E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75410" y="4242435"/>
              <a:ext cx="410527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实施代码改动 + 编译验证（hvigorw assembleHap）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209675" y="4619625"/>
              <a:ext cx="57150" cy="57150"/>
            </a:xfrm>
            <a:prstGeom prst="ellipse">
              <a:avLst/>
            </a:prstGeom>
            <a:solidFill>
              <a:srgbClr val="B4D2E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375410" y="4566285"/>
              <a:ext cx="373722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遇编译错误自己修（ArkTS 严格度 / SDK 兼容）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1209675" y="4943475"/>
              <a:ext cx="57150" cy="57150"/>
            </a:xfrm>
            <a:prstGeom prst="ellipse">
              <a:avLst/>
            </a:prstGeom>
            <a:solidFill>
              <a:srgbClr val="B4D2E4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375410" y="4890135"/>
              <a:ext cx="244906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推送到 git，转交 issue 给爹助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31570" y="5351145"/>
            <a:ext cx="277663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skill_bank/skills/requirement-development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6286500" y="3857625"/>
            <a:ext cx="495300" cy="95250"/>
            <a:chOff x="6286500" y="3857625"/>
            <a:chExt cx="495300" cy="95250"/>
          </a:xfrm>
        </p:grpSpPr>
        <p:sp>
          <p:nvSpPr>
            <p:cNvPr id="26" name="Line 26"/>
            <p:cNvSpPr/>
            <p:nvPr/>
          </p:nvSpPr>
          <p:spPr>
            <a:xfrm>
              <a:off x="6286500" y="3905250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19050">
              <a:solidFill>
                <a:srgbClr val="595959"/>
              </a:solidFill>
            </a:ln>
          </p:spPr>
        </p:sp>
        <p:sp>
          <p:nvSpPr>
            <p:cNvPr id="27" name="Polygon 27"/>
            <p:cNvSpPr/>
            <p:nvPr/>
          </p:nvSpPr>
          <p:spPr>
            <a:xfrm>
              <a:off x="6667500" y="3857625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0" y="0"/>
                  </a:moveTo>
                  <a:lnTo>
                    <a:pt x="114300" y="47625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</p:grpSp>
      <p:sp>
        <p:nvSpPr>
          <p:cNvPr id="29" name="Rectangle 29"/>
          <p:cNvSpPr/>
          <p:nvPr/>
        </p:nvSpPr>
        <p:spPr>
          <a:xfrm>
            <a:off x="6858000" y="2095500"/>
            <a:ext cx="4572000" cy="361950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7185660" y="2261235"/>
            <a:ext cx="444056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👴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978140" y="2377440"/>
            <a:ext cx="597789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爹助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988618" y="2714149"/>
            <a:ext cx="86491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IntelliJungle</a:t>
            </a:r>
          </a:p>
        </p:txBody>
      </p:sp>
      <p:sp>
        <p:nvSpPr>
          <p:cNvPr id="33" name="Line 33"/>
          <p:cNvSpPr/>
          <p:nvPr/>
        </p:nvSpPr>
        <p:spPr>
          <a:xfrm>
            <a:off x="7239000" y="302895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7225665" y="325850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RESPONSIBILITIES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7305675" y="3594735"/>
            <a:ext cx="4674108" cy="1539240"/>
            <a:chOff x="7305675" y="3594735"/>
            <a:chExt cx="4674108" cy="1539240"/>
          </a:xfrm>
        </p:grpSpPr>
        <p:sp>
          <p:nvSpPr>
            <p:cNvPr id="35" name="Ellipse 35"/>
            <p:cNvSpPr/>
            <p:nvPr/>
          </p:nvSpPr>
          <p:spPr>
            <a:xfrm>
              <a:off x="7305675" y="364807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71410" y="3594735"/>
              <a:ext cx="343052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从 repo 拉最新代码 → 走 verification skill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05675" y="397192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471410" y="3918585"/>
              <a:ext cx="42454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5 维度代码审查（正确性/鲁棒性/安全/可维护/性能）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05675" y="429577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71410" y="4242435"/>
              <a:ext cx="45083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模拟器实测取证（hdc snapshot + uitest dumpLayout）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05675" y="461962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471410" y="4566285"/>
              <a:ext cx="37635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写 verification-report.md 含编译结果 + 截图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05675" y="494347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471410" y="4890135"/>
              <a:ext cx="313258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审核客户手册可发布性，推最终版到 git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227570" y="5351145"/>
            <a:ext cx="27569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skill_bank/skills/requirement-verification</a:t>
            </a:r>
          </a:p>
        </p:txBody>
      </p:sp>
      <p:sp>
        <p:nvSpPr>
          <p:cNvPr id="47" name="Rectangle 47"/>
          <p:cNvSpPr/>
          <p:nvPr/>
        </p:nvSpPr>
        <p:spPr>
          <a:xfrm>
            <a:off x="762000" y="6000750"/>
            <a:ext cx="106680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48" name="TextBox 48"/>
          <p:cNvSpPr txBox="1"/>
          <p:nvPr/>
        </p:nvSpPr>
        <p:spPr>
          <a:xfrm>
            <a:off x="3985570" y="6135052"/>
            <a:ext cx="42208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流水线：</a:t>
            </a:r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</a:t>
            </a:r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 xml:space="preserve"> → 🐶 实施 → git push → 👴 验证 → 客户手册 → </a:t>
            </a:r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交付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046000" y="665464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03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0500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04 · STRUCTURE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143732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项目结构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563003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每个增量项目 = 0-basic + 一个独立需求 · 方便客户对比 before/after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2095500"/>
            <a:ext cx="10668000" cy="361950"/>
          </a:xfrm>
          <a:prstGeom prst="roundRect">
            <a:avLst>
              <a:gd name="adj" fmla="val 15789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939165" y="2210752"/>
            <a:ext cx="207392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opencalc-harmonyos-demo/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92708" y="2226945"/>
            <a:ext cx="405822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git@github.com:JungleTestLabs/opencalc-harmonyos-demo.git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2667000"/>
            <a:ext cx="2524125" cy="3238500"/>
          </a:xfrm>
          <a:prstGeom prst="roundRect">
            <a:avLst>
              <a:gd name="adj" fmla="val 3774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12" name="Rectangle 12"/>
          <p:cNvSpPr/>
          <p:nvPr/>
        </p:nvSpPr>
        <p:spPr>
          <a:xfrm>
            <a:off x="762000" y="2667000"/>
            <a:ext cx="2524125" cy="419100"/>
          </a:xfrm>
          <a:prstGeom prst="roundRect">
            <a:avLst>
              <a:gd name="adj" fmla="val 22727"/>
            </a:avLst>
          </a:prstGeom>
          <a:solidFill>
            <a:srgbClr val="E5E5E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762000" y="2990850"/>
            <a:ext cx="2524125" cy="95250"/>
          </a:xfrm>
          <a:prstGeom prst="rect">
            <a:avLst/>
          </a:prstGeom>
          <a:solidFill>
            <a:srgbClr val="E5E5E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938212" y="2812256"/>
            <a:ext cx="7445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0-basic/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2023" y="2836545"/>
            <a:ext cx="56835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BASELINE</a:t>
            </a:r>
          </a:p>
        </p:txBody>
      </p:sp>
      <p:sp>
        <p:nvSpPr>
          <p:cNvPr id="16" name="Rectangle 16"/>
          <p:cNvSpPr/>
          <p:nvPr/>
        </p:nvSpPr>
        <p:spPr>
          <a:xfrm>
            <a:off x="1314450" y="3219450"/>
            <a:ext cx="1409700" cy="2400300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9050">
            <a:solidFill>
              <a:srgbClr val="E5E5EA"/>
            </a:solidFill>
          </a:ln>
        </p:spPr>
      </p:sp>
      <p:pic>
        <p:nvPicPr>
          <p:cNvPr id="17" name="Imag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483" y="3257550"/>
            <a:ext cx="1057634" cy="23241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82599" y="5694045"/>
            <a:ext cx="207340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克隆自 opencalc-harmonyos main</a:t>
            </a:r>
          </a:p>
        </p:txBody>
      </p:sp>
      <p:sp>
        <p:nvSpPr>
          <p:cNvPr id="19" name="Rectangle 19"/>
          <p:cNvSpPr/>
          <p:nvPr/>
        </p:nvSpPr>
        <p:spPr>
          <a:xfrm>
            <a:off x="3476625" y="2667000"/>
            <a:ext cx="2524125" cy="3238500"/>
          </a:xfrm>
          <a:prstGeom prst="roundRect">
            <a:avLst>
              <a:gd name="adj" fmla="val 3774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20" name="Rectangle 20"/>
          <p:cNvSpPr/>
          <p:nvPr/>
        </p:nvSpPr>
        <p:spPr>
          <a:xfrm>
            <a:off x="3476625" y="2667000"/>
            <a:ext cx="2524125" cy="419100"/>
          </a:xfrm>
          <a:prstGeom prst="roundRect">
            <a:avLst>
              <a:gd name="adj" fmla="val 22727"/>
            </a:avLst>
          </a:prstGeom>
          <a:solidFill>
            <a:srgbClr val="B4D2E4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3476625" y="2990850"/>
            <a:ext cx="2524125" cy="9525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3652838" y="2812256"/>
            <a:ext cx="15985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1-percent-button/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485638" y="2836545"/>
            <a:ext cx="36461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 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199215" y="337851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百分号按钮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654742" y="3780949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复杂度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549833" y="3780949"/>
            <a:ext cx="3013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S 级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654742" y="402859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改动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467598" y="4028599"/>
            <a:ext cx="38361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+5 行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654742" y="427624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编译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288175" y="4276249"/>
            <a:ext cx="5630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B7DABD"/>
                </a:solidFill>
                <a:latin typeface="Arial"/>
                <a:ea typeface="Microsoft YaHei"/>
                <a:cs typeface="Arial"/>
              </a:rPr>
              <a:t>✓ 3.88s</a:t>
            </a:r>
          </a:p>
        </p:txBody>
      </p:sp>
      <p:sp>
        <p:nvSpPr>
          <p:cNvPr id="31" name="Line 31"/>
          <p:cNvSpPr/>
          <p:nvPr/>
        </p:nvSpPr>
        <p:spPr>
          <a:xfrm>
            <a:off x="3667125" y="4648200"/>
            <a:ext cx="2171700" cy="9525"/>
          </a:xfrm>
          <a:custGeom>
            <a:avLst/>
            <a:gdLst/>
            <a:ahLst/>
            <a:cxnLst/>
            <a:rect l="l" t="t" r="r" b="b"/>
            <a:pathLst>
              <a:path w="2171700" h="9525">
                <a:moveTo>
                  <a:pt x="0" y="0"/>
                </a:moveTo>
                <a:lnTo>
                  <a:pt x="21717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3654742" y="4847749"/>
            <a:ext cx="8577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第一行加 %：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655695" y="5103495"/>
            <a:ext cx="71951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50+10% = 55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655695" y="5351145"/>
            <a:ext cx="7918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200*15% = 30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655695" y="5674995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见 P06 详细</a:t>
            </a:r>
          </a:p>
        </p:txBody>
      </p:sp>
      <p:sp>
        <p:nvSpPr>
          <p:cNvPr id="36" name="Rectangle 36"/>
          <p:cNvSpPr/>
          <p:nvPr/>
        </p:nvSpPr>
        <p:spPr>
          <a:xfrm>
            <a:off x="6191250" y="2667000"/>
            <a:ext cx="2524125" cy="3238500"/>
          </a:xfrm>
          <a:prstGeom prst="roundRect">
            <a:avLst>
              <a:gd name="adj" fmla="val 3774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37" name="Rectangle 37"/>
          <p:cNvSpPr/>
          <p:nvPr/>
        </p:nvSpPr>
        <p:spPr>
          <a:xfrm>
            <a:off x="6191250" y="2667000"/>
            <a:ext cx="2524125" cy="419100"/>
          </a:xfrm>
          <a:prstGeom prst="roundRect">
            <a:avLst>
              <a:gd name="adj" fmla="val 22727"/>
            </a:avLst>
          </a:prstGeom>
          <a:solidFill>
            <a:srgbClr val="B7DABD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6191250" y="2990850"/>
            <a:ext cx="2524125" cy="95250"/>
          </a:xfrm>
          <a:prstGeom prst="rect">
            <a:avLst/>
          </a:prstGeom>
          <a:solidFill>
            <a:srgbClr val="B7DABD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6367462" y="2812256"/>
            <a:ext cx="151226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2-tip-calculator/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167402" y="2836545"/>
            <a:ext cx="3974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 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13840" y="337851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小费计算器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369368" y="3780949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复杂度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264458" y="3780949"/>
            <a:ext cx="3013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S 级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69368" y="402859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新增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055132" y="4028599"/>
            <a:ext cx="5107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+512 行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369368" y="427624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编译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002800" y="4276249"/>
            <a:ext cx="5630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B7DABD"/>
                </a:solidFill>
                <a:latin typeface="Arial"/>
                <a:ea typeface="Microsoft YaHei"/>
                <a:cs typeface="Arial"/>
              </a:rPr>
              <a:t>✓ 3.94s</a:t>
            </a:r>
          </a:p>
        </p:txBody>
      </p:sp>
      <p:sp>
        <p:nvSpPr>
          <p:cNvPr id="48" name="Line 48"/>
          <p:cNvSpPr/>
          <p:nvPr/>
        </p:nvSpPr>
        <p:spPr>
          <a:xfrm>
            <a:off x="6381750" y="4648200"/>
            <a:ext cx="2171700" cy="9525"/>
          </a:xfrm>
          <a:custGeom>
            <a:avLst/>
            <a:gdLst/>
            <a:ahLst/>
            <a:cxnLst/>
            <a:rect l="l" t="t" r="r" b="b"/>
            <a:pathLst>
              <a:path w="2171700" h="9525">
                <a:moveTo>
                  <a:pt x="0" y="0"/>
                </a:moveTo>
                <a:lnTo>
                  <a:pt x="21717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6369368" y="4847749"/>
            <a:ext cx="118531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独立页面 + 导航：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370320" y="5103495"/>
            <a:ext cx="9692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¥100 / 2人 / 15%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370320" y="5351145"/>
            <a:ext cx="87068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→ 每人 ¥57.50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370320" y="5674995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见 P07 详细</a:t>
            </a:r>
          </a:p>
        </p:txBody>
      </p:sp>
      <p:sp>
        <p:nvSpPr>
          <p:cNvPr id="53" name="Rectangle 53"/>
          <p:cNvSpPr/>
          <p:nvPr/>
        </p:nvSpPr>
        <p:spPr>
          <a:xfrm>
            <a:off x="8905875" y="2667000"/>
            <a:ext cx="2524125" cy="3238500"/>
          </a:xfrm>
          <a:prstGeom prst="roundRect">
            <a:avLst>
              <a:gd name="adj" fmla="val 3774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54" name="Rectangle 54"/>
          <p:cNvSpPr/>
          <p:nvPr/>
        </p:nvSpPr>
        <p:spPr>
          <a:xfrm>
            <a:off x="8905875" y="2667000"/>
            <a:ext cx="2524125" cy="419100"/>
          </a:xfrm>
          <a:prstGeom prst="roundRect">
            <a:avLst>
              <a:gd name="adj" fmla="val 22727"/>
            </a:avLst>
          </a:prstGeom>
          <a:solidFill>
            <a:srgbClr val="DCB5C5"/>
          </a:solidFill>
          <a:ln>
            <a:noFill/>
          </a:ln>
        </p:spPr>
      </p:sp>
      <p:sp>
        <p:nvSpPr>
          <p:cNvPr id="55" name="Rectangle 55"/>
          <p:cNvSpPr/>
          <p:nvPr/>
        </p:nvSpPr>
        <p:spPr>
          <a:xfrm>
            <a:off x="8905875" y="2990850"/>
            <a:ext cx="2524125" cy="95250"/>
          </a:xfrm>
          <a:prstGeom prst="rect">
            <a:avLst/>
          </a:prstGeom>
          <a:solidFill>
            <a:srgbClr val="DCB5C5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9082088" y="2812256"/>
            <a:ext cx="120172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3-draw-func/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0882027" y="2836545"/>
            <a:ext cx="3974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 3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731978" y="33785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函数图像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083992" y="3780949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复杂度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949179" y="3780949"/>
            <a:ext cx="33127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M 级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083992" y="402859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新增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0732377" y="4028599"/>
            <a:ext cx="54808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+573 行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9083992" y="427624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编译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0717425" y="4276249"/>
            <a:ext cx="5630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B7DABD"/>
                </a:solidFill>
                <a:latin typeface="Arial"/>
                <a:ea typeface="Microsoft YaHei"/>
                <a:cs typeface="Arial"/>
              </a:rPr>
              <a:t>✓ 3.73s</a:t>
            </a:r>
          </a:p>
        </p:txBody>
      </p:sp>
      <p:sp>
        <p:nvSpPr>
          <p:cNvPr id="65" name="Line 65"/>
          <p:cNvSpPr/>
          <p:nvPr/>
        </p:nvSpPr>
        <p:spPr>
          <a:xfrm>
            <a:off x="9096375" y="4648200"/>
            <a:ext cx="2171700" cy="9525"/>
          </a:xfrm>
          <a:custGeom>
            <a:avLst/>
            <a:gdLst/>
            <a:ahLst/>
            <a:cxnLst/>
            <a:rect l="l" t="t" r="r" b="b"/>
            <a:pathLst>
              <a:path w="2171700" h="9525">
                <a:moveTo>
                  <a:pt x="0" y="0"/>
                </a:moveTo>
                <a:lnTo>
                  <a:pt x="21717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66" name="TextBox 66"/>
          <p:cNvSpPr txBox="1"/>
          <p:nvPr/>
        </p:nvSpPr>
        <p:spPr>
          <a:xfrm>
            <a:off x="9083992" y="4847749"/>
            <a:ext cx="9645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Canvas 绘图：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084945" y="510349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y = sin(x), cos(x),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9084945" y="5351145"/>
            <a:ext cx="144246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tan(x), x^2, x*sin(x)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9084945" y="5674995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见 P08 详细</a:t>
            </a:r>
          </a:p>
        </p:txBody>
      </p:sp>
      <p:sp>
        <p:nvSpPr>
          <p:cNvPr id="70" name="Line 70"/>
          <p:cNvSpPr/>
          <p:nvPr/>
        </p:nvSpPr>
        <p:spPr>
          <a:xfrm>
            <a:off x="762000" y="62865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71" name="TextBox 71"/>
          <p:cNvSpPr txBox="1"/>
          <p:nvPr/>
        </p:nvSpPr>
        <p:spPr>
          <a:xfrm>
            <a:off x="751522" y="646414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1046000" y="646414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04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0856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05 · WORKFLOW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378361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aid-workflow 五步流程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60681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requirement-development skill 的标准 5 步 · 每一步产物作为下一步的输入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2571750"/>
            <a:ext cx="1905000" cy="1143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B4D2E4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762000" y="2571750"/>
            <a:ext cx="1905000" cy="304800"/>
          </a:xfrm>
          <a:prstGeom prst="roundRect">
            <a:avLst>
              <a:gd name="adj" fmla="val 31250"/>
            </a:avLst>
          </a:prstGeom>
          <a:solidFill>
            <a:srgbClr val="B4D2E4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762000" y="2800350"/>
            <a:ext cx="1905000" cy="762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339535" y="2666524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① 意图识别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7784" y="31251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复杂度评估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30322" y="3350895"/>
            <a:ext cx="56835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S / M / L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000125" y="3543300"/>
            <a:ext cx="1428750" cy="95250"/>
          </a:xfrm>
          <a:prstGeom prst="rect">
            <a:avLst/>
          </a:prstGeom>
          <a:noFill/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423880" y="3549491"/>
            <a:ext cx="5812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→ info.md</a:t>
            </a:r>
          </a:p>
        </p:txBody>
      </p:sp>
      <p:sp>
        <p:nvSpPr>
          <p:cNvPr id="16" name="Line 16"/>
          <p:cNvSpPr/>
          <p:nvPr/>
        </p:nvSpPr>
        <p:spPr>
          <a:xfrm>
            <a:off x="2705100" y="31432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595959"/>
            </a:solidFill>
          </a:ln>
        </p:spPr>
      </p:sp>
      <p:sp>
        <p:nvSpPr>
          <p:cNvPr id="17" name="Polygon 17"/>
          <p:cNvSpPr/>
          <p:nvPr/>
        </p:nvSpPr>
        <p:spPr>
          <a:xfrm>
            <a:off x="2857500" y="3095625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2971800" y="2571750"/>
            <a:ext cx="1905000" cy="1143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B4D2E4"/>
            </a:solidFill>
          </a:ln>
        </p:spPr>
      </p:sp>
      <p:sp>
        <p:nvSpPr>
          <p:cNvPr id="19" name="Rectangle 19"/>
          <p:cNvSpPr/>
          <p:nvPr/>
        </p:nvSpPr>
        <p:spPr>
          <a:xfrm>
            <a:off x="2971800" y="2571750"/>
            <a:ext cx="1905000" cy="304800"/>
          </a:xfrm>
          <a:prstGeom prst="roundRect">
            <a:avLst>
              <a:gd name="adj" fmla="val 31250"/>
            </a:avLst>
          </a:prstGeom>
          <a:solidFill>
            <a:srgbClr val="B4D2E4"/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2971800" y="2800350"/>
            <a:ext cx="1905000" cy="762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3549335" y="2666524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② 需求分析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604260" y="312515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典型用例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594116" y="3350895"/>
            <a:ext cx="66036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+ 验收草稿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501140" y="3549491"/>
            <a:ext cx="84632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→ proposal.md</a:t>
            </a:r>
          </a:p>
        </p:txBody>
      </p:sp>
      <p:sp>
        <p:nvSpPr>
          <p:cNvPr id="25" name="Line 25"/>
          <p:cNvSpPr/>
          <p:nvPr/>
        </p:nvSpPr>
        <p:spPr>
          <a:xfrm>
            <a:off x="4914900" y="31432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595959"/>
            </a:solidFill>
          </a:ln>
        </p:spPr>
      </p:sp>
      <p:sp>
        <p:nvSpPr>
          <p:cNvPr id="26" name="Polygon 26"/>
          <p:cNvSpPr/>
          <p:nvPr/>
        </p:nvSpPr>
        <p:spPr>
          <a:xfrm>
            <a:off x="5067300" y="3095625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</p:sp>
      <p:sp>
        <p:nvSpPr>
          <p:cNvPr id="27" name="Rectangle 27"/>
          <p:cNvSpPr/>
          <p:nvPr/>
        </p:nvSpPr>
        <p:spPr>
          <a:xfrm>
            <a:off x="5181600" y="2571750"/>
            <a:ext cx="1905000" cy="1143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B4D2E4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5181600" y="2571750"/>
            <a:ext cx="1905000" cy="304800"/>
          </a:xfrm>
          <a:prstGeom prst="roundRect">
            <a:avLst>
              <a:gd name="adj" fmla="val 31250"/>
            </a:avLst>
          </a:prstGeom>
          <a:solidFill>
            <a:srgbClr val="B4D2E4"/>
          </a:solidFill>
          <a:ln>
            <a:noFill/>
          </a:ln>
        </p:spPr>
      </p:sp>
      <p:sp>
        <p:nvSpPr>
          <p:cNvPr id="29" name="Rectangle 29"/>
          <p:cNvSpPr/>
          <p:nvPr/>
        </p:nvSpPr>
        <p:spPr>
          <a:xfrm>
            <a:off x="5181600" y="2800350"/>
            <a:ext cx="1905000" cy="762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5759135" y="2666524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③ 详细规格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860066" y="3125152"/>
            <a:ext cx="5480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完整 AC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485162" y="3350895"/>
            <a:ext cx="12978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Acceptance Criteria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44670" y="3549491"/>
            <a:ext cx="97886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→ delta-spec.md</a:t>
            </a:r>
          </a:p>
        </p:txBody>
      </p:sp>
      <p:sp>
        <p:nvSpPr>
          <p:cNvPr id="34" name="Line 34"/>
          <p:cNvSpPr/>
          <p:nvPr/>
        </p:nvSpPr>
        <p:spPr>
          <a:xfrm>
            <a:off x="7124700" y="31432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595959"/>
            </a:solidFill>
          </a:ln>
        </p:spPr>
      </p:sp>
      <p:sp>
        <p:nvSpPr>
          <p:cNvPr id="35" name="Polygon 35"/>
          <p:cNvSpPr/>
          <p:nvPr/>
        </p:nvSpPr>
        <p:spPr>
          <a:xfrm>
            <a:off x="7277100" y="3095625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</p:sp>
      <p:sp>
        <p:nvSpPr>
          <p:cNvPr id="36" name="Rectangle 36"/>
          <p:cNvSpPr/>
          <p:nvPr/>
        </p:nvSpPr>
        <p:spPr>
          <a:xfrm>
            <a:off x="7391400" y="2571750"/>
            <a:ext cx="1905000" cy="1143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B4D2E4"/>
            </a:solidFill>
          </a:ln>
        </p:spPr>
      </p:sp>
      <p:sp>
        <p:nvSpPr>
          <p:cNvPr id="37" name="Rectangle 37"/>
          <p:cNvSpPr/>
          <p:nvPr/>
        </p:nvSpPr>
        <p:spPr>
          <a:xfrm>
            <a:off x="7391400" y="2571750"/>
            <a:ext cx="1905000" cy="304800"/>
          </a:xfrm>
          <a:prstGeom prst="roundRect">
            <a:avLst>
              <a:gd name="adj" fmla="val 31250"/>
            </a:avLst>
          </a:prstGeom>
          <a:solidFill>
            <a:srgbClr val="B4D2E4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7391400" y="2800350"/>
            <a:ext cx="1905000" cy="762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7968935" y="2666524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④ 任务拆分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859006" y="3125152"/>
            <a:ext cx="9697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实施项 + 待办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069580" y="3350895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追踪进度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691807" y="3549491"/>
            <a:ext cx="130418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→ tasks.md / todo.md</a:t>
            </a:r>
          </a:p>
        </p:txBody>
      </p:sp>
      <p:sp>
        <p:nvSpPr>
          <p:cNvPr id="43" name="Line 43"/>
          <p:cNvSpPr/>
          <p:nvPr/>
        </p:nvSpPr>
        <p:spPr>
          <a:xfrm>
            <a:off x="9334500" y="31432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595959"/>
            </a:solidFill>
          </a:ln>
        </p:spPr>
      </p:sp>
      <p:sp>
        <p:nvSpPr>
          <p:cNvPr id="44" name="Polygon 44"/>
          <p:cNvSpPr/>
          <p:nvPr/>
        </p:nvSpPr>
        <p:spPr>
          <a:xfrm>
            <a:off x="9486900" y="3095625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</p:sp>
      <p:sp>
        <p:nvSpPr>
          <p:cNvPr id="45" name="Rectangle 45"/>
          <p:cNvSpPr/>
          <p:nvPr/>
        </p:nvSpPr>
        <p:spPr>
          <a:xfrm>
            <a:off x="9601200" y="2571750"/>
            <a:ext cx="1905000" cy="1143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B4D2E4"/>
            </a:solidFill>
          </a:ln>
        </p:spPr>
      </p:sp>
      <p:sp>
        <p:nvSpPr>
          <p:cNvPr id="46" name="Rectangle 46"/>
          <p:cNvSpPr/>
          <p:nvPr/>
        </p:nvSpPr>
        <p:spPr>
          <a:xfrm>
            <a:off x="9601200" y="2571750"/>
            <a:ext cx="1905000" cy="304800"/>
          </a:xfrm>
          <a:prstGeom prst="roundRect">
            <a:avLst>
              <a:gd name="adj" fmla="val 31250"/>
            </a:avLst>
          </a:prstGeom>
          <a:solidFill>
            <a:srgbClr val="B4D2E4"/>
          </a:solidFill>
          <a:ln>
            <a:noFill/>
          </a:ln>
        </p:spPr>
      </p:sp>
      <p:sp>
        <p:nvSpPr>
          <p:cNvPr id="47" name="Rectangle 47"/>
          <p:cNvSpPr/>
          <p:nvPr/>
        </p:nvSpPr>
        <p:spPr>
          <a:xfrm>
            <a:off x="9601200" y="2800350"/>
            <a:ext cx="1905000" cy="762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10178735" y="2666524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⑤ 实施报告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080308" y="312515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实际改动记录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072354" y="3350895"/>
            <a:ext cx="96269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代码差异 + 决策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998000" y="3549491"/>
            <a:ext cx="111140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→ apply-report.md</a:t>
            </a:r>
          </a:p>
        </p:txBody>
      </p:sp>
      <p:sp>
        <p:nvSpPr>
          <p:cNvPr id="52" name="Line 52"/>
          <p:cNvSpPr/>
          <p:nvPr/>
        </p:nvSpPr>
        <p:spPr>
          <a:xfrm>
            <a:off x="762000" y="42862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E5E5EA"/>
            </a:solidFill>
            <a:prstDash val="dash"/>
          </a:ln>
        </p:spPr>
      </p:sp>
      <p:sp>
        <p:nvSpPr>
          <p:cNvPr id="53" name="Rectangle 53"/>
          <p:cNvSpPr/>
          <p:nvPr/>
        </p:nvSpPr>
        <p:spPr>
          <a:xfrm>
            <a:off x="5143500" y="4171950"/>
            <a:ext cx="1905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5424059" y="4236720"/>
            <a:ext cx="13438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— 爹助 VERIFICATION —</a:t>
            </a:r>
          </a:p>
        </p:txBody>
      </p:sp>
      <p:sp>
        <p:nvSpPr>
          <p:cNvPr id="55" name="Rectangle 55"/>
          <p:cNvSpPr/>
          <p:nvPr/>
        </p:nvSpPr>
        <p:spPr>
          <a:xfrm>
            <a:off x="762000" y="4572000"/>
            <a:ext cx="10668000" cy="95250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9050">
            <a:solidFill>
              <a:srgbClr val="DCB5C5"/>
            </a:solidFill>
          </a:ln>
        </p:spPr>
      </p:sp>
      <p:sp>
        <p:nvSpPr>
          <p:cNvPr id="56" name="TextBox 56"/>
          <p:cNvSpPr txBox="1"/>
          <p:nvPr/>
        </p:nvSpPr>
        <p:spPr>
          <a:xfrm>
            <a:off x="935355" y="4750118"/>
            <a:ext cx="260141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⑥ verification-report.md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39165" y="5030152"/>
            <a:ext cx="788598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编译验证（hvigorw assembleHap）+ 5 维度代码审查（正确性 / 鲁棒性 / 安全 / 可维护 / 性能）+ 模拟器实测截图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40118" y="5266849"/>
            <a:ext cx="50372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每个项目 7 份文件全部 markdown 相对路径超链接 · 客户可点击直达任意 spec</a:t>
            </a:r>
          </a:p>
        </p:txBody>
      </p:sp>
      <p:sp>
        <p:nvSpPr>
          <p:cNvPr id="59" name="Rectangle 59"/>
          <p:cNvSpPr/>
          <p:nvPr/>
        </p:nvSpPr>
        <p:spPr>
          <a:xfrm>
            <a:off x="762000" y="5810250"/>
            <a:ext cx="10668000" cy="381000"/>
          </a:xfrm>
          <a:prstGeom prst="roundRect">
            <a:avLst>
              <a:gd name="adj" fmla="val 15000"/>
            </a:avLst>
          </a:prstGeom>
          <a:solidFill>
            <a:srgbClr val="B7DABD"/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3671389" y="5944552"/>
            <a:ext cx="484922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每个需求 → 7 个 spec 文件 → 7 个相对路径超链接 → 客户可点击直达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51522" y="646414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046000" y="646414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05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31347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06 · REQUIREMENT 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3076277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 1 · 百分号按钮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612952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复杂度 S 级 · 单文件 +5 行 · 第一行 AC 按钮右侧加 % · 顺手修了一个溢出 bug</a:t>
            </a:r>
          </a:p>
        </p:txBody>
      </p:sp>
      <p:sp>
        <p:nvSpPr>
          <p:cNvPr id="8" name="Rectangle 8"/>
          <p:cNvSpPr/>
          <p:nvPr/>
        </p:nvSpPr>
        <p:spPr>
          <a:xfrm>
            <a:off x="952500" y="2095500"/>
            <a:ext cx="2286000" cy="409575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1028700" y="2171700"/>
            <a:ext cx="2133600" cy="394335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583" y="2209800"/>
            <a:ext cx="1759833" cy="386715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426845" y="6360795"/>
            <a:ext cx="13373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模拟器实测 1256×2760</a:t>
            </a:r>
          </a:p>
        </p:txBody>
      </p:sp>
      <p:sp>
        <p:nvSpPr>
          <p:cNvPr id="12" name="Rectangle 12"/>
          <p:cNvSpPr/>
          <p:nvPr/>
        </p:nvSpPr>
        <p:spPr>
          <a:xfrm>
            <a:off x="3619500" y="2095500"/>
            <a:ext cx="7810500" cy="1714500"/>
          </a:xfrm>
          <a:prstGeom prst="roundRect">
            <a:avLst>
              <a:gd name="adj" fmla="val 4444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3799522" y="2254091"/>
            <a:ext cx="278020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858585"/>
                </a:solidFill>
                <a:latin typeface="Consolas"/>
                <a:ea typeface="Microsoft YaHei"/>
                <a:cs typeface="Consolas"/>
              </a:rPr>
              <a:t>// CalculatorPage.ets · BtnPct Builder（新增）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97618" y="254269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D4D4D4"/>
                </a:solidFill>
                <a:latin typeface="Consolas"/>
                <a:ea typeface="Microsoft YaHei"/>
                <a:cs typeface="Consolas"/>
              </a:rPr>
              <a:t>@Builder BtnPct() {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988118" y="2771299"/>
            <a:ext cx="55427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D4D4D4"/>
                </a:solidFill>
                <a:latin typeface="Consolas"/>
                <a:ea typeface="Microsoft YaHei"/>
                <a:cs typeface="Consolas"/>
              </a:rPr>
              <a:t>Text('%').fontSize(this.isLandscape ? 14 : 20).fontColor(this.getBtnText())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988118" y="2999899"/>
            <a:ext cx="34921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D4D4D4"/>
                </a:solidFill>
                <a:latin typeface="Consolas"/>
                <a:ea typeface="Microsoft YaHei"/>
                <a:cs typeface="Consolas"/>
              </a:rPr>
              <a:t>.width('14%').height(this.isLandscape ? 36 : 56)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988118" y="3228499"/>
            <a:ext cx="362745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D4D4D4"/>
                </a:solidFill>
                <a:latin typeface="Consolas"/>
                <a:ea typeface="Microsoft YaHei"/>
                <a:cs typeface="Consolas"/>
              </a:rPr>
              <a:t>.backgroundColor(this.getOp()).borderRadius(50)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88118" y="3457099"/>
            <a:ext cx="286562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D4D4D4"/>
                </a:solidFill>
                <a:latin typeface="Consolas"/>
                <a:ea typeface="Microsoft YaHei"/>
                <a:cs typeface="Consolas"/>
              </a:rPr>
              <a:t>.onClick((): void =&gt; { this.onOp('%') })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797618" y="3647599"/>
            <a:ext cx="1030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D4D4D4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604260" y="402336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功能验证</a:t>
            </a:r>
          </a:p>
        </p:txBody>
      </p:sp>
      <p:sp>
        <p:nvSpPr>
          <p:cNvPr id="21" name="Rectangle 21"/>
          <p:cNvSpPr/>
          <p:nvPr/>
        </p:nvSpPr>
        <p:spPr>
          <a:xfrm>
            <a:off x="3619500" y="4286250"/>
            <a:ext cx="3810000" cy="323850"/>
          </a:xfrm>
          <a:prstGeom prst="rect">
            <a:avLst/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3759518" y="438102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输入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188268" y="438102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预期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655118" y="438102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结果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3619500" y="4610100"/>
            <a:ext cx="3810000" cy="1143000"/>
            <a:chOff x="3619500" y="4610100"/>
            <a:chExt cx="3810000" cy="1143000"/>
          </a:xfrm>
        </p:grpSpPr>
        <p:sp>
          <p:nvSpPr>
            <p:cNvPr id="25" name="Rectangle 25"/>
            <p:cNvSpPr/>
            <p:nvPr/>
          </p:nvSpPr>
          <p:spPr>
            <a:xfrm>
              <a:off x="3619500" y="4610100"/>
              <a:ext cx="3810000" cy="2857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5E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59518" y="4695349"/>
              <a:ext cx="45908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50+10%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188268" y="46953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55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655118" y="4695349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B7DABD"/>
                  </a:solidFill>
                  <a:latin typeface="Consolas"/>
                  <a:ea typeface="Microsoft YaHei"/>
                  <a:cs typeface="Consolas"/>
                </a:rPr>
                <a:t>✓ PASS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19500" y="4895850"/>
              <a:ext cx="3810000" cy="2857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5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759518" y="4981099"/>
              <a:ext cx="5374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100-20%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188268" y="498109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80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55118" y="4981099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B7DABD"/>
                  </a:solidFill>
                  <a:latin typeface="Consolas"/>
                  <a:ea typeface="Microsoft YaHei"/>
                  <a:cs typeface="Consolas"/>
                </a:rPr>
                <a:t>✓ PASS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619500" y="5181600"/>
              <a:ext cx="3810000" cy="2857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5E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759518" y="5266849"/>
              <a:ext cx="5374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200*15%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188268" y="5266849"/>
              <a:ext cx="1814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30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55118" y="5266849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B7DABD"/>
                  </a:solidFill>
                  <a:latin typeface="Consolas"/>
                  <a:ea typeface="Microsoft YaHei"/>
                  <a:cs typeface="Consolas"/>
                </a:rPr>
                <a:t>✓ PASS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3619500" y="5467350"/>
              <a:ext cx="3810000" cy="2857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5E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759518" y="5552599"/>
              <a:ext cx="2597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50%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188268" y="5552599"/>
              <a:ext cx="2597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0.5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55118" y="5552599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B7DABD"/>
                  </a:solidFill>
                  <a:latin typeface="Consolas"/>
                  <a:ea typeface="Microsoft YaHei"/>
                  <a:cs typeface="Consolas"/>
                </a:rPr>
                <a:t>✓ PASS</a:t>
              </a:r>
            </a:p>
          </p:txBody>
        </p:sp>
      </p:grpSp>
      <p:sp>
        <p:nvSpPr>
          <p:cNvPr id="42" name="Rectangle 42"/>
          <p:cNvSpPr/>
          <p:nvPr/>
        </p:nvSpPr>
        <p:spPr>
          <a:xfrm>
            <a:off x="7715250" y="4152900"/>
            <a:ext cx="3714750" cy="1714500"/>
          </a:xfrm>
          <a:prstGeom prst="roundRect">
            <a:avLst>
              <a:gd name="adj" fmla="val 4444"/>
            </a:avLst>
          </a:prstGeom>
          <a:solidFill>
            <a:srgbClr val="FCE4EC"/>
          </a:solidFill>
          <a:ln w="9525">
            <a:solidFill>
              <a:srgbClr val="F44B3F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7892415" y="4315778"/>
            <a:ext cx="18542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⚠️ 顺手修了一个溢出 bug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893368" y="4609624"/>
            <a:ext cx="19186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第一行加 % 后变成 5 个按钮：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894320" y="4855845"/>
            <a:ext cx="123872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22%×4 + 14% = 102% ❌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893368" y="5095399"/>
            <a:ext cx="250250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修复：给 BtnAct/BtnOp 加宽度参数：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894320" y="5341620"/>
            <a:ext cx="116643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18%×4 + 14% = 86% ✓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894320" y="5636895"/>
            <a:ext cx="50920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详见 P10</a:t>
            </a:r>
          </a:p>
        </p:txBody>
      </p:sp>
      <p:sp>
        <p:nvSpPr>
          <p:cNvPr id="49" name="Rectangle 49"/>
          <p:cNvSpPr/>
          <p:nvPr/>
        </p:nvSpPr>
        <p:spPr>
          <a:xfrm>
            <a:off x="3619500" y="6000750"/>
            <a:ext cx="7810500" cy="323850"/>
          </a:xfrm>
          <a:prstGeom prst="roundRect">
            <a:avLst>
              <a:gd name="adj" fmla="val 17647"/>
            </a:avLst>
          </a:prstGeom>
          <a:solidFill>
            <a:srgbClr val="B7DABD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5792525" y="6096952"/>
            <a:ext cx="34644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✓ BUILD SUCCESSFUL · 3.88s · 无警告 · 无错误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51522" y="646414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046000" y="646414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06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B7DABD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3490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07 · REQUIREMENT 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3162538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 2 · 小费计算器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B7DABD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68919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复杂度 S 级 · 新增 TipCalculatorPage.ets (+410 行) + 改 Index.ets 加导航 (+102 行)</a:t>
            </a:r>
          </a:p>
        </p:txBody>
      </p:sp>
      <p:sp>
        <p:nvSpPr>
          <p:cNvPr id="8" name="Rectangle 8"/>
          <p:cNvSpPr/>
          <p:nvPr/>
        </p:nvSpPr>
        <p:spPr>
          <a:xfrm>
            <a:off x="952500" y="2095500"/>
            <a:ext cx="2286000" cy="409575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1028700" y="2171700"/>
            <a:ext cx="2133600" cy="394335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583" y="2209800"/>
            <a:ext cx="1759833" cy="386715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173813" y="6360795"/>
            <a:ext cx="18433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小费计算器主页 · 15% 预设高亮</a:t>
            </a:r>
          </a:p>
        </p:txBody>
      </p:sp>
      <p:sp>
        <p:nvSpPr>
          <p:cNvPr id="12" name="Rectangle 12"/>
          <p:cNvSpPr/>
          <p:nvPr/>
        </p:nvSpPr>
        <p:spPr>
          <a:xfrm>
            <a:off x="3619500" y="2095500"/>
            <a:ext cx="7810500" cy="1619250"/>
          </a:xfrm>
          <a:prstGeom prst="roundRect">
            <a:avLst>
              <a:gd name="adj" fmla="val 4706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3794760" y="22517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核心架构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3876675" y="2601278"/>
            <a:ext cx="4338780" cy="1070610"/>
            <a:chOff x="3876675" y="2601278"/>
            <a:chExt cx="4338780" cy="1070610"/>
          </a:xfrm>
        </p:grpSpPr>
        <p:sp>
          <p:nvSpPr>
            <p:cNvPr id="14" name="Ellipse 14"/>
            <p:cNvSpPr/>
            <p:nvPr/>
          </p:nvSpPr>
          <p:spPr>
            <a:xfrm>
              <a:off x="3876675" y="2638425"/>
              <a:ext cx="57150" cy="57150"/>
            </a:xfrm>
            <a:prstGeom prst="ellipse">
              <a:avLst/>
            </a:prstGeom>
            <a:solidFill>
              <a:srgbClr val="B7DAB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025265" y="2601278"/>
              <a:ext cx="40138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4 预设比例按钮（10% / 15% / 18% / 20%）+ 自定义比例输入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3876675" y="2924175"/>
              <a:ext cx="57150" cy="57150"/>
            </a:xfrm>
            <a:prstGeom prst="ellipse">
              <a:avLst/>
            </a:prstGeom>
            <a:solidFill>
              <a:srgbClr val="B7DABD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025265" y="2887028"/>
              <a:ext cx="35537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实时计算公式：金额 × (1 + 比例) ÷ 人数 → 每人应付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3876675" y="3209925"/>
              <a:ext cx="57150" cy="57150"/>
            </a:xfrm>
            <a:prstGeom prst="ellipse">
              <a:avLst/>
            </a:prstGeom>
            <a:solidFill>
              <a:srgbClr val="B7DABD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025265" y="3172778"/>
              <a:ext cx="315506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三重输入校验：金额 &gt; 0、人数 &gt; 0、比例有效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3876675" y="3495675"/>
              <a:ext cx="57150" cy="57150"/>
            </a:xfrm>
            <a:prstGeom prst="ellipse">
              <a:avLst/>
            </a:prstGeom>
            <a:solidFill>
              <a:srgbClr val="B7DABD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025265" y="3458528"/>
              <a:ext cx="41901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UI 状态：选中预设时该按钮高亮（红色背景），其他保持暗色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3604260" y="39281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功能验证</a:t>
            </a:r>
          </a:p>
        </p:txBody>
      </p:sp>
      <p:sp>
        <p:nvSpPr>
          <p:cNvPr id="24" name="Rectangle 24"/>
          <p:cNvSpPr/>
          <p:nvPr/>
        </p:nvSpPr>
        <p:spPr>
          <a:xfrm>
            <a:off x="3619500" y="4191000"/>
            <a:ext cx="7810500" cy="323850"/>
          </a:xfrm>
          <a:prstGeom prst="rect">
            <a:avLst/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3759518" y="428577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输入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559868" y="428577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预期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74618" y="428577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结果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3619500" y="4514850"/>
            <a:ext cx="7810500" cy="1219200"/>
            <a:chOff x="3619500" y="4514850"/>
            <a:chExt cx="7810500" cy="1219200"/>
          </a:xfrm>
        </p:grpSpPr>
        <p:sp>
          <p:nvSpPr>
            <p:cNvPr id="28" name="Rectangle 28"/>
            <p:cNvSpPr/>
            <p:nvPr/>
          </p:nvSpPr>
          <p:spPr>
            <a:xfrm>
              <a:off x="3619500" y="4514850"/>
              <a:ext cx="7810500" cy="3048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5E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759518" y="4609624"/>
              <a:ext cx="166235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¥100 · 2 人 · 15%（预设）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59868" y="4609624"/>
              <a:ext cx="8221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每人 ¥57.50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74618" y="460962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B7DABD"/>
                  </a:solidFill>
                  <a:latin typeface="Arial"/>
                  <a:ea typeface="Microsoft YaHei"/>
                  <a:cs typeface="Arial"/>
                </a:rPr>
                <a:t>✓ PASS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619500" y="4819650"/>
              <a:ext cx="7810500" cy="3048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5E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759518" y="4914424"/>
              <a:ext cx="184034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¥200 · 4 人 · 18%（自定义）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59868" y="4914424"/>
              <a:ext cx="8221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每人 ¥59.00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274618" y="491442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B7DABD"/>
                  </a:solidFill>
                  <a:latin typeface="Arial"/>
                  <a:ea typeface="Microsoft YaHei"/>
                  <a:cs typeface="Arial"/>
                </a:rPr>
                <a:t>✓ PASS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619500" y="5124450"/>
              <a:ext cx="7810500" cy="3048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5E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759518" y="5219224"/>
              <a:ext cx="150571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¥0 · 2 人 （金额非法）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59868" y="52192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错误提示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274618" y="521922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B7DABD"/>
                  </a:solidFill>
                  <a:latin typeface="Arial"/>
                  <a:ea typeface="Microsoft YaHei"/>
                  <a:cs typeface="Arial"/>
                </a:rPr>
                <a:t>✓ PASS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619500" y="5429250"/>
              <a:ext cx="7810500" cy="3048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5E5E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759518" y="5524024"/>
              <a:ext cx="162675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¥100 · 0 人 （人数非法）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59868" y="55240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错误提示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74618" y="5524024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B7DABD"/>
                  </a:solidFill>
                  <a:latin typeface="Arial"/>
                  <a:ea typeface="Microsoft YaHei"/>
                  <a:cs typeface="Arial"/>
                </a:rPr>
                <a:t>✓ PASS</a:t>
              </a:r>
            </a:p>
          </p:txBody>
        </p:sp>
      </p:grpSp>
      <p:sp>
        <p:nvSpPr>
          <p:cNvPr id="45" name="Rectangle 45"/>
          <p:cNvSpPr/>
          <p:nvPr/>
        </p:nvSpPr>
        <p:spPr>
          <a:xfrm>
            <a:off x="3619500" y="6000750"/>
            <a:ext cx="7810500" cy="323850"/>
          </a:xfrm>
          <a:prstGeom prst="roundRect">
            <a:avLst>
              <a:gd name="adj" fmla="val 17647"/>
            </a:avLst>
          </a:prstGeom>
          <a:solidFill>
            <a:srgbClr val="B7DABD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5615403" y="6096952"/>
            <a:ext cx="38186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✓ BUILD SUCCESSFUL · 3.94s · 5 维度审查全部 PASS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51522" y="646414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046000" y="646414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07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DCB5C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3490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08 · REQUIREMENT 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3507581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 3 · 函数图像绘制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749655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复杂度 M 级 · Canvas 实时绘图 · 6 预设函数 + 自定义表达式 · ArkTS 严格度爹助修了 8 个错误</a:t>
            </a:r>
          </a:p>
        </p:txBody>
      </p:sp>
      <p:sp>
        <p:nvSpPr>
          <p:cNvPr id="8" name="Rectangle 8"/>
          <p:cNvSpPr/>
          <p:nvPr/>
        </p:nvSpPr>
        <p:spPr>
          <a:xfrm>
            <a:off x="952500" y="2095500"/>
            <a:ext cx="2286000" cy="409575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1028700" y="2171700"/>
            <a:ext cx="2133600" cy="394335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583" y="2209800"/>
            <a:ext cx="1759833" cy="386715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15626" y="6360795"/>
            <a:ext cx="255974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默认渲染 y = sin(x) · 定义域 [-6.3, 6.3]</a:t>
            </a:r>
          </a:p>
        </p:txBody>
      </p:sp>
      <p:sp>
        <p:nvSpPr>
          <p:cNvPr id="12" name="Rectangle 12"/>
          <p:cNvSpPr/>
          <p:nvPr/>
        </p:nvSpPr>
        <p:spPr>
          <a:xfrm>
            <a:off x="3619500" y="2095500"/>
            <a:ext cx="7810500" cy="2152650"/>
          </a:xfrm>
          <a:prstGeom prst="roundRect">
            <a:avLst>
              <a:gd name="adj" fmla="val 3540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3794760" y="22517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核心能力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3876675" y="2601278"/>
            <a:ext cx="4530471" cy="1546860"/>
            <a:chOff x="3876675" y="2601278"/>
            <a:chExt cx="4530471" cy="1546860"/>
          </a:xfrm>
        </p:grpSpPr>
        <p:sp>
          <p:nvSpPr>
            <p:cNvPr id="14" name="Ellipse 14"/>
            <p:cNvSpPr/>
            <p:nvPr/>
          </p:nvSpPr>
          <p:spPr>
            <a:xfrm>
              <a:off x="3876675" y="263842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025265" y="2601278"/>
              <a:ext cx="412884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Canvas 渲染坐标轴、网格线、刻度标签（自适应 y 轴范围）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3876675" y="290512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025265" y="2867978"/>
              <a:ext cx="32930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CalcEngine 采样：对每个 x 值求 y，连接成曲线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3876675" y="317182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025265" y="3134678"/>
              <a:ext cx="43818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6 预设函数：</a:t>
              </a:r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sin(x) · cos(x) · tan(x) · x^2 · x^3 · sqrt(x)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3876675" y="343852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025265" y="3401378"/>
              <a:ext cx="335441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 xml:space="preserve">智能变量替换：只替换独立 x，不影响 </a:t>
              </a:r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sin</a:t>
              </a:r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 xml:space="preserve"> 中的 x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3876675" y="370522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025265" y="3668078"/>
              <a:ext cx="319339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NaN 断点处理：</a:t>
              </a:r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tan(π/2)</a:t>
              </a:r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 xml:space="preserve"> 处自动断线，不崩溃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3876675" y="3971925"/>
              <a:ext cx="57150" cy="57150"/>
            </a:xfrm>
            <a:prstGeom prst="ellipse">
              <a:avLst/>
            </a:prstGeom>
            <a:solidFill>
              <a:srgbClr val="DCB5C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025265" y="3934778"/>
              <a:ext cx="336208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 xml:space="preserve">自定义表达式：用户可输入 </a:t>
              </a:r>
              <a:r>
                <a:rPr lang="zh-CN" sz="975" dirty="0">
                  <a:solidFill>
                    <a:srgbClr val="000000"/>
                  </a:solidFill>
                  <a:latin typeface="Consolas"/>
                  <a:ea typeface="Microsoft YaHei"/>
                  <a:cs typeface="Consolas"/>
                </a:rPr>
                <a:t>x*sin(x)</a:t>
              </a:r>
              <a:r>
                <a:rPr lang="zh-CN" sz="105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 xml:space="preserve"> 等任意公式</a:t>
              </a:r>
            </a:p>
          </p:txBody>
        </p:sp>
      </p:grpSp>
      <p:sp>
        <p:nvSpPr>
          <p:cNvPr id="27" name="Rectangle 27"/>
          <p:cNvSpPr/>
          <p:nvPr/>
        </p:nvSpPr>
        <p:spPr>
          <a:xfrm>
            <a:off x="3619500" y="4438650"/>
            <a:ext cx="7810500" cy="1428750"/>
          </a:xfrm>
          <a:prstGeom prst="roundRect">
            <a:avLst>
              <a:gd name="adj" fmla="val 5333"/>
            </a:avLst>
          </a:prstGeom>
          <a:solidFill>
            <a:srgbClr val="FCE4EC"/>
          </a:solidFill>
          <a:ln w="9525">
            <a:solidFill>
              <a:srgbClr val="F44B3F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3796665" y="4601528"/>
            <a:ext cx="30216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⚠️ ArkTS 严格度坑（爹助修复 8 个错误）</a:t>
            </a:r>
          </a:p>
        </p:txBody>
      </p:sp>
      <p:sp>
        <p:nvSpPr>
          <p:cNvPr id="29" name="Rectangle 29"/>
          <p:cNvSpPr/>
          <p:nvPr/>
        </p:nvSpPr>
        <p:spPr>
          <a:xfrm>
            <a:off x="3810000" y="4857750"/>
            <a:ext cx="5715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3950018" y="495252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问题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655118" y="495252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修复</a:t>
            </a:r>
          </a:p>
        </p:txBody>
      </p:sp>
      <p:sp>
        <p:nvSpPr>
          <p:cNvPr id="32" name="Rectangle 32"/>
          <p:cNvSpPr/>
          <p:nvPr/>
        </p:nvSpPr>
        <p:spPr>
          <a:xfrm>
            <a:off x="3810000" y="5181600"/>
            <a:ext cx="5715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3950970" y="5284470"/>
            <a:ext cx="20536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内联对象 {x:number, y:number}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655118" y="5276374"/>
            <a:ext cx="14202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 xml:space="preserve">新增 </a:t>
            </a:r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interface Point</a:t>
            </a:r>
          </a:p>
        </p:txBody>
      </p:sp>
      <p:sp>
        <p:nvSpPr>
          <p:cNvPr id="35" name="Rectangle 35"/>
          <p:cNvSpPr/>
          <p:nvPr/>
        </p:nvSpPr>
        <p:spPr>
          <a:xfrm>
            <a:off x="3810000" y="5486400"/>
            <a:ext cx="5715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3950970" y="5589270"/>
            <a:ext cx="129130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flexWrap 属性不存在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655118" y="5581174"/>
            <a:ext cx="18545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移除该属性，用 Column 重组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608820" y="5293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详见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609772" y="5492591"/>
            <a:ext cx="14126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verification-report.md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609772" y="5625941"/>
            <a:ext cx="3824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第四节</a:t>
            </a:r>
          </a:p>
        </p:txBody>
      </p:sp>
      <p:sp>
        <p:nvSpPr>
          <p:cNvPr id="41" name="Rectangle 41"/>
          <p:cNvSpPr/>
          <p:nvPr/>
        </p:nvSpPr>
        <p:spPr>
          <a:xfrm>
            <a:off x="3619500" y="6000750"/>
            <a:ext cx="7810500" cy="323850"/>
          </a:xfrm>
          <a:prstGeom prst="roundRect">
            <a:avLst>
              <a:gd name="adj" fmla="val 17647"/>
            </a:avLst>
          </a:prstGeom>
          <a:solidFill>
            <a:srgbClr val="B7DABD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5293363" y="6096952"/>
            <a:ext cx="446277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✓ BUILD SUCCESSFUL · 3.73s（爹助修复 8 个 ArkTS 错误后）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51522" y="646414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046000" y="646414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08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F44B3F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6196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44B3F"/>
                </a:solidFill>
                <a:latin typeface="Consolas"/>
                <a:ea typeface="Microsoft YaHei"/>
                <a:cs typeface="Consolas"/>
              </a:rPr>
              <a:t>09 · DEEP DIVE · SDK FIX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7941385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这次实验最大的硬骨头：SDK_COMPONENT_MISSING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F44B3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614705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影响全部 4 个项目 · 编译/Sync 报错 · 但 SDK 物理文件齐全 · 是插件配置问题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2095500"/>
            <a:ext cx="10668000" cy="1143000"/>
          </a:xfrm>
          <a:prstGeom prst="roundRect">
            <a:avLst>
              <a:gd name="adj" fmla="val 8333"/>
            </a:avLst>
          </a:prstGeom>
          <a:solidFill>
            <a:srgbClr val="FCE4EC"/>
          </a:solidFill>
          <a:ln w="9525">
            <a:solidFill>
              <a:srgbClr val="F44B3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933450" y="2266950"/>
            <a:ext cx="419100" cy="419100"/>
          </a:xfrm>
          <a:prstGeom prst="ellipse">
            <a:avLst/>
          </a:prstGeom>
          <a:solidFill>
            <a:srgbClr val="F44B3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060692" y="237172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🔴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06855" y="225456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症状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11618" y="2599849"/>
            <a:ext cx="10785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hvigorw --sync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653665" y="259175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报错：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130868" y="2599849"/>
            <a:ext cx="27588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44B3F"/>
                </a:solidFill>
                <a:latin typeface="Consolas"/>
                <a:ea typeface="Microsoft YaHei"/>
                <a:cs typeface="Consolas"/>
              </a:rPr>
              <a:t>ERROR: 00303168 SDK component missing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11618" y="2866549"/>
            <a:ext cx="594855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要求：toolchains / ets / js / native / previewer — 实际 SDK 目录里这 5 个组件文件夹都在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62000" y="3390900"/>
            <a:ext cx="10668000" cy="1524000"/>
          </a:xfrm>
          <a:prstGeom prst="roundRect">
            <a:avLst>
              <a:gd name="adj" fmla="val 6250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17" name="Ellipse 17"/>
          <p:cNvSpPr/>
          <p:nvPr/>
        </p:nvSpPr>
        <p:spPr>
          <a:xfrm>
            <a:off x="933450" y="3562350"/>
            <a:ext cx="419100" cy="41910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060692" y="366712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🔍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06855" y="354996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根因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510665" y="3887152"/>
            <a:ext cx="320106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DevEco Studio 自带的 hvigor-ohos-plugin 在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845368" y="3895249"/>
            <a:ext cx="11283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hos-config.json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82665" y="3887152"/>
            <a:ext cx="3333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里：</a:t>
            </a:r>
          </a:p>
        </p:txBody>
      </p:sp>
      <p:sp>
        <p:nvSpPr>
          <p:cNvPr id="23" name="Rectangle 23"/>
          <p:cNvSpPr/>
          <p:nvPr/>
        </p:nvSpPr>
        <p:spPr>
          <a:xfrm>
            <a:off x="1524000" y="4095750"/>
            <a:ext cx="5715000" cy="32385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683068" y="4200049"/>
            <a:ext cx="26947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D4D4D4"/>
                </a:solidFill>
                <a:latin typeface="Consolas"/>
                <a:ea typeface="Microsoft YaHei"/>
                <a:cs typeface="Consolas"/>
              </a:rPr>
              <a:t>"pathVersionMapper": { "6.0.2": "" }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416165" y="4191952"/>
            <a:ext cx="10733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← 空串 = falsy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510665" y="4515802"/>
            <a:ext cx="3333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导致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930718" y="4523899"/>
            <a:ext cx="14701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_parsingPlatforms()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606165" y="4515802"/>
            <a:ext cx="236529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永远不被触发；而 SDK 是嵌套布局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511618" y="4733449"/>
            <a:ext cx="255234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&lt;sdk&gt;/default/openharmony/&lt;comp&gt;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749165" y="4725352"/>
            <a:ext cx="18438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— 扫描器扫到的子组件全被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607618" y="4733449"/>
            <a:ext cx="194714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_isComponentInRightPlace()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083165" y="4725352"/>
            <a:ext cx="3333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拒掉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62000" y="5067300"/>
            <a:ext cx="10668000" cy="1143000"/>
          </a:xfrm>
          <a:prstGeom prst="roundRect">
            <a:avLst>
              <a:gd name="adj" fmla="val 8333"/>
            </a:avLst>
          </a:prstGeom>
          <a:solidFill>
            <a:srgbClr val="E0F2E5"/>
          </a:solidFill>
          <a:ln w="19050">
            <a:solidFill>
              <a:srgbClr val="B7DABD"/>
            </a:solidFill>
          </a:ln>
        </p:spPr>
      </p:sp>
      <p:sp>
        <p:nvSpPr>
          <p:cNvPr id="34" name="Ellipse 34"/>
          <p:cNvSpPr/>
          <p:nvPr/>
        </p:nvSpPr>
        <p:spPr>
          <a:xfrm>
            <a:off x="933450" y="5238750"/>
            <a:ext cx="419100" cy="419100"/>
          </a:xfrm>
          <a:prstGeom prst="ellipse">
            <a:avLst/>
          </a:prstGeom>
          <a:solidFill>
            <a:srgbClr val="5BA66F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1060692" y="534352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✓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506855" y="5226368"/>
            <a:ext cx="25186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修复（项目级运行时补丁）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510665" y="554450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在每个项目的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616518" y="5552599"/>
            <a:ext cx="9361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hvigorfile.ts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663315" y="5544502"/>
            <a:ext cx="297103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里：用绝对路径预热 require 缓存，原地改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11618" y="5762149"/>
            <a:ext cx="448896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HOS_CONFIG.pathVersionMapper['6.0.2'] = 'HarmonyOS-6.0.2'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273165" y="5754052"/>
            <a:ext cx="18438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— 后续插件加载缓存命中，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560118" y="5762149"/>
            <a:ext cx="131347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_parsingPlatforms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987915" y="575405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被触发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12570" y="5979795"/>
            <a:ext cx="73114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✓ 不动 /Applications 系统路径 · ✓ 跟项目走（git 可追溯）· ✓ DevEco Studio 升级不会覆盖 · ✓ try/catch 兜底不阻塞构建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51522" y="652129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046000" y="652129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09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6726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10 · UI FIX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3162538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第一行按钮溢出修复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604189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需求 1 中加 % 后第一行宽度合计 102%，超出屏幕右边框。用一次小重构修掉。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2095500"/>
            <a:ext cx="5334000" cy="3619500"/>
          </a:xfrm>
          <a:prstGeom prst="roundRect">
            <a:avLst>
              <a:gd name="adj" fmla="val 2632"/>
            </a:avLst>
          </a:prstGeom>
          <a:solidFill>
            <a:srgbClr val="FCE4EC"/>
          </a:solidFill>
          <a:ln w="19050">
            <a:solidFill>
              <a:srgbClr val="F44B3F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762000" y="20955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F44B3F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762000" y="2381250"/>
            <a:ext cx="5334000" cy="95250"/>
          </a:xfrm>
          <a:prstGeom prst="rect">
            <a:avLst/>
          </a:prstGeom>
          <a:solidFill>
            <a:srgbClr val="F44B3F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937260" y="2213610"/>
            <a:ext cx="141065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❌ BEFORE — 溢出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9165" y="2687002"/>
            <a:ext cx="311672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第一行 5 个按钮宽度（百分比相对父容器）：</a:t>
            </a:r>
          </a:p>
        </p:txBody>
      </p:sp>
      <p:sp>
        <p:nvSpPr>
          <p:cNvPr id="13" name="Rectangle 13"/>
          <p:cNvSpPr/>
          <p:nvPr/>
        </p:nvSpPr>
        <p:spPr>
          <a:xfrm>
            <a:off x="952500" y="3048000"/>
            <a:ext cx="4191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14" name="Rectangle 14"/>
          <p:cNvSpPr/>
          <p:nvPr/>
        </p:nvSpPr>
        <p:spPr>
          <a:xfrm>
            <a:off x="952500" y="3048000"/>
            <a:ext cx="923925" cy="304800"/>
          </a:xfrm>
          <a:prstGeom prst="rect">
            <a:avLst/>
          </a:prstGeom>
          <a:solidFill>
            <a:srgbClr val="B7DAB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169302" y="3142774"/>
            <a:ext cx="4807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AC 22%</a:t>
            </a:r>
          </a:p>
        </p:txBody>
      </p:sp>
      <p:sp>
        <p:nvSpPr>
          <p:cNvPr id="16" name="Rectangle 16"/>
          <p:cNvSpPr/>
          <p:nvPr/>
        </p:nvSpPr>
        <p:spPr>
          <a:xfrm>
            <a:off x="1895475" y="3048000"/>
            <a:ext cx="590550" cy="3048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2024051" y="3150870"/>
            <a:ext cx="33339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% 14%</a:t>
            </a:r>
          </a:p>
        </p:txBody>
      </p:sp>
      <p:sp>
        <p:nvSpPr>
          <p:cNvPr id="18" name="Rectangle 18"/>
          <p:cNvSpPr/>
          <p:nvPr/>
        </p:nvSpPr>
        <p:spPr>
          <a:xfrm>
            <a:off x="2505075" y="3048000"/>
            <a:ext cx="923925" cy="3048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2762994" y="3142774"/>
            <a:ext cx="398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( 22%</a:t>
            </a:r>
          </a:p>
        </p:txBody>
      </p:sp>
      <p:sp>
        <p:nvSpPr>
          <p:cNvPr id="20" name="Rectangle 20"/>
          <p:cNvSpPr/>
          <p:nvPr/>
        </p:nvSpPr>
        <p:spPr>
          <a:xfrm>
            <a:off x="3448050" y="3048000"/>
            <a:ext cx="923925" cy="3048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3705969" y="3142774"/>
            <a:ext cx="398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) 22%</a:t>
            </a:r>
          </a:p>
        </p:txBody>
      </p:sp>
      <p:sp>
        <p:nvSpPr>
          <p:cNvPr id="22" name="Rectangle 22"/>
          <p:cNvSpPr/>
          <p:nvPr/>
        </p:nvSpPr>
        <p:spPr>
          <a:xfrm>
            <a:off x="4391025" y="3048000"/>
            <a:ext cx="923925" cy="304800"/>
          </a:xfrm>
          <a:prstGeom prst="rect">
            <a:avLst/>
          </a:prstGeom>
          <a:solidFill>
            <a:srgbClr val="F44B3F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4648944" y="3142774"/>
            <a:ext cx="398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÷ 22%</a:t>
            </a:r>
          </a:p>
        </p:txBody>
      </p:sp>
      <p:sp>
        <p:nvSpPr>
          <p:cNvPr id="24" name="Line 24"/>
          <p:cNvSpPr/>
          <p:nvPr/>
        </p:nvSpPr>
        <p:spPr>
          <a:xfrm>
            <a:off x="5143500" y="2952750"/>
            <a:ext cx="9525" cy="495300"/>
          </a:xfrm>
          <a:custGeom>
            <a:avLst/>
            <a:gdLst/>
            <a:ahLst/>
            <a:cxnLst/>
            <a:rect l="l" t="t" r="r" b="b"/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/>
          <a:ln w="19050">
            <a:solidFill>
              <a:srgbClr val="F44B3F"/>
            </a:solidFill>
            <a:custDash>
              <a:ds d="150000" sp="150000"/>
            </a:custDash>
          </a:ln>
        </p:spPr>
      </p:sp>
      <p:sp>
        <p:nvSpPr>
          <p:cNvPr id="25" name="TextBox 25"/>
          <p:cNvSpPr txBox="1"/>
          <p:nvPr/>
        </p:nvSpPr>
        <p:spPr>
          <a:xfrm>
            <a:off x="4952286" y="3530441"/>
            <a:ext cx="3824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屏幕边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38212" y="3917156"/>
            <a:ext cx="20988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合计：22% × 4 + 14% = 102%</a:t>
            </a:r>
          </a:p>
        </p:txBody>
      </p:sp>
      <p:sp>
        <p:nvSpPr>
          <p:cNvPr id="27" name="Rectangle 27"/>
          <p:cNvSpPr/>
          <p:nvPr/>
        </p:nvSpPr>
        <p:spPr>
          <a:xfrm>
            <a:off x="952500" y="4286250"/>
            <a:ext cx="495300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1131570" y="4474845"/>
            <a:ext cx="282921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58585"/>
                </a:solidFill>
                <a:latin typeface="Consolas"/>
                <a:ea typeface="Microsoft YaHei"/>
                <a:cs typeface="Consolas"/>
              </a:rPr>
              <a:t>// 原版代码（CalculatorPage.ets 第 278 行）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31570" y="4722495"/>
            <a:ext cx="52235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Row() {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22070" y="4932045"/>
            <a:ext cx="23100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this.BtnAct('AC'); this.BtnPct();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22070" y="5122545"/>
            <a:ext cx="34798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this.BtnOp('('); this.BtnOp(')'); this.BtnOp('÷')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31570" y="5293995"/>
            <a:ext cx="95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286500" y="2095500"/>
            <a:ext cx="5143500" cy="3619500"/>
          </a:xfrm>
          <a:prstGeom prst="roundRect">
            <a:avLst>
              <a:gd name="adj" fmla="val 2632"/>
            </a:avLst>
          </a:prstGeom>
          <a:solidFill>
            <a:srgbClr val="E0F2E5"/>
          </a:solidFill>
          <a:ln w="19050">
            <a:solidFill>
              <a:srgbClr val="B7DABD"/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6286500" y="2095500"/>
            <a:ext cx="5143500" cy="381000"/>
          </a:xfrm>
          <a:prstGeom prst="roundRect">
            <a:avLst>
              <a:gd name="adj" fmla="val 25000"/>
            </a:avLst>
          </a:prstGeom>
          <a:solidFill>
            <a:srgbClr val="5BA66F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6286500" y="2381250"/>
            <a:ext cx="5143500" cy="95250"/>
          </a:xfrm>
          <a:prstGeom prst="rect">
            <a:avLst/>
          </a:prstGeom>
          <a:solidFill>
            <a:srgbClr val="5BA66F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6461760" y="2213610"/>
            <a:ext cx="127263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✓ AFTER — 修复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463665" y="2687002"/>
            <a:ext cx="34310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给 BtnAct/BtnOp 加宽度参数，第一行传 '18%'：</a:t>
            </a:r>
          </a:p>
        </p:txBody>
      </p:sp>
      <p:sp>
        <p:nvSpPr>
          <p:cNvPr id="38" name="Rectangle 38"/>
          <p:cNvSpPr/>
          <p:nvPr/>
        </p:nvSpPr>
        <p:spPr>
          <a:xfrm>
            <a:off x="6477000" y="3048000"/>
            <a:ext cx="4191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6477000" y="3048000"/>
            <a:ext cx="752475" cy="304800"/>
          </a:xfrm>
          <a:prstGeom prst="rect">
            <a:avLst/>
          </a:prstGeom>
          <a:solidFill>
            <a:srgbClr val="B7DABD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6636291" y="3142774"/>
            <a:ext cx="4434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AC 18%</a:t>
            </a:r>
          </a:p>
        </p:txBody>
      </p:sp>
      <p:sp>
        <p:nvSpPr>
          <p:cNvPr id="41" name="Rectangle 41"/>
          <p:cNvSpPr/>
          <p:nvPr/>
        </p:nvSpPr>
        <p:spPr>
          <a:xfrm>
            <a:off x="7248525" y="3048000"/>
            <a:ext cx="590550" cy="3048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7377101" y="3150870"/>
            <a:ext cx="33339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% 14%</a:t>
            </a:r>
          </a:p>
        </p:txBody>
      </p:sp>
      <p:sp>
        <p:nvSpPr>
          <p:cNvPr id="43" name="Rectangle 43"/>
          <p:cNvSpPr/>
          <p:nvPr/>
        </p:nvSpPr>
        <p:spPr>
          <a:xfrm>
            <a:off x="7858125" y="3048000"/>
            <a:ext cx="752475" cy="3048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8058534" y="3142774"/>
            <a:ext cx="3611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( 18%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629650" y="3048000"/>
            <a:ext cx="752475" cy="3048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8830059" y="3142774"/>
            <a:ext cx="3611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) 18%</a:t>
            </a:r>
          </a:p>
        </p:txBody>
      </p:sp>
      <p:sp>
        <p:nvSpPr>
          <p:cNvPr id="47" name="Rectangle 47"/>
          <p:cNvSpPr/>
          <p:nvPr/>
        </p:nvSpPr>
        <p:spPr>
          <a:xfrm>
            <a:off x="9401175" y="3048000"/>
            <a:ext cx="752475" cy="3048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9601584" y="3142774"/>
            <a:ext cx="3611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÷ 18%</a:t>
            </a:r>
          </a:p>
        </p:txBody>
      </p:sp>
      <p:sp>
        <p:nvSpPr>
          <p:cNvPr id="49" name="Line 49"/>
          <p:cNvSpPr/>
          <p:nvPr/>
        </p:nvSpPr>
        <p:spPr>
          <a:xfrm>
            <a:off x="10668000" y="2952750"/>
            <a:ext cx="9525" cy="495300"/>
          </a:xfrm>
          <a:custGeom>
            <a:avLst/>
            <a:gdLst/>
            <a:ahLst/>
            <a:cxnLst/>
            <a:rect l="l" t="t" r="r" b="b"/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/>
          <a:ln w="19050">
            <a:solidFill>
              <a:srgbClr val="B7DABD"/>
            </a:solidFill>
            <a:custDash>
              <a:ds d="150000" sp="150000"/>
            </a:custDash>
          </a:ln>
        </p:spPr>
      </p:sp>
      <p:sp>
        <p:nvSpPr>
          <p:cNvPr id="50" name="TextBox 50"/>
          <p:cNvSpPr txBox="1"/>
          <p:nvPr/>
        </p:nvSpPr>
        <p:spPr>
          <a:xfrm>
            <a:off x="10476786" y="3530441"/>
            <a:ext cx="38242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5BA66F"/>
                </a:solidFill>
                <a:latin typeface="Arial"/>
                <a:ea typeface="Microsoft YaHei"/>
                <a:cs typeface="Arial"/>
              </a:rPr>
              <a:t>屏幕边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462712" y="3917156"/>
            <a:ext cx="36515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5BA66F"/>
                </a:solidFill>
                <a:latin typeface="Arial"/>
                <a:ea typeface="Microsoft YaHei"/>
                <a:cs typeface="Arial"/>
              </a:rPr>
              <a:t>合计：18% × 4 + 14% = 86%（留 14% 给 margin）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477000" y="4286250"/>
            <a:ext cx="476250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6656070" y="4474845"/>
            <a:ext cx="6012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58585"/>
                </a:solidFill>
                <a:latin typeface="Consolas"/>
                <a:ea typeface="Microsoft YaHei"/>
                <a:cs typeface="Consolas"/>
              </a:rPr>
              <a:t>// 修复后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656070" y="4722495"/>
            <a:ext cx="52235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Row() {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846570" y="4932045"/>
            <a:ext cx="275034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this.BtnAct('AC', '18%'); this.BtnPct();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846570" y="5122545"/>
            <a:ext cx="32432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this.BtnOp('(', '18%'); this.BtnOp(')', '18%');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846570" y="5313045"/>
            <a:ext cx="16527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this.BtnOp('÷', '18%') }</a:t>
            </a:r>
          </a:p>
        </p:txBody>
      </p:sp>
      <p:sp>
        <p:nvSpPr>
          <p:cNvPr id="58" name="Rectangle 58"/>
          <p:cNvSpPr/>
          <p:nvPr/>
        </p:nvSpPr>
        <p:spPr>
          <a:xfrm>
            <a:off x="762000" y="6000750"/>
            <a:ext cx="10668000" cy="342900"/>
          </a:xfrm>
          <a:prstGeom prst="roundRect">
            <a:avLst>
              <a:gd name="adj" fmla="val 16667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59" name="TextBox 59"/>
          <p:cNvSpPr txBox="1"/>
          <p:nvPr/>
        </p:nvSpPr>
        <p:spPr>
          <a:xfrm>
            <a:off x="3680639" y="6124099"/>
            <a:ext cx="48307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其他行（数字行 + 等号行）保持原状 — 4 按钮 × 22% = 88%，已经合身，不动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51522" y="652129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1076122" y="65212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10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11 · DEMO PLAYBOOK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212740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客户演示步骤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613829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编命令 → 安装 → 启动 → 三个需求逐个演示 · 全部用 hdc，无需打开 DevEco IDE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2095500"/>
            <a:ext cx="5334000" cy="4248150"/>
          </a:xfrm>
          <a:prstGeom prst="roundRect">
            <a:avLst>
              <a:gd name="adj" fmla="val 1794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762000" y="2095500"/>
            <a:ext cx="5334000" cy="342900"/>
          </a:xfrm>
          <a:prstGeom prst="roundRect">
            <a:avLst>
              <a:gd name="adj" fmla="val 22222"/>
            </a:avLst>
          </a:prstGeom>
          <a:solidFill>
            <a:srgbClr val="E5E5E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762000" y="2343150"/>
            <a:ext cx="5334000" cy="95250"/>
          </a:xfrm>
          <a:prstGeom prst="rect">
            <a:avLst/>
          </a:prstGeom>
          <a:solidFill>
            <a:srgbClr val="E5E5E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939165" y="221075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① 编译 &amp; 安装命令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0118" y="2637949"/>
            <a:ext cx="34209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前提：HarmonyOS 模拟器已连接（127.0.0.1:5555）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952500" y="2895600"/>
            <a:ext cx="4953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1112520" y="2988945"/>
            <a:ext cx="95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BA66F"/>
                </a:solidFill>
                <a:latin typeface="Consolas"/>
                <a:ea typeface="Microsoft YaHei"/>
                <a:cs typeface="Consolas"/>
              </a:rPr>
              <a:t>$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03020" y="2988945"/>
            <a:ext cx="104813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hdc list targets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275772" y="2997041"/>
            <a:ext cx="13885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# 应看到 127.0.0.1:5555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40118" y="3361849"/>
            <a:ext cx="20112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进入项目目录，编译产出 HAP：</a:t>
            </a:r>
          </a:p>
        </p:txBody>
      </p:sp>
      <p:sp>
        <p:nvSpPr>
          <p:cNvPr id="18" name="Rectangle 18"/>
          <p:cNvSpPr/>
          <p:nvPr/>
        </p:nvSpPr>
        <p:spPr>
          <a:xfrm>
            <a:off x="952500" y="3600450"/>
            <a:ext cx="49530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112520" y="3693795"/>
            <a:ext cx="95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BA66F"/>
                </a:solidFill>
                <a:latin typeface="Consolas"/>
                <a:ea typeface="Microsoft YaHei"/>
                <a:cs typeface="Consolas"/>
              </a:rPr>
              <a:t>$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03020" y="3693795"/>
            <a:ext cx="13307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cd 1-percent-button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12520" y="3903345"/>
            <a:ext cx="95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BA66F"/>
                </a:solidFill>
                <a:latin typeface="Consolas"/>
                <a:ea typeface="Microsoft YaHei"/>
                <a:cs typeface="Consolas"/>
              </a:rPr>
              <a:t>$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03020" y="3903345"/>
            <a:ext cx="24283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hvigorw assembleHap --mode module \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03020" y="4055745"/>
            <a:ext cx="252688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-p product=default -p buildMode=debug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0118" y="4352449"/>
            <a:ext cx="9005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安装 + 启动：</a:t>
            </a:r>
          </a:p>
        </p:txBody>
      </p:sp>
      <p:sp>
        <p:nvSpPr>
          <p:cNvPr id="25" name="Rectangle 25"/>
          <p:cNvSpPr/>
          <p:nvPr/>
        </p:nvSpPr>
        <p:spPr>
          <a:xfrm>
            <a:off x="952500" y="4591050"/>
            <a:ext cx="4953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12520" y="4684395"/>
            <a:ext cx="95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BA66F"/>
                </a:solidFill>
                <a:latin typeface="Consolas"/>
                <a:ea typeface="Microsoft YaHei"/>
                <a:cs typeface="Consolas"/>
              </a:rPr>
              <a:t>$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03020" y="4684395"/>
            <a:ext cx="27240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hdc install entry/build/default/outputs/\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03020" y="4836795"/>
            <a:ext cx="238229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default/entry-default-unsigned.hap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12520" y="5046345"/>
            <a:ext cx="95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BA66F"/>
                </a:solidFill>
                <a:latin typeface="Consolas"/>
                <a:ea typeface="Microsoft YaHei"/>
                <a:cs typeface="Consolas"/>
              </a:rPr>
              <a:t>$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03020" y="5046345"/>
            <a:ext cx="226399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hdc shell aa start -a EntryAbility \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03020" y="5198745"/>
            <a:ext cx="240201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-b com.darkempire78.opencalculator</a:t>
            </a:r>
          </a:p>
        </p:txBody>
      </p:sp>
      <p:sp>
        <p:nvSpPr>
          <p:cNvPr id="32" name="Rectangle 32"/>
          <p:cNvSpPr/>
          <p:nvPr/>
        </p:nvSpPr>
        <p:spPr>
          <a:xfrm>
            <a:off x="952500" y="5581650"/>
            <a:ext cx="4953000" cy="571500"/>
          </a:xfrm>
          <a:prstGeom prst="roundRect">
            <a:avLst>
              <a:gd name="adj" fmla="val 10000"/>
            </a:avLst>
          </a:prstGeom>
          <a:solidFill>
            <a:srgbClr val="FCE4EC"/>
          </a:solidFill>
          <a:ln w="9525">
            <a:solidFill>
              <a:srgbClr val="F44B3F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130618" y="5704999"/>
            <a:ext cx="53312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⚠️ 注意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31570" y="5922645"/>
            <a:ext cx="314467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3 个项目共用同一 bundleName · 后装的会覆盖前一个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286500" y="2095500"/>
            <a:ext cx="5143500" cy="4248150"/>
          </a:xfrm>
          <a:prstGeom prst="roundRect">
            <a:avLst>
              <a:gd name="adj" fmla="val 1794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36" name="Rectangle 36"/>
          <p:cNvSpPr/>
          <p:nvPr/>
        </p:nvSpPr>
        <p:spPr>
          <a:xfrm>
            <a:off x="6286500" y="2095500"/>
            <a:ext cx="5143500" cy="342900"/>
          </a:xfrm>
          <a:prstGeom prst="roundRect">
            <a:avLst>
              <a:gd name="adj" fmla="val 22222"/>
            </a:avLst>
          </a:prstGeom>
          <a:solidFill>
            <a:srgbClr val="E5E5EA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6286500" y="2343150"/>
            <a:ext cx="5143500" cy="95250"/>
          </a:xfrm>
          <a:prstGeom prst="rect">
            <a:avLst/>
          </a:prstGeom>
          <a:solidFill>
            <a:srgbClr val="E5E5EA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6463665" y="2210752"/>
            <a:ext cx="241781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② 演示路径（每个项目独立演示）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477000" y="2628900"/>
            <a:ext cx="4762500" cy="112395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B4D2E4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6654165" y="2744152"/>
            <a:ext cx="14033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1-percent-button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655118" y="2980849"/>
            <a:ext cx="8577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① 看第一行：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12368" y="2980849"/>
            <a:ext cx="10073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AC | % | ( | ) | ÷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322118" y="2980849"/>
            <a:ext cx="8577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5 按钮不溢出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655118" y="322849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② 输入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169468" y="3228499"/>
            <a:ext cx="4590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50+10%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760018" y="3228499"/>
            <a:ext cx="1671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按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045768" y="3228499"/>
            <a:ext cx="1030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=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17218" y="322849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→ 显示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750618" y="3228499"/>
            <a:ext cx="1892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BA66F"/>
                </a:solidFill>
                <a:latin typeface="Consolas"/>
                <a:ea typeface="Microsoft YaHei"/>
                <a:cs typeface="Consolas"/>
              </a:rPr>
              <a:t>55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655118" y="34761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③ 输入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169468" y="3476149"/>
            <a:ext cx="5374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200*15%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7836218" y="3476149"/>
            <a:ext cx="1671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121968" y="3476149"/>
            <a:ext cx="1030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=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293418" y="34761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→ 显示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826818" y="3476149"/>
            <a:ext cx="1892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BA66F"/>
                </a:solidFill>
                <a:latin typeface="Consolas"/>
                <a:ea typeface="Microsoft YaHei"/>
                <a:cs typeface="Consolas"/>
              </a:rPr>
              <a:t>30</a:t>
            </a:r>
          </a:p>
        </p:txBody>
      </p:sp>
      <p:sp>
        <p:nvSpPr>
          <p:cNvPr id="56" name="Rectangle 56"/>
          <p:cNvSpPr/>
          <p:nvPr/>
        </p:nvSpPr>
        <p:spPr>
          <a:xfrm>
            <a:off x="6477000" y="3848100"/>
            <a:ext cx="4762500" cy="112395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B7DABD"/>
            </a:solidFill>
          </a:ln>
        </p:spPr>
      </p:sp>
      <p:sp>
        <p:nvSpPr>
          <p:cNvPr id="57" name="TextBox 57"/>
          <p:cNvSpPr txBox="1"/>
          <p:nvPr/>
        </p:nvSpPr>
        <p:spPr>
          <a:xfrm>
            <a:off x="6654165" y="3963352"/>
            <a:ext cx="13228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2-tip-calculator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655118" y="4200049"/>
            <a:ext cx="26733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① 主菜单点 「小费计算器」（带 NEW 标）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655118" y="4447699"/>
            <a:ext cx="5730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② 输金额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340918" y="4447699"/>
            <a:ext cx="2241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100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607618" y="4447699"/>
            <a:ext cx="14060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→ 点预设 15% → 输人数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322118" y="4447699"/>
            <a:ext cx="1030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2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655118" y="4695349"/>
            <a:ext cx="10001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③ 看结果：每人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7702868" y="4695349"/>
            <a:ext cx="5181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BA66F"/>
                </a:solidFill>
                <a:latin typeface="Consolas"/>
                <a:ea typeface="Microsoft YaHei"/>
                <a:cs typeface="Consolas"/>
              </a:rPr>
              <a:t>¥57.50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255318" y="4695349"/>
            <a:ext cx="164099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· 小费 ¥15.00 · 总计 ¥115</a:t>
            </a:r>
          </a:p>
        </p:txBody>
      </p:sp>
      <p:sp>
        <p:nvSpPr>
          <p:cNvPr id="66" name="Rectangle 66"/>
          <p:cNvSpPr/>
          <p:nvPr/>
        </p:nvSpPr>
        <p:spPr>
          <a:xfrm>
            <a:off x="6477000" y="5067300"/>
            <a:ext cx="4762500" cy="112395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CB5C5"/>
            </a:solidFill>
          </a:ln>
        </p:spPr>
      </p:sp>
      <p:sp>
        <p:nvSpPr>
          <p:cNvPr id="67" name="TextBox 67"/>
          <p:cNvSpPr txBox="1"/>
          <p:nvPr/>
        </p:nvSpPr>
        <p:spPr>
          <a:xfrm>
            <a:off x="6654165" y="5182552"/>
            <a:ext cx="10330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3-draw-func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655118" y="5419249"/>
            <a:ext cx="253098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① 主菜单点 「函数图像」（带 NEW 标）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655118" y="5666899"/>
            <a:ext cx="7153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② 默认渲染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7493318" y="5666899"/>
            <a:ext cx="7011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y = sin(x)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8255318" y="5666899"/>
            <a:ext cx="11425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→ 点预设切换函数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6655118" y="5914549"/>
            <a:ext cx="8577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③ 在输入框写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7645718" y="5914549"/>
            <a:ext cx="61572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x*sin(x)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8331518" y="5914549"/>
            <a:ext cx="9005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→ 点 「绘制」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51522" y="652129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1106245" y="6521291"/>
            <a:ext cx="3342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11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53419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12 · TROUBLESHOOTING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109227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排障表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46760" y="1680210"/>
            <a:ext cx="393877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客户演示出问题的 5 个常见现象 — 按现象查检查点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2143125"/>
            <a:ext cx="10668000" cy="4191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939165" y="2296478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现象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165" y="2296478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第一时间检查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940165" y="2296478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参考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2562225"/>
            <a:ext cx="106680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762000" y="2562225"/>
            <a:ext cx="57150" cy="723900"/>
          </a:xfrm>
          <a:prstGeom prst="rect">
            <a:avLst/>
          </a:prstGeom>
          <a:solidFill>
            <a:srgbClr val="F44B3F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939165" y="2725102"/>
            <a:ext cx="19347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SDK_COMPONENT_MISSING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41070" y="2969895"/>
            <a:ext cx="204054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编译/Sync 报 component missing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49165" y="27251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看根目录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569268" y="2733199"/>
            <a:ext cx="9361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hvigorfile.ts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597015" y="2725102"/>
            <a:ext cx="26183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里的 pathVersionMapper 运行时补丁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51070" y="2969895"/>
            <a:ext cx="313153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如果补丁不在，照样会落入 _parsingPlatforms 短路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941118" y="2733199"/>
            <a:ext cx="9859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P09 · SDK 修复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62000" y="3286125"/>
            <a:ext cx="10668000" cy="723900"/>
          </a:xfrm>
          <a:prstGeom prst="rect">
            <a:avLst/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22" name="Rectangle 22"/>
          <p:cNvSpPr/>
          <p:nvPr/>
        </p:nvSpPr>
        <p:spPr>
          <a:xfrm>
            <a:off x="762000" y="3286125"/>
            <a:ext cx="57150" cy="723900"/>
          </a:xfrm>
          <a:prstGeom prst="rect">
            <a:avLst/>
          </a:prstGeom>
          <a:solidFill>
            <a:srgbClr val="F44B3F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939165" y="3449002"/>
            <a:ext cx="11618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ArkTS 类型错误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1070" y="3693795"/>
            <a:ext cx="29146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编译报 inline object type / property not exist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49165" y="3449002"/>
            <a:ext cx="1800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016818" y="3457099"/>
            <a:ext cx="16694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verification-report.md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749415" y="344900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第四节修复清单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751070" y="3693795"/>
            <a:ext cx="355215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典型：内联对象 → 抽 interface；属性不存在 → 移除/换替代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941118" y="345709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 3 修复清单</a:t>
            </a:r>
          </a:p>
        </p:txBody>
      </p:sp>
      <p:sp>
        <p:nvSpPr>
          <p:cNvPr id="30" name="Rectangle 30"/>
          <p:cNvSpPr/>
          <p:nvPr/>
        </p:nvSpPr>
        <p:spPr>
          <a:xfrm>
            <a:off x="762000" y="4010025"/>
            <a:ext cx="106680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762000" y="4010025"/>
            <a:ext cx="57150" cy="7239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939165" y="4172902"/>
            <a:ext cx="13389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按钮 / 页面不显示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41070" y="4417695"/>
            <a:ext cx="154762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导航点了没反应 或 缺按钮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749165" y="4172902"/>
            <a:ext cx="3333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检查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188268" y="4180999"/>
            <a:ext cx="69403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Index.ets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873115" y="4172902"/>
            <a:ext cx="256465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导航入口、对应页面的 Row() 子组件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751070" y="4417695"/>
            <a:ext cx="38544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入口跳转路径 router.pushUrl({ url: 'pages/...' }) 是否正确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941118" y="4180999"/>
            <a:ext cx="10001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 2 / 3 入口</a:t>
            </a:r>
          </a:p>
        </p:txBody>
      </p:sp>
      <p:sp>
        <p:nvSpPr>
          <p:cNvPr id="39" name="Rectangle 39"/>
          <p:cNvSpPr/>
          <p:nvPr/>
        </p:nvSpPr>
        <p:spPr>
          <a:xfrm>
            <a:off x="762000" y="4733925"/>
            <a:ext cx="10668000" cy="723900"/>
          </a:xfrm>
          <a:prstGeom prst="rect">
            <a:avLst/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40" name="Rectangle 40"/>
          <p:cNvSpPr/>
          <p:nvPr/>
        </p:nvSpPr>
        <p:spPr>
          <a:xfrm>
            <a:off x="762000" y="4733925"/>
            <a:ext cx="57150" cy="72390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939165" y="489680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计算结果不对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41070" y="5141595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数学运算给出意外值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749165" y="4896802"/>
            <a:ext cx="1800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016818" y="4904899"/>
            <a:ext cx="81507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calculate()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854065" y="489680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/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969318" y="4904899"/>
            <a:ext cx="13989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getPercentString()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454265" y="489680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/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569518" y="4904899"/>
            <a:ext cx="12351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sampleFunction()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751070" y="5141595"/>
            <a:ext cx="332870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每个需求对应的核心计算方法，加 console.log 看中间值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941118" y="4904899"/>
            <a:ext cx="10357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需求 1/2/3 核心</a:t>
            </a:r>
          </a:p>
        </p:txBody>
      </p:sp>
      <p:sp>
        <p:nvSpPr>
          <p:cNvPr id="51" name="Rectangle 51"/>
          <p:cNvSpPr/>
          <p:nvPr/>
        </p:nvSpPr>
        <p:spPr>
          <a:xfrm>
            <a:off x="762000" y="5457825"/>
            <a:ext cx="106680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A"/>
            </a:solidFill>
          </a:ln>
        </p:spPr>
      </p:sp>
      <p:sp>
        <p:nvSpPr>
          <p:cNvPr id="52" name="Rectangle 52"/>
          <p:cNvSpPr/>
          <p:nvPr/>
        </p:nvSpPr>
        <p:spPr>
          <a:xfrm>
            <a:off x="762000" y="5457825"/>
            <a:ext cx="57150" cy="723900"/>
          </a:xfrm>
          <a:prstGeom prst="rect">
            <a:avLst/>
          </a:prstGeom>
          <a:solidFill>
            <a:srgbClr val="B7DABD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939165" y="5620702"/>
            <a:ext cx="115381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不知道改了什么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41070" y="5865495"/>
            <a:ext cx="12978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想看需求 vs 基线差异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749165" y="5620702"/>
            <a:ext cx="32570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diff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131118" y="5628799"/>
            <a:ext cx="85067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../0-basic/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082665" y="562070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与当前项目，或看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245668" y="5628799"/>
            <a:ext cx="119243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apply-report.md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4751070" y="5865495"/>
            <a:ext cx="343385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apply-report 记录了所有改动文件 + 增删行数 + 决策原因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941118" y="5628799"/>
            <a:ext cx="127787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aid-workflow 产物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51522" y="652129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076122" y="65212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12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DCB5C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9618" y="751999"/>
            <a:ext cx="14772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13 · LESSONS LEARNED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425" y="1071562"/>
            <a:ext cx="178236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经验和收获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504950"/>
            <a:ext cx="952500" cy="9525"/>
          </a:xfrm>
          <a:custGeom>
            <a:avLst/>
            <a:gdLst/>
            <a:ahLst/>
            <a:cxnLst/>
            <a:rect l="l" t="t" r="r" b="b"/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887730" y="1792605"/>
            <a:ext cx="794323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B4D2E4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87855" y="2006918"/>
            <a:ext cx="509607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aid-workflow 7 个 spec 文件是组织复杂需求的脚手架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891665" y="2286952"/>
            <a:ext cx="604575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info → proposal → delta-spec → tasks → todo → apply-report → verification-report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91665" y="2477452"/>
            <a:ext cx="367645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每一步产物即下一步输入 · 即使中途换人也能 pick up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87730" y="2668905"/>
            <a:ext cx="989848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B7DABD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887855" y="2883218"/>
            <a:ext cx="25186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运行时补丁优于改系统文件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891665" y="3163252"/>
            <a:ext cx="26413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第三方工具的 bug 不一定要 fork 修复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91665" y="3353752"/>
            <a:ext cx="60840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hvigorfile.ts 这种「项目级 hook 点」可以做透明拦截 · 不动 /Applications · 升级不丢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87730" y="3545205"/>
            <a:ext cx="989848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DCB5C5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7855" y="3759518"/>
            <a:ext cx="390567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截图取证用 hdc 串接也能绕过 MCP 不可用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91665" y="4039552"/>
            <a:ext cx="50566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snapshot_display + uitest dumpLayout + uinput -T -c 串起完整流水线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891665" y="4230052"/>
            <a:ext cx="42591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装包 → 启动 → dump UI 拿坐标 → 点击导航 → 截图 · 全部命令行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7730" y="4421505"/>
            <a:ext cx="989848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F44B3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887855" y="4635818"/>
            <a:ext cx="436113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DEMO 手册要做到「客户没做完也能看到结果」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891665" y="4915852"/>
            <a:ext cx="56240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截图本地化（避免外链失效）· SPEC 文件用相对路径超链接 · 验证报告含实测截图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91665" y="5106352"/>
            <a:ext cx="55090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从 DEMO_GUIDE.md 任意一处点击都能直达对应 spec · 离线打开也能看完整链路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87730" y="5297805"/>
            <a:ext cx="989848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887855" y="5512118"/>
            <a:ext cx="41851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共用 bundleName 在多版本演示场景下要注意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891665" y="5792152"/>
            <a:ext cx="283302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同一 bundleName 装多个 HAP 会互相覆盖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891665" y="5982652"/>
            <a:ext cx="48879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演示前重新装目标 HAP；如要并存，考虑给不同需求用不同 bundleName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1522" y="6521291"/>
            <a:ext cx="323204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OpenCalc HarmonyOS Demo · aid-workflow 客户实验手册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076122" y="65212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13 / 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B4D2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DCB5C5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289744" y="1037749"/>
            <a:ext cx="161251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14 · REFERENCES &amp; LINKS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329428" y="1379220"/>
            <a:ext cx="1533144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400" b="1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关键链接</a:t>
            </a:r>
          </a:p>
        </p:txBody>
      </p:sp>
      <p:sp>
        <p:nvSpPr>
          <p:cNvPr id="7" name="Line 7"/>
          <p:cNvSpPr/>
          <p:nvPr/>
        </p:nvSpPr>
        <p:spPr>
          <a:xfrm>
            <a:off x="5524500" y="1847850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28575">
            <a:solidFill>
              <a:srgbClr val="DCB5C5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2286000" y="2286000"/>
            <a:ext cx="7620000" cy="76200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2465070" y="2465070"/>
            <a:ext cx="6853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ISSUE 来源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462212" y="2717006"/>
            <a:ext cx="8993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Issue #47 ·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15665" y="2725102"/>
            <a:ext cx="46502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github.com/Intelli-Jungle/hermes-agent-workflow/issues/47</a:t>
            </a:r>
          </a:p>
        </p:txBody>
      </p:sp>
      <p:sp>
        <p:nvSpPr>
          <p:cNvPr id="12" name="Rectangle 12"/>
          <p:cNvSpPr/>
          <p:nvPr/>
        </p:nvSpPr>
        <p:spPr>
          <a:xfrm>
            <a:off x="2286000" y="3162300"/>
            <a:ext cx="7620000" cy="76200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2465070" y="3341370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代码仓库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62212" y="3593306"/>
            <a:ext cx="10061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DEMO repo ·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463290" y="3601402"/>
            <a:ext cx="413651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github.com/JungleTestLabs/opencalc-harmonyos-demo</a:t>
            </a:r>
          </a:p>
        </p:txBody>
      </p:sp>
      <p:sp>
        <p:nvSpPr>
          <p:cNvPr id="16" name="Rectangle 16"/>
          <p:cNvSpPr/>
          <p:nvPr/>
        </p:nvSpPr>
        <p:spPr>
          <a:xfrm>
            <a:off x="2286000" y="4038600"/>
            <a:ext cx="7620000" cy="76200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2465070" y="4217670"/>
            <a:ext cx="13823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aid-workflow SKILLS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462212" y="4469606"/>
            <a:ext cx="49684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实施 ·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997518" y="4485799"/>
            <a:ext cx="300801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skill_bank/skills/requirement-development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81712" y="4469606"/>
            <a:ext cx="49684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验证 ·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617018" y="4485799"/>
            <a:ext cx="29866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skill_bank/skills/requirement-verification</a:t>
            </a:r>
          </a:p>
        </p:txBody>
      </p:sp>
      <p:sp>
        <p:nvSpPr>
          <p:cNvPr id="22" name="Rectangle 22"/>
          <p:cNvSpPr/>
          <p:nvPr/>
        </p:nvSpPr>
        <p:spPr>
          <a:xfrm>
            <a:off x="2286000" y="4914900"/>
            <a:ext cx="7620000" cy="76200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9525">
            <a:solidFill>
              <a:srgbClr val="E5E5EA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2465070" y="5093970"/>
            <a:ext cx="180328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595959"/>
                </a:solidFill>
                <a:latin typeface="Arial"/>
                <a:ea typeface="Microsoft YaHei"/>
                <a:cs typeface="Arial"/>
              </a:rPr>
              <a:t>基线代码（0-basic 克隆源）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62212" y="5345906"/>
            <a:ext cx="18112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OpenCalc HarmonyOS ·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72915" y="5354002"/>
            <a:ext cx="36841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00000"/>
                </a:solidFill>
                <a:latin typeface="Consolas"/>
                <a:ea typeface="Microsoft YaHei"/>
                <a:cs typeface="Consolas"/>
              </a:rPr>
              <a:t>github.com/JungleTestLabs/opencalc-harmonyos</a:t>
            </a:r>
          </a:p>
        </p:txBody>
      </p:sp>
      <p:sp>
        <p:nvSpPr>
          <p:cNvPr id="26" name="Line 26"/>
          <p:cNvSpPr/>
          <p:nvPr/>
        </p:nvSpPr>
        <p:spPr>
          <a:xfrm>
            <a:off x="5143500" y="6000750"/>
            <a:ext cx="1905000" cy="9525"/>
          </a:xfrm>
          <a:custGeom>
            <a:avLst/>
            <a:gdLst/>
            <a:ahLst/>
            <a:cxnLst/>
            <a:rect l="l" t="t" r="r" b="b"/>
            <a:pathLst>
              <a:path w="1905000" h="9525">
                <a:moveTo>
                  <a:pt x="0" y="0"/>
                </a:moveTo>
                <a:lnTo>
                  <a:pt x="1905000" y="0"/>
                </a:lnTo>
              </a:path>
            </a:pathLst>
          </a:custGeom>
          <a:noFill/>
          <a:ln w="9525">
            <a:solidFill>
              <a:srgbClr val="E5E5EA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5644277" y="6162675"/>
            <a:ext cx="90344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000000"/>
                </a:solidFill>
                <a:latin typeface="Arial"/>
                <a:ea typeface="Microsoft YaHei"/>
                <a:cs typeface="Arial"/>
              </a:rPr>
              <a:t>🐶 → 👴 → 📦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555504" y="6456045"/>
            <a:ext cx="108099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95959"/>
                </a:solidFill>
                <a:latin typeface="Consolas"/>
                <a:ea typeface="Microsoft YaHei"/>
                <a:cs typeface="Consolas"/>
              </a:rPr>
              <a:t>END · 2026-05-17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