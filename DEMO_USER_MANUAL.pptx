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OpenCalc HarmonyOS Demo · 客户实验手册</a:t>
            </a:r>
            <a:endParaRPr lang="zh-CN" dirty="0"/>
          </a:p>
          <a:p>
            <a:endParaRPr lang="zh-CN" dirty="0"/>
          </a:p>
          <a:p>
            <a:r>
              <a:rPr lang="zh-CN" dirty="0"/>
              <a:t>各位下午好,欢迎来到 OpenCalc HarmonyOS Demo 客户实验手册的现场演示。本手册是基于 JungleTestLabs 完整的 AID 工作流交付物整理的客户演示材料,版本 v1.0,定稿日期 2026 年 5 月 19 日。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我们今天要走完三个增量需求的端到端 Demo:百分号按钮、小费计算器、函数图像绘制——分别对应 S、S、M 三档复杂度,层层递进。所有代码已开源到 GitHub 仓库 JungleTestLabs/opencalc-harmonyos-demo。整个手册大约 16 张幻灯片,会覆盖需求、设计、代码、验证四个维度。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本手册聚焦三件事:需求一览、工作流、SPEC 制品。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第一块——三需求一览。我们的三个增量需求是横向并列的,S 级、S 级、M 级,各自一个独立的 HarmonyOS 应用,客户可以挑任一编译和演示。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第二块——AID 工作流。这是我们标准化的开发方法,分四阶段:PLANNING、IMPLEMENTING、APPLYING、验证。三个 demo 全部走完这套流程。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第三块——SPEC 制品。每个需求产出 9 份产物,从需求提案一直到验证报告,完整可追溯。三个需求的制品都在各自子目录的 `specs/changes/` 下。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这张是核心对照表,请重点看复杂度和改动量两栏。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Demo 1 百分号按钮:S 级,只动 CalculatorPage.ets 一个文件,+6/-1 行,算法层完全不动——智能 % 的语义在既有 getPercentString 中已存在。5 个验证用例全部通过。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Demo 2 小费计算器:S 级,但是体量明显跨了一档,253 行代码,4 个文件改动,首个独立页面改造。主页只加 13 行入口,8 个用例验证含 P-01 缺陷复盘——这是真实生产里 ArkUI 的一个响应式陷阱。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Demo 3 函数图像绘制:M 级,475 行代码,7 个文件,涉及 Canvas 渲染、递归下降解析器扩展、FMEA 风险闭环。CLI 自带 SDK 修复脚本。12 个 P0 用例全部通过,FMEA 7/7 高危项闭环。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三个 demo 同一基线、同一方法、同一验证标准。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AID 是我们的方法论简称——Analyze、Implement、Deliver,分四个阶段。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Step 1 PLANNING:从需求解析、四问澄清,到 proposal、info、delta-spec、delta-design、design-review,产出完整 5 份产物。delta-spec 里要包含 FMEA 风险分析,design-review 必须 7 维度审视通过。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Step 2 IMPLEMENTING:把需求拆成可执行任务,产出 tasks.md 和 todo.md,每个任务都有 P0/P1 验收用例。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Step 3 APPLYING:真实改代码,完成后产出 apply-report.md,附 arkts-check 静态等价审查。Demo 2 的 P-01 就是这一阶段产生的"实施后置缺陷",直接在 apply-report 里追加复盘。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Step 4 验证:Pura 80 模拟器实测,数学验证 + UI 截图,产出 verification-report.md。三个需求合计 25 个用例 + 28 张截图,100% 通过。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阶段间通过 SPEC 文件传递上下文——任意阶段可单独重入。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仓库根目录有 4 个并列子目录:`0-basic/` 是原始基线,`1-percent-button/`、`2-tip-calculator/`、`3-draw-func/` 是三个增量需求。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每个 demo 目录里都有:DEMO_GUIDE.md(完整实验手册)、entry/src/main/ets/(代码)、specs/changes/&lt;日期&gt;-&lt;需求名&gt;/(全部 9 份 SPEC 制品)。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特别提一下 3-draw-func:它独家携带 `scripts/fix-deveco-sdk.sh`——这是解决 DevEco 6.0.2 嵌套 SDK 布局 + hvigor 平铺扫描错配的关键脚本。如果在 CLI 里编译报 `00303168 SDK component missing`,跑这个脚本就行,幂等可重复。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变更目录里的日期格式 YYYYMMDD 对应 AID 流程的启动日期:demo1 是 20260518,demo2 和 demo3 是 20260519。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这是最轻量级的 demo,教科书式的零侵入改造。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复杂度 S——单文件 UI 改动,只动 CalculatorPage.ets,+6/-1 行,算法层零改动,5 个验证用例全过。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需求:首行从 4 个键扩成 5 个,新增 % 按钮,布局变成 `AC ( ) % ÷`。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设计的关键是零侵入:新增独立 Builder 函数 BtnOp5 / BtnAct5,width 设 18%,既有的 BtnOp/BtnAct 完全不动。这意味着原有的 4 列按钮在第二行往下完全没有被触及。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为什么算法层零改动:OpenCalc 的 getPercentString 已经支持上下文感知 % 语义——50+10% 自动识别成"加法语境取 50 的 10%",50×10% 自动识别成"乘法语境取 10/100"。我们只是把这个能力从隐藏入口暴露成一个一级按钮。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整个 demo 一共改了 6 行——这就是 S 级的典型样貌。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上半屏是核心代码:BtnOp5 这个 @Builder 函数,关键是 `.width('18%')`——5 个键 × 18% + 间距正好接近 100%。`.onClick` 里调用 `fn(symbol)` 把按钮事件委托给传入的回调,所以 Builder 是完全可复用的。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ToggleRow 内的调用就一行:`this.BtnOp5('%', s =&gt; this.appendOp(s))`,复用既有的 getPercentString 智能语义。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下半屏是 5 个用例的实测结果:</a:t>
            </a:r>
            <a:endParaRPr lang="zh-CN" dirty="0"/>
          </a:p>
          <a:p>
            <a:endParaRPr lang="zh-CN" dirty="0"/>
          </a:p>
          <a:p>
            <a:r>
              <a:rPr lang="zh-CN" dirty="0"/>
              <a:t>• 加法语境 50+10% = 55 ✓</a:t>
            </a:r>
            <a:endParaRPr lang="zh-CN" dirty="0"/>
          </a:p>
          <a:p>
            <a:r>
              <a:rPr lang="zh-CN" dirty="0"/>
              <a:t>• 减法语境 50−10% = 45 ✓</a:t>
            </a:r>
            <a:endParaRPr lang="zh-CN" dirty="0"/>
          </a:p>
          <a:p>
            <a:r>
              <a:rPr lang="zh-CN" dirty="0"/>
              <a:t>• 乘法语境 50×10% = 5 ✓</a:t>
            </a:r>
            <a:endParaRPr lang="zh-CN" dirty="0"/>
          </a:p>
          <a:p>
            <a:r>
              <a:rPr lang="zh-CN" dirty="0"/>
              <a:t>• 单独按 % 25% = 0.25 ✓</a:t>
            </a:r>
            <a:endParaRPr lang="zh-CN" dirty="0"/>
          </a:p>
          <a:p>
            <a:r>
              <a:rPr lang="zh-CN" dirty="0"/>
              <a:t>• 横屏布局 5 列首行不溢出不裁切 ✓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 5 个数学结果是 Pura 80 模拟器真机点击实测的,不是单测结果。重点关注前三个不同语境下 % 的智能识别——这是这个 demo 的核心价值,虽然代码只加了 6 行,但行为很丰富。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Demo 2 跨了一个层级。虽然复杂度还是 S 级,但是是首个独立页面改造——这意味着引入了 router.pushUrl 跳转、新 @Entry @Component、main_pages.json 路由注册。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改了 4 个文件:</a:t>
            </a:r>
            <a:endParaRPr lang="zh-CN" dirty="0"/>
          </a:p>
          <a:p>
            <a:endParaRPr lang="zh-CN" dirty="0"/>
          </a:p>
          <a:p>
            <a:r>
              <a:rPr lang="zh-CN" dirty="0"/>
              <a:t>• TipCalculator.ets(新增 32 行)——纯函数 calcPerPerson,算法层完全无副作用,非法输入返回 '--' 占位符。算法层与 UI 层彻底解耦,未来这个函数可以被卡片、跨设备、原子化服务任意复用。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• TipCalculatorPage.ets(新增 ~208 行)——@Entry 组件,5 个 @State、8 个 @Builder、1 个 computePerPerson 方法。含金额/人数输入框、4 档位、自定义输入、实时人均显示。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• CalculatorPage.ets(+13 行)——主页只加了一个「💰 小费」按钮入口,router.pushUrl 加 catch 兜底,既有按钮、历史、设置、主题完全不动。这就是"主页零侵入"。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• main_pages.json(+1 行)——注册 pages/TipCalculatorPage。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整个改造体量是 253 行,但主页侵入只有 13 行——这是设计上的胜利。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特别强调一下:含 P-01 缺陷复盘——getter → method,这是 ArkUI 真实生产里很容易踩的响应式陷阱,下一张幻灯片会详细说。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表格里有 8 行用例,其中 2 个用 ⭐ 高亮的是真实输入触发计算的关键验证:</a:t>
            </a:r>
            <a:endParaRPr lang="zh-CN" dirty="0"/>
          </a:p>
          <a:p>
            <a:endParaRPr lang="zh-CN" dirty="0"/>
          </a:p>
          <a:p>
            <a:r>
              <a:rPr lang="zh-CN" dirty="0"/>
              <a:t>• 用例 4:输入金额 100、人数 4、默认 15% 档位 → 人均 28.75(100×1.15/4)真机命中。</a:t>
            </a:r>
            <a:endParaRPr lang="zh-CN" dirty="0"/>
          </a:p>
          <a:p>
            <a:r>
              <a:rPr lang="zh-CN" dirty="0"/>
              <a:t>• 用例 7:切换到自定义模式,输入 25% → 人均 31.25(100×1.25/4)真机命中。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加上用例 5 切换到 18% 档位 → 29.50,三组数学验证全部命中。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底部黄条是 P-01 缺陷复盘,这是这个 demo 最有价值的一段。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首版 HAP 上线后真机输入金额人均一直显示 '--' 不刷新。首版验证报告曾误判为"uitest 不触发 onChange"。最终定位真因是:ArkTS @Component 内 `private get xxx()` getter 不会被 ArkUI @Builder Text() 当作响应式数据源——@State 重渲染时,Text 节点不会主动去读 getter 的最新返回值。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修复方式:getter 改成普通 method,Text 调用同步改成带括号 `Text(this.computePerPerson())`。修复后 4 次 uitest 注入 + UI 树确认 + 3 组数学验证全部通过,同时证伪了首版"uitest 不触发 onChange"的误判。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这是 ArkUI 响应式系统的一个非显然约束——客户在自己的 ArkTS 项目里如果遇到 "@State 改了但 UI 不刷新",首先要怀疑 getter / 普通函数的区别。</a:t>
            </a:r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Demo 3 是 M 级,显著跳了一档。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复杂度 M——多文件特性、Canvas 渲染、解析器扩展、FMEA 风险闭环全部上场。改动量 475 行,7 个文件,P0 用例 12 个 + 16 张截图。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改动文件清单(按重要性):</a:t>
            </a:r>
            <a:endParaRPr lang="zh-CN" dirty="0"/>
          </a:p>
          <a:p>
            <a:endParaRPr lang="zh-CN" dirty="0"/>
          </a:p>
          <a:p>
            <a:r>
              <a:rPr lang="zh-CN" dirty="0"/>
              <a:t>• Plotter.ets(+202 行,新增)——无状态纯类,核心算法。包含 200ms 软超时、|Δy|&gt;5×range 断点检测、isFinite + |y|≤1e15 三重过滤。下一张幻灯片会展开。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• GraphPage.ets(+207 行,新增)——@Entry Canvas 页面。5 个 @State、7 个主题 getter(全部拷贝,不复用主页 getter,避免页面间耦合)、300ms 防抖、canvasReady 状态机。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• Calculator.ets(+29 行,修改)——这个是最微妙的改动。引入 currentX 字段、evalAt 方法,parseFactor 里加 x 变量识别,还要与既有 xp(...) 函数名做前瞻消歧。下一张幻灯片左半屏专门讲。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• Models.ets(+25 行,修改)——新增 3 个 interface:GraphConfig、PlotPoint、PlotResult。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• CalculatorPage.ets + string.json + main_pages.json——入口按钮、6 条字符串资源、路由注册,合计小改动。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FMEA R-01..R-10 闭环 7/7——这是 demo3 区别于前两个 demo 的关键特征:不只是把功能做出来,而是把"功能边缘可能挂的所有方式"都列出来并闭环。</a:t>
            </a:r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这张幻灯片左右各一段核心代码。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左侧:parseFactor 中的 x 变量识别 + 前瞻消歧(对应 R-03 闭环)。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`this.c === 120` 是 ASCII 'x' 的代码。关键不是这一行,而是后面的 `nextC` 前瞻:如果 x 后面跟着小写字母,说明这是函数名(比如 `xp(...)` 是 e 的指数函数)的开头,我们不能把它识别成"变量 x";否则识别成变量,从 `this.currentX` 取值。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为什么需要前瞻:既有 OpenCalc 已经有 `xp` 这个函数。如果不做前瞻,xp(2) 会被切成 `x + p`,识别成"未定义函数 p"。同时保留 sin(x) 和 xp(2) 两种语义是这段代码的核心价值。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右侧:Plotter.sample 采样循环(对应 R-02、R-04、R-07 闭环)。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三个关键点:</a:t>
            </a:r>
            <a:endParaRPr lang="zh-CN" dirty="0"/>
          </a:p>
          <a:p>
            <a:endParaRPr lang="zh-CN" dirty="0"/>
          </a:p>
          <a:p>
            <a:r>
              <a:rPr lang="zh-CN" dirty="0"/>
              <a:t>1. 每 100 个采样点检查一次时间,超过 200ms 直接 break——这是性能软超时兜底(R-04),长表达式 × 600 采样点不会卡 UI 主线程。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2. 每次采样前 ErrorFlags.reset()——OpenCalc 的 ErrorFlags 是静态全局态(R-02 风险来源),不重置的话上一个采样点的错误会污染下一个。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3. 三重过滤:`!ErrorFlags.domain_error &amp;&amp; !ErrorFlags.syntax_error &amp;&amp; isFinite(y) &amp;&amp; |y| ≤ 1e15`——这与 drawTo 中的 `|Δy| &gt; 5×range` 断点协同,保证 tan(x) 不出现穿屏直线、1/x 在 x=0 处自动断开。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这两段代码 60 行不到,但是支撑了整个绘图能力的稳定性。</a:t>
            </a:r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Pura 80 模拟器实测,x ∈ [-10, 10],y 范围数据自适配 + 10% padding。12 个 P0 用例覆盖:</a:t>
            </a:r>
            <a:endParaRPr lang="zh-CN" dirty="0"/>
          </a:p>
          <a:p>
            <a:endParaRPr lang="zh-CN" dirty="0"/>
          </a:p>
          <a:p>
            <a:r>
              <a:rPr lang="zh-CN" dirty="0"/>
              <a:t>• 基础函数:sin(x)、x²、2x+1、1/x、tan(x)、sqrt(x)——这 6 个覆盖三角、多项式、双曲、有界、定义域受限。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• 错误处理:空输入(用例 9)、语法错误(用例 10)、错误恢复(用例 11)——验证错误提示文案 + 错误后能继续工作。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• 导航:主界面入口(用例 1)、初次进入(用例 2)、返回主页(用例 12)——验证 router 栈正确。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特别用 ⭐ 高亮两个用例:</a:t>
            </a:r>
            <a:endParaRPr lang="zh-CN" dirty="0"/>
          </a:p>
          <a:p>
            <a:endParaRPr lang="zh-CN" dirty="0"/>
          </a:p>
          <a:p>
            <a:r>
              <a:rPr lang="zh-CN" dirty="0"/>
              <a:t>• 用例 7 渐近线断点 tan(x):这是 R-07 的真机验证,如果 |Δy|&gt;5×range 阈值被改大或删掉,tan(x) 会出现穿屏直线。</a:t>
            </a:r>
            <a:endParaRPr lang="zh-CN" dirty="0"/>
          </a:p>
          <a:p>
            <a:r>
              <a:rPr lang="zh-CN" dirty="0"/>
              <a:t>• 用例 11 错误恢复:输入残缺式 `sin(` 报错后,再输入 cos(x) 必须能正常恢复,验证状态机回滚正确。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底部绿条:12/12 通过,16 张截图归档,FMEA 高危项 7/7 闭环。</a:t>
            </a:r>
            <a:endParaRPr 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这是任意一个 demo 通用的三步流程。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Step 1 BUILD 编译——两种方式任选。推荐 DevEco Studio IDE:Build → Make Project → Run 'entry'。或者 CLI:`hvigorw clean` 然后 `hvigorw assembleApp --mode debug --daemon`。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⚠️ demo3 CLI 首次必须先跑 `sudo bash scripts/fix-deveco-sdk.sh`——这个脚本是幂等的,可重复执行,在 sdk/default/ 下创建 5 个根级符号链接指向 openharmony 嵌套目录,绕过 hvigor 6.0.2 的 SDK 平铺扫描问题。改完之后必须 `pkill` 杀掉 hvigor daemon 让新配置生效——DevEco GUI 重启不杀 daemon。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Step 2 INSTALL 安装——先配置 hdc 路径(注意 PATH 里指向 `sdk/default/openharmony/toolchains`),然后 `hdc install` 推送 HAP 到设备。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Step 3 LAUNCH 启动——`hdc shell aa start -b com.darkempire78.opencalculator -a EntryAbility`,会看到 `start ability successfully.` 输出。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启动后:demo1 看首行有没有 5 个键含 %;demo2 看 ToggleRow 有没有 💰 小费按钮、输入 100/4 是否得到 28.75;demo3 看顶部有没有"绘图"按钮、输入 sin(x) 是否出 3 周期曲线。</a:t>
            </a:r>
            <a:endParaRPr 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3 类高频问题,每条三段式:现象 → 根因 → 修复。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问题 1 · CLI 编译 SDK 缺失:报错 `00303168 SDK component missing`。根因是 DevEco 6.0.2 把 SDK 装成 `sdk/default/openharmony/{ets,js,native,previewer,toolchains}/` 的嵌套结构,但 hvigor 默认走平铺扫描找不到。修复就是 demo3 的 `scripts/fix-deveco-sdk.sh`——幂等,改完必须杀 hvigor daemon。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问题 2 · Demo 2 人均显示 --:这就是 P-01。根因是 ArkUI @Builder Text() 不读 `private get` getter 的最新返回值,响应式系统不把它当作数据源。修复:getter 改 method,调用语法改成括号。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问题 3 · Demo 3 sin(x) 报未定义:根因是 parseFactor 中 `else if (this.c === 120)` 这个 x 变量识别分支放错了位置——必须放在函数名扫描分支之前,否则 x 被吞进函数名扫描,识别成"未定义函数 x"。同时 nextC 前瞻 `97..122` 范围必须正确,否则 xp(2) 等价 e² 失效。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这三类问题在生产里其实都遇到过——P-01 是真实复盘出来的、SDK 是真实闭环的、parseFactor 位置是真实改过的。客户照着排查表过一遍,大多数 ArkTS 项目里类似的问题都能套用。</a:t>
            </a:r>
            <a:endParaRPr 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三个 demo 共 27 份 SPEC 制品,同构同名,客户可以挑一个 demo 全文读一遍就掌握我们的方法。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每个 demo 的 specs/changes/ 下都有 9 份产物:</a:t>
            </a:r>
            <a:endParaRPr lang="zh-CN" dirty="0"/>
          </a:p>
          <a:p>
            <a:endParaRPr lang="zh-CN" dirty="0"/>
          </a:p>
          <a:p>
            <a:r>
              <a:rPr lang="zh-CN" dirty="0"/>
              <a:t>1. proposal.md——需求提案 + 澄清记录(demo1 是 4 问,demo2 是 8 问,demo3 是 4 问)</a:t>
            </a:r>
            <a:endParaRPr lang="zh-CN" dirty="0"/>
          </a:p>
          <a:p>
            <a:r>
              <a:rPr lang="zh-CN" dirty="0"/>
              <a:t>2. info.md——代码仓理解 + 复杂度评估</a:t>
            </a:r>
            <a:endParaRPr lang="zh-CN" dirty="0"/>
          </a:p>
          <a:p>
            <a:r>
              <a:rPr lang="zh-CN" dirty="0"/>
              <a:t>3. delta-spec.md——SR 详细规格 + FMEA 风险表</a:t>
            </a:r>
            <a:endParaRPr lang="zh-CN" dirty="0"/>
          </a:p>
          <a:p>
            <a:r>
              <a:rPr lang="zh-CN" dirty="0"/>
              <a:t>4. delta-design.md——组件设计、算法、状态机</a:t>
            </a:r>
            <a:endParaRPr lang="zh-CN" dirty="0"/>
          </a:p>
          <a:p>
            <a:r>
              <a:rPr lang="zh-CN" dirty="0"/>
              <a:t>5. design-review.md——7 维度设计审视</a:t>
            </a:r>
            <a:endParaRPr lang="zh-CN" dirty="0"/>
          </a:p>
          <a:p>
            <a:r>
              <a:rPr lang="zh-CN" dirty="0"/>
              <a:t>6. tasks.md——任务分解</a:t>
            </a:r>
            <a:endParaRPr lang="zh-CN" dirty="0"/>
          </a:p>
          <a:p>
            <a:r>
              <a:rPr lang="zh-CN" dirty="0"/>
              <a:t>7. todo.md——进度追踪(单文件待办)</a:t>
            </a:r>
            <a:endParaRPr lang="zh-CN" dirty="0"/>
          </a:p>
          <a:p>
            <a:r>
              <a:rPr lang="zh-CN" dirty="0"/>
              <a:t>8. apply-report.md——实施详情 + 静态等价审查(demo2 的这一份含 P-01 复盘)</a:t>
            </a:r>
            <a:endParaRPr lang="zh-CN" dirty="0"/>
          </a:p>
          <a:p>
            <a:r>
              <a:rPr lang="zh-CN" dirty="0"/>
              <a:t>9. verification-report.md——验证结果 + 截图(三个 demo 分别 5/8/16 张)</a:t>
            </a:r>
            <a:endParaRPr lang="zh-CN" dirty="0"/>
          </a:p>
          <a:p>
            <a:endParaRPr lang="zh-CN" dirty="0"/>
          </a:p>
          <a:p>
            <a:r>
              <a:rPr lang="zh-CN" dirty="0"/>
              <a:t>三栏底部的 DEMO_GUIDE.md 是本 PPT 的"配套读本",包含每个 demo 的完整客户操作指南、问题排查表、对比 demo 早期版本的差异。</a:t>
            </a:r>
            <a:endParaRPr 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三个 Demo · 一套方法。S → S → M 层层递进,但底层方法论是同一套。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开发:狗助(JungleAssistant)——把 AID 工作流落地到代码层。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验证:爹助(IntelliJungle)——独立验证流程,Pura 80 模拟器实测、数学校验、7 维度审查。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仓库:github.com/JungleTestLabs/opencalc-harmonyos-demo。四个并列子目录:0-basic(基线)、1-percent-button、2-tip-calculator、3-draw-func。每个目录下有完整 DEMO_GUIDE.md。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数字快览:3 个 demo · 27 份 SPEC 制品 · 25 个验证用例 · 28 张截图 · 100% 通过率 · SDK API 22 / HarmonyOS 6.0.2 · 2026-05-19。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感谢各位的耐心。现在留出问答时间——我们可以挑任一 demo 深入,也可以聚焦 AID 工作流或者 P-01、SDK 修复等具体技术点。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7F9FC"/>
              </a:gs>
            </a:gsLst>
            <a:lin ang="54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71500" y="571500"/>
            <a:ext cx="1524000" cy="57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565C0"/>
              </a:gs>
              <a:gs pos="100000">
                <a:srgbClr val="0288D1"/>
              </a:gs>
            </a:gsLst>
            <a:lin ang="0" scaled="1"/>
          </a:gradFill>
          <a:ln>
            <a:noFill/>
          </a:ln>
        </p:spPr>
      </p:sp>
      <p:grpSp>
        <p:nvGrpSpPr>
          <p:cNvPr id="16" name="Group 16"/>
          <p:cNvGrpSpPr/>
          <p:nvPr/>
        </p:nvGrpSpPr>
        <p:grpSpPr>
          <a:xfrm>
            <a:off x="10839450" y="1123950"/>
            <a:ext cx="609600" cy="895350"/>
            <a:chOff x="10839450" y="1123950"/>
            <a:chExt cx="609600" cy="895350"/>
          </a:xfrm>
        </p:grpSpPr>
        <p:sp>
          <p:nvSpPr>
            <p:cNvPr id="4" name="Ellipse 4"/>
            <p:cNvSpPr/>
            <p:nvPr/>
          </p:nvSpPr>
          <p:spPr>
            <a:xfrm>
              <a:off x="10839450" y="112395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11125200" y="112395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1410950" y="112395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0839450" y="14097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1125200" y="14097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1410950" y="14097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0839450" y="169545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11125200" y="169545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11410950" y="169545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10839450" y="19812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11125200" y="19812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11410950" y="1981200"/>
              <a:ext cx="38100" cy="38100"/>
            </a:xfrm>
            <a:prstGeom prst="ellipse">
              <a:avLst/>
            </a:prstGeom>
            <a:solidFill>
              <a:srgbClr val="E5E7EB"/>
            </a:solidFill>
            <a:ln>
              <a:noFill/>
            </a:ln>
          </p:spPr>
        </p:sp>
      </p:grpSp>
      <p:sp>
        <p:nvSpPr>
          <p:cNvPr id="17" name="TextBox 17"/>
          <p:cNvSpPr txBox="1"/>
          <p:nvPr/>
        </p:nvSpPr>
        <p:spPr>
          <a:xfrm>
            <a:off x="558165" y="839152"/>
            <a:ext cx="300170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JUNGLETESTLABS · CUSTOMER LAB MANUAL</a:t>
            </a:r>
            <a:endParaRPr lang="zh-CN" sz="1050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514350" y="2562225"/>
            <a:ext cx="8878395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500" b="1" dirty="0">
                <a:gradFill>
                  <a:gsLst>
                    <a:gs pos="0">
                      <a:srgbClr val="1565C0"/>
                    </a:gs>
                    <a:gs pos="100000">
                      <a:srgbClr val="0288D1"/>
                    </a:gs>
                  </a:gsLst>
                  <a:lin ang="0" scaled="1"/>
                </a:gradFill>
                <a:latin typeface="Segoe UI"/>
                <a:ea typeface="Microsoft YaHei"/>
                <a:cs typeface="Segoe UI"/>
              </a:rPr>
              <a:t>OpenCalc HarmonyOS Demo</a:t>
            </a:r>
            <a:endParaRPr lang="zh-CN" sz="4500" b="1" dirty="0">
              <a:gradFill>
                <a:gsLst>
                  <a:gs pos="0">
                    <a:srgbClr val="1565C0"/>
                  </a:gs>
                  <a:gs pos="100000">
                    <a:srgbClr val="0288D1"/>
                  </a:gs>
                </a:gsLst>
                <a:lin ang="0" scaled="1"/>
              </a:gradFill>
              <a:latin typeface="Segoe UI"/>
              <a:ea typeface="Microsoft YaHei"/>
              <a:cs typeface="Segoe UI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544830" y="3392805"/>
            <a:ext cx="612379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客户实验手册 · 三个增量需求的完整 Demo</a:t>
            </a:r>
            <a:endParaRPr lang="zh-CN" sz="2100" b="1" dirty="0">
              <a:solidFill>
                <a:srgbClr val="1F2937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20" name="Line 20"/>
          <p:cNvSpPr/>
          <p:nvPr/>
        </p:nvSpPr>
        <p:spPr>
          <a:xfrm>
            <a:off x="571500" y="4095750"/>
            <a:ext cx="2095500" cy="9525"/>
          </a:xfrm>
          <a:custGeom>
            <a:avLst/>
            <a:gdLst/>
            <a:ahLst/>
            <a:cxnLst/>
            <a:rect l="l" t="t" r="r" b="b"/>
            <a:pathLst>
              <a:path w="2095500" h="9525">
                <a:moveTo>
                  <a:pt x="0" y="0"/>
                </a:moveTo>
                <a:lnTo>
                  <a:pt x="2095500" y="0"/>
                </a:lnTo>
              </a:path>
            </a:pathLst>
          </a:custGeom>
          <a:noFill/>
          <a:ln w="19050">
            <a:solidFill>
              <a:srgbClr val="1565C0"/>
            </a:solidFill>
          </a:ln>
        </p:spPr>
      </p:sp>
      <p:grpSp>
        <p:nvGrpSpPr>
          <p:cNvPr id="27" name="Group 27"/>
          <p:cNvGrpSpPr/>
          <p:nvPr/>
        </p:nvGrpSpPr>
        <p:grpSpPr>
          <a:xfrm>
            <a:off x="571500" y="4381500"/>
            <a:ext cx="3657600" cy="304800"/>
            <a:chOff x="571500" y="4381500"/>
            <a:chExt cx="3657600" cy="304800"/>
          </a:xfrm>
        </p:grpSpPr>
        <p:sp>
          <p:nvSpPr>
            <p:cNvPr id="21" name="Rectangle 21"/>
            <p:cNvSpPr/>
            <p:nvPr/>
          </p:nvSpPr>
          <p:spPr>
            <a:xfrm>
              <a:off x="571500" y="4381500"/>
              <a:ext cx="1143000" cy="304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69607" y="4468178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4B5563"/>
                  </a:solidFill>
                  <a:latin typeface="Segoe UI"/>
                  <a:ea typeface="Microsoft YaHei"/>
                  <a:cs typeface="Segoe UI"/>
                </a:rPr>
                <a:t>Demo 1 · S 级</a:t>
              </a:r>
              <a:endParaRPr lang="zh-CN" sz="1050" dirty="0">
                <a:solidFill>
                  <a:srgbClr val="4B5563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828800" y="4381500"/>
              <a:ext cx="1143000" cy="304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907738" y="4468178"/>
              <a:ext cx="98512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4B5563"/>
                  </a:solidFill>
                  <a:latin typeface="Segoe UI"/>
                  <a:ea typeface="Microsoft YaHei"/>
                  <a:cs typeface="Segoe UI"/>
                </a:rPr>
                <a:t>Demo 2 · S 级</a:t>
              </a:r>
              <a:endParaRPr lang="zh-CN" sz="1050" dirty="0">
                <a:solidFill>
                  <a:srgbClr val="4B5563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086100" y="4381500"/>
              <a:ext cx="1143000" cy="304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149703" y="4468178"/>
              <a:ext cx="101579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4B5563"/>
                  </a:solidFill>
                  <a:latin typeface="Segoe UI"/>
                  <a:ea typeface="Microsoft YaHei"/>
                  <a:cs typeface="Segoe UI"/>
                </a:rPr>
                <a:t>Demo 3 · M 级</a:t>
              </a:r>
              <a:endParaRPr lang="zh-CN" sz="1050" dirty="0">
                <a:solidFill>
                  <a:srgbClr val="4B5563"/>
                </a:solidFill>
                <a:latin typeface="Segoe UI"/>
                <a:ea typeface="Microsoft YaHei"/>
                <a:cs typeface="Segoe UI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877300" y="2895600"/>
            <a:ext cx="1219200" cy="1371600"/>
            <a:chOff x="8877300" y="2895600"/>
            <a:chExt cx="1219200" cy="1371600"/>
          </a:xfrm>
        </p:grpSpPr>
        <p:sp>
          <p:nvSpPr>
            <p:cNvPr id="28" name="Freeform 28"/>
            <p:cNvSpPr/>
            <p:nvPr/>
          </p:nvSpPr>
          <p:spPr>
            <a:xfrm>
              <a:off x="8877300" y="2895600"/>
              <a:ext cx="1219200" cy="1371600"/>
            </a:xfrm>
            <a:custGeom>
              <a:avLst/>
              <a:gdLst/>
              <a:ahLst/>
              <a:cxnLst/>
              <a:rect l="l" t="t" r="r" b="b"/>
              <a:pathLst>
                <a:path w="1219200" h="1371600">
                  <a:moveTo>
                    <a:pt x="0" y="0"/>
                  </a:moveTo>
                  <a:moveTo>
                    <a:pt x="0" y="152400"/>
                  </a:moveTo>
                  <a:cubicBezTo>
                    <a:pt x="0" y="68232"/>
                    <a:pt x="68232" y="0"/>
                    <a:pt x="152400" y="0"/>
                  </a:cubicBezTo>
                  <a:lnTo>
                    <a:pt x="1066800" y="0"/>
                  </a:lnTo>
                  <a:cubicBezTo>
                    <a:pt x="1150968" y="0"/>
                    <a:pt x="1219200" y="68232"/>
                    <a:pt x="1219200" y="152400"/>
                  </a:cubicBezTo>
                  <a:lnTo>
                    <a:pt x="1219200" y="1219200"/>
                  </a:lnTo>
                  <a:cubicBezTo>
                    <a:pt x="1219200" y="1303368"/>
                    <a:pt x="1150968" y="1371600"/>
                    <a:pt x="1066800" y="1371600"/>
                  </a:cubicBezTo>
                  <a:lnTo>
                    <a:pt x="152400" y="1371600"/>
                  </a:lnTo>
                  <a:cubicBezTo>
                    <a:pt x="68232" y="1371600"/>
                    <a:pt x="0" y="1303368"/>
                    <a:pt x="0" y="1219200"/>
                  </a:cubicBezTo>
                  <a:close/>
                </a:path>
              </a:pathLst>
            </a:custGeom>
            <a:noFill/>
            <a:ln w="2381" cap="rnd">
              <a:solidFill>
                <a:srgbClr val="DCE7F4"/>
              </a:solidFill>
              <a:round/>
            </a:ln>
          </p:spPr>
        </p:sp>
        <p:sp>
          <p:nvSpPr>
            <p:cNvPr id="29" name="Freeform 29"/>
            <p:cNvSpPr/>
            <p:nvPr/>
          </p:nvSpPr>
          <p:spPr>
            <a:xfrm>
              <a:off x="9182100" y="3200400"/>
              <a:ext cx="609600" cy="9525"/>
            </a:xfrm>
            <a:custGeom>
              <a:avLst/>
              <a:gdLst/>
              <a:ahLst/>
              <a:cxnLst/>
              <a:rect l="l" t="t" r="r" b="b"/>
              <a:pathLst>
                <a:path w="609600" h="9525">
                  <a:moveTo>
                    <a:pt x="0" y="0"/>
                  </a:moveTo>
                  <a:lnTo>
                    <a:pt x="609600" y="0"/>
                  </a:lnTo>
                </a:path>
              </a:pathLst>
            </a:custGeom>
            <a:noFill/>
            <a:ln w="2381" cap="rnd">
              <a:solidFill>
                <a:srgbClr val="DCE7F4"/>
              </a:solidFill>
              <a:round/>
            </a:ln>
          </p:spPr>
        </p:sp>
        <p:sp>
          <p:nvSpPr>
            <p:cNvPr id="30" name="Freeform 30"/>
            <p:cNvSpPr/>
            <p:nvPr/>
          </p:nvSpPr>
          <p:spPr>
            <a:xfrm>
              <a:off x="9182100" y="3505200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762" y="0"/>
                  </a:lnTo>
                </a:path>
              </a:pathLst>
            </a:custGeom>
            <a:noFill/>
            <a:ln w="2381" cap="rnd">
              <a:solidFill>
                <a:srgbClr val="DCE7F4"/>
              </a:solidFill>
              <a:round/>
            </a:ln>
          </p:spPr>
        </p:sp>
        <p:sp>
          <p:nvSpPr>
            <p:cNvPr id="31" name="Freeform 31"/>
            <p:cNvSpPr/>
            <p:nvPr/>
          </p:nvSpPr>
          <p:spPr>
            <a:xfrm>
              <a:off x="9486900" y="3505200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762" y="0"/>
                  </a:lnTo>
                </a:path>
              </a:pathLst>
            </a:custGeom>
            <a:noFill/>
            <a:ln w="2381" cap="rnd">
              <a:solidFill>
                <a:srgbClr val="DCE7F4"/>
              </a:solidFill>
              <a:round/>
            </a:ln>
          </p:spPr>
        </p:sp>
        <p:sp>
          <p:nvSpPr>
            <p:cNvPr id="32" name="Freeform 32"/>
            <p:cNvSpPr/>
            <p:nvPr/>
          </p:nvSpPr>
          <p:spPr>
            <a:xfrm>
              <a:off x="9791700" y="3505200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762" y="0"/>
                  </a:lnTo>
                </a:path>
              </a:pathLst>
            </a:custGeom>
            <a:noFill/>
            <a:ln w="2381" cap="rnd">
              <a:solidFill>
                <a:srgbClr val="DCE7F4"/>
              </a:solidFill>
              <a:round/>
            </a:ln>
          </p:spPr>
        </p:sp>
        <p:sp>
          <p:nvSpPr>
            <p:cNvPr id="33" name="Freeform 33"/>
            <p:cNvSpPr/>
            <p:nvPr/>
          </p:nvSpPr>
          <p:spPr>
            <a:xfrm>
              <a:off x="9182100" y="3810000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762" y="0"/>
                  </a:lnTo>
                </a:path>
              </a:pathLst>
            </a:custGeom>
            <a:noFill/>
            <a:ln w="2381" cap="rnd">
              <a:solidFill>
                <a:srgbClr val="DCE7F4"/>
              </a:solidFill>
              <a:round/>
            </a:ln>
          </p:spPr>
        </p:sp>
        <p:sp>
          <p:nvSpPr>
            <p:cNvPr id="34" name="Freeform 34"/>
            <p:cNvSpPr/>
            <p:nvPr/>
          </p:nvSpPr>
          <p:spPr>
            <a:xfrm>
              <a:off x="9486900" y="3810000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762" y="0"/>
                  </a:lnTo>
                </a:path>
              </a:pathLst>
            </a:custGeom>
            <a:noFill/>
            <a:ln w="2381" cap="rnd">
              <a:solidFill>
                <a:srgbClr val="DCE7F4"/>
              </a:solidFill>
              <a:round/>
            </a:ln>
          </p:spPr>
        </p:sp>
        <p:sp>
          <p:nvSpPr>
            <p:cNvPr id="35" name="Freeform 35"/>
            <p:cNvSpPr/>
            <p:nvPr/>
          </p:nvSpPr>
          <p:spPr>
            <a:xfrm>
              <a:off x="9791700" y="3810000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762" y="0"/>
                  </a:lnTo>
                </a:path>
              </a:pathLst>
            </a:custGeom>
            <a:noFill/>
            <a:ln w="2381" cap="rnd">
              <a:solidFill>
                <a:srgbClr val="DCE7F4"/>
              </a:solidFill>
              <a:round/>
            </a:ln>
          </p:spPr>
        </p:sp>
      </p:grpSp>
      <p:sp>
        <p:nvSpPr>
          <p:cNvPr id="37" name="Rectangle 37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558165" y="6525578"/>
            <a:ext cx="11691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JungleTestLabs</a:t>
            </a:r>
            <a:endParaRPr lang="zh-CN" sz="1050" dirty="0">
              <a:solidFill>
                <a:srgbClr val="FFFFFF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558165" y="6525578"/>
            <a:ext cx="143751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· 2026-05-19 · v1.0</a:t>
            </a:r>
            <a:endParaRPr lang="zh-CN" sz="1050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7497318" y="6525578"/>
            <a:ext cx="413651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github.com/JungleTestLabs/opencalc-harmonyos-demo</a:t>
            </a:r>
            <a:endParaRPr lang="zh-CN" sz="1050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1020" y="598170"/>
            <a:ext cx="190119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本手册涵盖</a:t>
            </a:r>
            <a:endParaRPr lang="zh-CN" sz="2400" b="1" dirty="0">
              <a:solidFill>
                <a:srgbClr val="1F2937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4" name="Rectangle 4"/>
          <p:cNvSpPr/>
          <p:nvPr/>
        </p:nvSpPr>
        <p:spPr>
          <a:xfrm>
            <a:off x="571500" y="952500"/>
            <a:ext cx="7620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565C0"/>
              </a:gs>
              <a:gs pos="100000">
                <a:srgbClr val="0288D1"/>
              </a:gs>
            </a:gsLst>
            <a:lin ang="0" scaled="1"/>
          </a:gra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840402" y="743902"/>
            <a:ext cx="7934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目录与导读</a:t>
            </a:r>
            <a:endParaRPr lang="zh-CN" sz="1050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571500" y="1333500"/>
            <a:ext cx="3543300" cy="4762500"/>
          </a:xfrm>
          <a:prstGeom prst="roundRect">
            <a:avLst>
              <a:gd name="adj" fmla="val 3226"/>
            </a:avLst>
          </a:prstGeom>
          <a:solidFill>
            <a:srgbClr val="F7F9FC"/>
          </a:solidFill>
          <a:ln w="9525">
            <a:solidFill>
              <a:srgbClr val="E5E7EB"/>
            </a:solidFill>
          </a:ln>
        </p:spPr>
      </p:sp>
      <p:sp>
        <p:nvSpPr>
          <p:cNvPr id="7" name="Ellipse 7"/>
          <p:cNvSpPr/>
          <p:nvPr/>
        </p:nvSpPr>
        <p:spPr>
          <a:xfrm>
            <a:off x="742950" y="1562100"/>
            <a:ext cx="419100" cy="4191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24007" y="1679258"/>
            <a:ext cx="25698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01</a:t>
            </a:r>
            <a:endParaRPr lang="zh-CN" sz="1650" b="1" dirty="0">
              <a:solidFill>
                <a:srgbClr val="FFFFFF"/>
              </a:solidFill>
              <a:latin typeface="Segoe UI"/>
              <a:ea typeface="Microsoft YaHei"/>
              <a:cs typeface="Segoe UI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3204210" y="1661160"/>
            <a:ext cx="243840" cy="281940"/>
            <a:chOff x="3204210" y="1661160"/>
            <a:chExt cx="243840" cy="281940"/>
          </a:xfrm>
        </p:grpSpPr>
        <p:sp>
          <p:nvSpPr>
            <p:cNvPr id="9" name="Freeform 9"/>
            <p:cNvSpPr/>
            <p:nvPr/>
          </p:nvSpPr>
          <p:spPr>
            <a:xfrm>
              <a:off x="3204210" y="1661160"/>
              <a:ext cx="243840" cy="114300"/>
            </a:xfrm>
            <a:custGeom>
              <a:avLst/>
              <a:gdLst/>
              <a:ahLst/>
              <a:cxnLst/>
              <a:rect l="l" t="t" r="r" b="b"/>
              <a:pathLst>
                <a:path w="243840" h="114300">
                  <a:moveTo>
                    <a:pt x="182880" y="0"/>
                  </a:moveTo>
                  <a:lnTo>
                    <a:pt x="243840" y="38100"/>
                  </a:lnTo>
                  <a:lnTo>
                    <a:pt x="121920" y="114300"/>
                  </a:lnTo>
                  <a:lnTo>
                    <a:pt x="0" y="38100"/>
                  </a:lnTo>
                  <a:close/>
                </a:path>
              </a:pathLst>
            </a:custGeom>
            <a:noFill/>
            <a:ln w="11906" cap="rnd">
              <a:solidFill>
                <a:srgbClr val="1565C0"/>
              </a:solidFill>
              <a:round/>
            </a:ln>
          </p:spPr>
        </p:sp>
        <p:sp>
          <p:nvSpPr>
            <p:cNvPr id="10" name="Freeform 10"/>
            <p:cNvSpPr/>
            <p:nvPr/>
          </p:nvSpPr>
          <p:spPr>
            <a:xfrm>
              <a:off x="3204210" y="1790700"/>
              <a:ext cx="243840" cy="76200"/>
            </a:xfrm>
            <a:custGeom>
              <a:avLst/>
              <a:gdLst/>
              <a:ahLst/>
              <a:cxnLst/>
              <a:rect l="l" t="t" r="r" b="b"/>
              <a:pathLst>
                <a:path w="243840" h="76200">
                  <a:moveTo>
                    <a:pt x="0" y="0"/>
                  </a:moveTo>
                  <a:lnTo>
                    <a:pt x="121920" y="76200"/>
                  </a:lnTo>
                  <a:lnTo>
                    <a:pt x="243840" y="0"/>
                  </a:lnTo>
                </a:path>
              </a:pathLst>
            </a:custGeom>
            <a:noFill/>
            <a:ln w="11906" cap="rnd">
              <a:solidFill>
                <a:srgbClr val="1565C0"/>
              </a:solidFill>
              <a:round/>
            </a:ln>
          </p:spPr>
        </p:sp>
        <p:sp>
          <p:nvSpPr>
            <p:cNvPr id="11" name="Freeform 11"/>
            <p:cNvSpPr/>
            <p:nvPr/>
          </p:nvSpPr>
          <p:spPr>
            <a:xfrm>
              <a:off x="3204210" y="1866900"/>
              <a:ext cx="243840" cy="76200"/>
            </a:xfrm>
            <a:custGeom>
              <a:avLst/>
              <a:gdLst/>
              <a:ahLst/>
              <a:cxnLst/>
              <a:rect l="l" t="t" r="r" b="b"/>
              <a:pathLst>
                <a:path w="243840" h="76200">
                  <a:moveTo>
                    <a:pt x="0" y="0"/>
                  </a:moveTo>
                  <a:lnTo>
                    <a:pt x="121920" y="76200"/>
                  </a:lnTo>
                  <a:lnTo>
                    <a:pt x="243840" y="0"/>
                  </a:lnTo>
                </a:path>
              </a:pathLst>
            </a:custGeom>
            <a:noFill/>
            <a:ln w="11906" cap="rnd">
              <a:solidFill>
                <a:srgbClr val="1565C0"/>
              </a:solidFill>
              <a:round/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931545" y="2155508"/>
            <a:ext cx="130706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三需求一览</a:t>
            </a:r>
            <a:endParaRPr lang="zh-CN" sz="1650" b="1" dirty="0">
              <a:solidFill>
                <a:srgbClr val="1F2937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14" name="Line 14"/>
          <p:cNvSpPr/>
          <p:nvPr/>
        </p:nvSpPr>
        <p:spPr>
          <a:xfrm>
            <a:off x="952500" y="2495550"/>
            <a:ext cx="952500" cy="9525"/>
          </a:xfrm>
          <a:custGeom>
            <a:avLst/>
            <a:gdLst/>
            <a:ahLst/>
            <a:cxnLst/>
            <a:rect l="l" t="t" r="r" b="b"/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/>
          <a:ln w="19050">
            <a:solidFill>
              <a:srgbClr val="1565C0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935355" y="2692718"/>
            <a:ext cx="199068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S / S / M 三档复杂度</a:t>
            </a:r>
            <a:endParaRPr lang="zh-CN" sz="1350" b="1" dirty="0">
              <a:solidFill>
                <a:srgbClr val="1F2937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938212" y="3002756"/>
            <a:ext cx="11212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B5563"/>
                </a:solidFill>
                <a:latin typeface="Segoe UI"/>
                <a:ea typeface="Microsoft YaHei"/>
                <a:cs typeface="Segoe UI"/>
              </a:rPr>
              <a:t>百分号按钮(S)</a:t>
            </a:r>
            <a:endParaRPr lang="zh-CN" sz="1125" dirty="0">
              <a:solidFill>
                <a:srgbClr val="4B5563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938212" y="3250406"/>
            <a:ext cx="11212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B5563"/>
                </a:solidFill>
                <a:latin typeface="Segoe UI"/>
                <a:ea typeface="Microsoft YaHei"/>
                <a:cs typeface="Segoe UI"/>
              </a:rPr>
              <a:t>小费计算器(S)</a:t>
            </a:r>
            <a:endParaRPr lang="zh-CN" sz="1125" dirty="0">
              <a:solidFill>
                <a:srgbClr val="4B5563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938212" y="3498056"/>
            <a:ext cx="131837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B5563"/>
                </a:solidFill>
                <a:latin typeface="Segoe UI"/>
                <a:ea typeface="Microsoft YaHei"/>
                <a:cs typeface="Segoe UI"/>
              </a:rPr>
              <a:t>函数图像绘制(M)</a:t>
            </a:r>
            <a:endParaRPr lang="zh-CN" sz="1125" dirty="0">
              <a:solidFill>
                <a:srgbClr val="4B5563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19" name="Rectangle 19"/>
          <p:cNvSpPr/>
          <p:nvPr/>
        </p:nvSpPr>
        <p:spPr>
          <a:xfrm>
            <a:off x="952500" y="3886200"/>
            <a:ext cx="2667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940118" y="4066699"/>
            <a:ext cx="186882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每需求独立 HarmonyOS 应用</a:t>
            </a:r>
            <a:endParaRPr lang="zh-CN" sz="975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940118" y="4276249"/>
            <a:ext cx="177627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编译 / 安装 / 演示完全解耦</a:t>
            </a:r>
            <a:endParaRPr lang="zh-CN" sz="975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22" name="Rectangle 22"/>
          <p:cNvSpPr/>
          <p:nvPr/>
        </p:nvSpPr>
        <p:spPr>
          <a:xfrm>
            <a:off x="952500" y="5448300"/>
            <a:ext cx="11430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1230380" y="5543074"/>
            <a:ext cx="5872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565C0"/>
                </a:solidFill>
                <a:latin typeface="Segoe UI"/>
                <a:ea typeface="Microsoft YaHei"/>
                <a:cs typeface="Segoe UI"/>
              </a:rPr>
              <a:t>P03 详见</a:t>
            </a:r>
            <a:endParaRPr lang="zh-CN" sz="975" dirty="0">
              <a:solidFill>
                <a:srgbClr val="1565C0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24" name="Rectangle 24"/>
          <p:cNvSpPr/>
          <p:nvPr/>
        </p:nvSpPr>
        <p:spPr>
          <a:xfrm>
            <a:off x="4324350" y="1333500"/>
            <a:ext cx="3543300" cy="4762500"/>
          </a:xfrm>
          <a:prstGeom prst="roundRect">
            <a:avLst>
              <a:gd name="adj" fmla="val 3226"/>
            </a:avLst>
          </a:prstGeom>
          <a:solidFill>
            <a:srgbClr val="F7F9FC"/>
          </a:solidFill>
          <a:ln w="9525">
            <a:solidFill>
              <a:srgbClr val="E5E7EB"/>
            </a:solidFill>
          </a:ln>
        </p:spPr>
      </p:sp>
      <p:sp>
        <p:nvSpPr>
          <p:cNvPr id="25" name="Ellipse 25"/>
          <p:cNvSpPr/>
          <p:nvPr/>
        </p:nvSpPr>
        <p:spPr>
          <a:xfrm>
            <a:off x="4495800" y="1562100"/>
            <a:ext cx="419100" cy="419100"/>
          </a:xfrm>
          <a:prstGeom prst="ellipse">
            <a:avLst/>
          </a:prstGeom>
          <a:solidFill>
            <a:srgbClr val="0288D1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4545228" y="1679258"/>
            <a:ext cx="32024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02</a:t>
            </a:r>
            <a:endParaRPr lang="zh-CN" sz="1650" b="1" dirty="0">
              <a:solidFill>
                <a:srgbClr val="FFFFFF"/>
              </a:solidFill>
              <a:latin typeface="Segoe UI"/>
              <a:ea typeface="Microsoft YaHei"/>
              <a:cs typeface="Segoe UI"/>
            </a:endParaRPr>
          </a:p>
        </p:txBody>
      </p:sp>
      <p:grpSp>
        <p:nvGrpSpPr>
          <p:cNvPr id="33" name="Group 33"/>
          <p:cNvGrpSpPr/>
          <p:nvPr/>
        </p:nvGrpSpPr>
        <p:grpSpPr>
          <a:xfrm>
            <a:off x="6972300" y="1661160"/>
            <a:ext cx="228600" cy="243840"/>
            <a:chOff x="6972300" y="1661160"/>
            <a:chExt cx="228600" cy="243840"/>
          </a:xfrm>
        </p:grpSpPr>
        <p:sp>
          <p:nvSpPr>
            <p:cNvPr id="27" name="Freeform 27"/>
            <p:cNvSpPr/>
            <p:nvPr/>
          </p:nvSpPr>
          <p:spPr>
            <a:xfrm>
              <a:off x="6972300" y="1844040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60" h="60960">
                  <a:moveTo>
                    <a:pt x="30480" y="30480"/>
                  </a:moveTo>
                  <a:moveTo>
                    <a:pt x="0" y="30480"/>
                  </a:moveTo>
                  <a:cubicBezTo>
                    <a:pt x="0" y="47314"/>
                    <a:pt x="13646" y="60960"/>
                    <a:pt x="30480" y="60960"/>
                  </a:cubicBezTo>
                  <a:cubicBezTo>
                    <a:pt x="47314" y="60960"/>
                    <a:pt x="60960" y="47314"/>
                    <a:pt x="60960" y="30480"/>
                  </a:cubicBezTo>
                  <a:cubicBezTo>
                    <a:pt x="60960" y="13646"/>
                    <a:pt x="47314" y="0"/>
                    <a:pt x="30480" y="0"/>
                  </a:cubicBezTo>
                  <a:cubicBezTo>
                    <a:pt x="13646" y="0"/>
                    <a:pt x="0" y="13646"/>
                    <a:pt x="0" y="30480"/>
                  </a:cubicBezTo>
                </a:path>
              </a:pathLst>
            </a:custGeom>
            <a:noFill/>
            <a:ln w="11906" cap="rnd">
              <a:solidFill>
                <a:srgbClr val="0288D1"/>
              </a:solidFill>
              <a:round/>
            </a:ln>
          </p:spPr>
        </p:sp>
        <p:sp>
          <p:nvSpPr>
            <p:cNvPr id="28" name="Freeform 28"/>
            <p:cNvSpPr/>
            <p:nvPr/>
          </p:nvSpPr>
          <p:spPr>
            <a:xfrm>
              <a:off x="6972300" y="1661160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60" h="60960">
                  <a:moveTo>
                    <a:pt x="30480" y="30480"/>
                  </a:moveTo>
                  <a:moveTo>
                    <a:pt x="0" y="30480"/>
                  </a:moveTo>
                  <a:cubicBezTo>
                    <a:pt x="0" y="47314"/>
                    <a:pt x="13646" y="60960"/>
                    <a:pt x="30480" y="60960"/>
                  </a:cubicBezTo>
                  <a:cubicBezTo>
                    <a:pt x="47314" y="60960"/>
                    <a:pt x="60960" y="47314"/>
                    <a:pt x="60960" y="30480"/>
                  </a:cubicBezTo>
                  <a:cubicBezTo>
                    <a:pt x="60960" y="13646"/>
                    <a:pt x="47314" y="0"/>
                    <a:pt x="30480" y="0"/>
                  </a:cubicBezTo>
                  <a:cubicBezTo>
                    <a:pt x="13646" y="0"/>
                    <a:pt x="0" y="13646"/>
                    <a:pt x="0" y="30480"/>
                  </a:cubicBezTo>
                </a:path>
              </a:pathLst>
            </a:custGeom>
            <a:noFill/>
            <a:ln w="11906" cap="rnd">
              <a:solidFill>
                <a:srgbClr val="0288D1"/>
              </a:solidFill>
              <a:round/>
            </a:ln>
          </p:spPr>
        </p:sp>
        <p:sp>
          <p:nvSpPr>
            <p:cNvPr id="29" name="Freeform 29"/>
            <p:cNvSpPr/>
            <p:nvPr/>
          </p:nvSpPr>
          <p:spPr>
            <a:xfrm>
              <a:off x="7124700" y="1661160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60" h="60960">
                  <a:moveTo>
                    <a:pt x="30480" y="30480"/>
                  </a:moveTo>
                  <a:moveTo>
                    <a:pt x="0" y="30480"/>
                  </a:moveTo>
                  <a:cubicBezTo>
                    <a:pt x="0" y="47314"/>
                    <a:pt x="13646" y="60960"/>
                    <a:pt x="30480" y="60960"/>
                  </a:cubicBezTo>
                  <a:cubicBezTo>
                    <a:pt x="47314" y="60960"/>
                    <a:pt x="60960" y="47314"/>
                    <a:pt x="60960" y="30480"/>
                  </a:cubicBezTo>
                  <a:cubicBezTo>
                    <a:pt x="60960" y="13646"/>
                    <a:pt x="47314" y="0"/>
                    <a:pt x="30480" y="0"/>
                  </a:cubicBezTo>
                  <a:cubicBezTo>
                    <a:pt x="13646" y="0"/>
                    <a:pt x="0" y="13646"/>
                    <a:pt x="0" y="30480"/>
                  </a:cubicBezTo>
                </a:path>
              </a:pathLst>
            </a:custGeom>
            <a:noFill/>
            <a:ln w="11906" cap="rnd">
              <a:solidFill>
                <a:srgbClr val="0288D1"/>
              </a:solidFill>
              <a:round/>
            </a:ln>
          </p:spPr>
        </p:sp>
        <p:sp>
          <p:nvSpPr>
            <p:cNvPr id="30" name="Freeform 30"/>
            <p:cNvSpPr/>
            <p:nvPr/>
          </p:nvSpPr>
          <p:spPr>
            <a:xfrm>
              <a:off x="7002780" y="1722120"/>
              <a:ext cx="9525" cy="121920"/>
            </a:xfrm>
            <a:custGeom>
              <a:avLst/>
              <a:gdLst/>
              <a:ahLst/>
              <a:cxnLst/>
              <a:rect l="l" t="t" r="r" b="b"/>
              <a:pathLst>
                <a:path w="9525" h="121920">
                  <a:moveTo>
                    <a:pt x="0" y="0"/>
                  </a:moveTo>
                  <a:lnTo>
                    <a:pt x="0" y="121920"/>
                  </a:lnTo>
                </a:path>
              </a:pathLst>
            </a:custGeom>
            <a:noFill/>
            <a:ln w="11906" cap="rnd">
              <a:solidFill>
                <a:srgbClr val="0288D1"/>
              </a:solidFill>
              <a:round/>
            </a:ln>
          </p:spPr>
        </p:sp>
        <p:sp>
          <p:nvSpPr>
            <p:cNvPr id="31" name="Freeform 31"/>
            <p:cNvSpPr/>
            <p:nvPr/>
          </p:nvSpPr>
          <p:spPr>
            <a:xfrm>
              <a:off x="7033260" y="1767840"/>
              <a:ext cx="121920" cy="106680"/>
            </a:xfrm>
            <a:custGeom>
              <a:avLst/>
              <a:gdLst/>
              <a:ahLst/>
              <a:cxnLst/>
              <a:rect l="l" t="t" r="r" b="b"/>
              <a:pathLst>
                <a:path w="121920" h="106680">
                  <a:moveTo>
                    <a:pt x="0" y="106680"/>
                  </a:moveTo>
                  <a:lnTo>
                    <a:pt x="91440" y="106680"/>
                  </a:lnTo>
                  <a:cubicBezTo>
                    <a:pt x="108274" y="106680"/>
                    <a:pt x="121920" y="93034"/>
                    <a:pt x="121920" y="76200"/>
                  </a:cubicBezTo>
                  <a:lnTo>
                    <a:pt x="121920" y="0"/>
                  </a:lnTo>
                </a:path>
              </a:pathLst>
            </a:custGeom>
            <a:noFill/>
            <a:ln w="11906" cap="rnd">
              <a:solidFill>
                <a:srgbClr val="0288D1"/>
              </a:solidFill>
              <a:round/>
            </a:ln>
          </p:spPr>
        </p:sp>
        <p:sp>
          <p:nvSpPr>
            <p:cNvPr id="32" name="Freeform 32"/>
            <p:cNvSpPr/>
            <p:nvPr/>
          </p:nvSpPr>
          <p:spPr>
            <a:xfrm>
              <a:off x="7109460" y="1767840"/>
              <a:ext cx="91440" cy="45720"/>
            </a:xfrm>
            <a:custGeom>
              <a:avLst/>
              <a:gdLst/>
              <a:ahLst/>
              <a:cxnLst/>
              <a:rect l="l" t="t" r="r" b="b"/>
              <a:pathLst>
                <a:path w="91440" h="45720">
                  <a:moveTo>
                    <a:pt x="0" y="45720"/>
                  </a:moveTo>
                  <a:lnTo>
                    <a:pt x="45720" y="0"/>
                  </a:lnTo>
                  <a:lnTo>
                    <a:pt x="91440" y="45720"/>
                  </a:lnTo>
                </a:path>
              </a:pathLst>
            </a:custGeom>
            <a:noFill/>
            <a:ln w="11906" cap="rnd">
              <a:solidFill>
                <a:srgbClr val="0288D1"/>
              </a:solidFill>
              <a:round/>
            </a:ln>
          </p:spPr>
        </p:sp>
      </p:grpSp>
      <p:sp>
        <p:nvSpPr>
          <p:cNvPr id="34" name="TextBox 34"/>
          <p:cNvSpPr txBox="1"/>
          <p:nvPr/>
        </p:nvSpPr>
        <p:spPr>
          <a:xfrm>
            <a:off x="4684395" y="2155508"/>
            <a:ext cx="123115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AID 工作流</a:t>
            </a:r>
            <a:endParaRPr lang="zh-CN" sz="1650" b="1" dirty="0">
              <a:solidFill>
                <a:srgbClr val="1F2937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35" name="Line 35"/>
          <p:cNvSpPr/>
          <p:nvPr/>
        </p:nvSpPr>
        <p:spPr>
          <a:xfrm>
            <a:off x="4705350" y="2495550"/>
            <a:ext cx="952500" cy="9525"/>
          </a:xfrm>
          <a:custGeom>
            <a:avLst/>
            <a:gdLst/>
            <a:ahLst/>
            <a:cxnLst/>
            <a:rect l="l" t="t" r="r" b="b"/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/>
          <a:ln w="19050">
            <a:solidFill>
              <a:srgbClr val="0288D1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4688205" y="2692718"/>
            <a:ext cx="148347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标准化开发方法</a:t>
            </a:r>
            <a:endParaRPr lang="zh-CN" sz="1350" b="1" dirty="0">
              <a:solidFill>
                <a:srgbClr val="1F2937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4691062" y="3002756"/>
            <a:ext cx="248495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B5563"/>
                </a:solidFill>
                <a:latin typeface="Segoe UI"/>
                <a:ea typeface="Microsoft YaHei"/>
                <a:cs typeface="Segoe UI"/>
              </a:rPr>
              <a:t>1. PLANNING — 解析 / 澄清 / spec</a:t>
            </a:r>
            <a:endParaRPr lang="zh-CN" sz="1125" dirty="0">
              <a:solidFill>
                <a:srgbClr val="4B5563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4691062" y="3250406"/>
            <a:ext cx="217277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B5563"/>
                </a:solidFill>
                <a:latin typeface="Segoe UI"/>
                <a:ea typeface="Microsoft YaHei"/>
                <a:cs typeface="Segoe UI"/>
              </a:rPr>
              <a:t>2. IMPLEMENTING — 任务拆分</a:t>
            </a:r>
            <a:endParaRPr lang="zh-CN" sz="1125" dirty="0">
              <a:solidFill>
                <a:srgbClr val="4B5563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4691062" y="3498056"/>
            <a:ext cx="19756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B5563"/>
                </a:solidFill>
                <a:latin typeface="Segoe UI"/>
                <a:ea typeface="Microsoft YaHei"/>
                <a:cs typeface="Segoe UI"/>
              </a:rPr>
              <a:t>3. APPLYING — 代码 + 审查</a:t>
            </a:r>
            <a:endParaRPr lang="zh-CN" sz="1125" dirty="0">
              <a:solidFill>
                <a:srgbClr val="4B5563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4691062" y="3745706"/>
            <a:ext cx="178665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B5563"/>
                </a:solidFill>
                <a:latin typeface="Segoe UI"/>
                <a:ea typeface="Microsoft YaHei"/>
                <a:cs typeface="Segoe UI"/>
              </a:rPr>
              <a:t>4. 验证 — 模拟器 + 数学</a:t>
            </a:r>
            <a:endParaRPr lang="zh-CN" sz="1125" dirty="0">
              <a:solidFill>
                <a:srgbClr val="4B5563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41" name="Rectangle 41"/>
          <p:cNvSpPr/>
          <p:nvPr/>
        </p:nvSpPr>
        <p:spPr>
          <a:xfrm>
            <a:off x="4705350" y="4114800"/>
            <a:ext cx="2667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4692968" y="4295299"/>
            <a:ext cx="178339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/aid-workflow 命令一站式</a:t>
            </a:r>
            <a:endParaRPr lang="zh-CN" sz="975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43" name="Rectangle 43"/>
          <p:cNvSpPr/>
          <p:nvPr/>
        </p:nvSpPr>
        <p:spPr>
          <a:xfrm>
            <a:off x="4705350" y="5448300"/>
            <a:ext cx="11430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4983230" y="5543074"/>
            <a:ext cx="5872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288D1"/>
                </a:solidFill>
                <a:latin typeface="Segoe UI"/>
                <a:ea typeface="Microsoft YaHei"/>
                <a:cs typeface="Segoe UI"/>
              </a:rPr>
              <a:t>P04 详见</a:t>
            </a:r>
            <a:endParaRPr lang="zh-CN" sz="975" dirty="0">
              <a:solidFill>
                <a:srgbClr val="0288D1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45" name="Rectangle 45"/>
          <p:cNvSpPr/>
          <p:nvPr/>
        </p:nvSpPr>
        <p:spPr>
          <a:xfrm>
            <a:off x="8077200" y="1333500"/>
            <a:ext cx="3543300" cy="4762500"/>
          </a:xfrm>
          <a:prstGeom prst="roundRect">
            <a:avLst>
              <a:gd name="adj" fmla="val 3226"/>
            </a:avLst>
          </a:prstGeom>
          <a:solidFill>
            <a:srgbClr val="F7F9FC"/>
          </a:solidFill>
          <a:ln w="9525">
            <a:solidFill>
              <a:srgbClr val="E5E7EB"/>
            </a:solidFill>
          </a:ln>
        </p:spPr>
      </p:sp>
      <p:sp>
        <p:nvSpPr>
          <p:cNvPr id="46" name="Ellipse 46"/>
          <p:cNvSpPr/>
          <p:nvPr/>
        </p:nvSpPr>
        <p:spPr>
          <a:xfrm>
            <a:off x="8248650" y="1562100"/>
            <a:ext cx="419100" cy="419100"/>
          </a:xfrm>
          <a:prstGeom prst="ellipse">
            <a:avLst/>
          </a:prstGeom>
          <a:solidFill>
            <a:srgbClr val="26A69A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8298078" y="1679258"/>
            <a:ext cx="32024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03</a:t>
            </a:r>
            <a:endParaRPr lang="zh-CN" sz="1650" b="1" dirty="0">
              <a:solidFill>
                <a:srgbClr val="FFFFFF"/>
              </a:solidFill>
              <a:latin typeface="Segoe UI"/>
              <a:ea typeface="Microsoft YaHei"/>
              <a:cs typeface="Segoe UI"/>
            </a:endParaRPr>
          </a:p>
        </p:txBody>
      </p:sp>
      <p:grpSp>
        <p:nvGrpSpPr>
          <p:cNvPr id="53" name="Group 53"/>
          <p:cNvGrpSpPr/>
          <p:nvPr/>
        </p:nvGrpSpPr>
        <p:grpSpPr>
          <a:xfrm>
            <a:off x="10725150" y="1645920"/>
            <a:ext cx="213360" cy="274320"/>
            <a:chOff x="10725150" y="1645920"/>
            <a:chExt cx="213360" cy="274320"/>
          </a:xfrm>
        </p:grpSpPr>
        <p:sp>
          <p:nvSpPr>
            <p:cNvPr id="48" name="Freeform 48"/>
            <p:cNvSpPr/>
            <p:nvPr/>
          </p:nvSpPr>
          <p:spPr>
            <a:xfrm>
              <a:off x="10862310" y="164592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60960"/>
                  </a:lnTo>
                  <a:cubicBezTo>
                    <a:pt x="0" y="69377"/>
                    <a:pt x="6823" y="76200"/>
                    <a:pt x="15240" y="76200"/>
                  </a:cubicBezTo>
                  <a:lnTo>
                    <a:pt x="76200" y="76200"/>
                  </a:lnTo>
                </a:path>
              </a:pathLst>
            </a:custGeom>
            <a:noFill/>
            <a:ln w="11906" cap="rnd">
              <a:solidFill>
                <a:srgbClr val="26A69A"/>
              </a:solidFill>
              <a:round/>
            </a:ln>
          </p:spPr>
        </p:sp>
        <p:sp>
          <p:nvSpPr>
            <p:cNvPr id="49" name="Freeform 49"/>
            <p:cNvSpPr/>
            <p:nvPr/>
          </p:nvSpPr>
          <p:spPr>
            <a:xfrm>
              <a:off x="10725150" y="1645920"/>
              <a:ext cx="213360" cy="274320"/>
            </a:xfrm>
            <a:custGeom>
              <a:avLst/>
              <a:gdLst/>
              <a:ahLst/>
              <a:cxnLst/>
              <a:rect l="l" t="t" r="r" b="b"/>
              <a:pathLst>
                <a:path w="213360" h="274320">
                  <a:moveTo>
                    <a:pt x="182880" y="274320"/>
                  </a:moveTo>
                  <a:lnTo>
                    <a:pt x="30480" y="274320"/>
                  </a:lnTo>
                  <a:cubicBezTo>
                    <a:pt x="13646" y="274320"/>
                    <a:pt x="0" y="260674"/>
                    <a:pt x="0" y="243840"/>
                  </a:cubicBezTo>
                  <a:lnTo>
                    <a:pt x="0" y="30480"/>
                  </a:lnTo>
                  <a:cubicBezTo>
                    <a:pt x="0" y="13646"/>
                    <a:pt x="13646" y="0"/>
                    <a:pt x="30480" y="0"/>
                  </a:cubicBezTo>
                  <a:lnTo>
                    <a:pt x="137160" y="0"/>
                  </a:lnTo>
                  <a:lnTo>
                    <a:pt x="213360" y="76200"/>
                  </a:lnTo>
                  <a:lnTo>
                    <a:pt x="213360" y="243840"/>
                  </a:lnTo>
                  <a:cubicBezTo>
                    <a:pt x="213360" y="260674"/>
                    <a:pt x="199714" y="274320"/>
                    <a:pt x="182880" y="274320"/>
                  </a:cubicBezTo>
                  <a:close/>
                </a:path>
              </a:pathLst>
            </a:custGeom>
            <a:noFill/>
            <a:ln w="11906" cap="rnd">
              <a:solidFill>
                <a:srgbClr val="26A69A"/>
              </a:solidFill>
              <a:round/>
            </a:ln>
          </p:spPr>
        </p:sp>
        <p:sp>
          <p:nvSpPr>
            <p:cNvPr id="50" name="Freeform 50"/>
            <p:cNvSpPr/>
            <p:nvPr/>
          </p:nvSpPr>
          <p:spPr>
            <a:xfrm>
              <a:off x="10786110" y="1737360"/>
              <a:ext cx="15240" cy="9525"/>
            </a:xfrm>
            <a:custGeom>
              <a:avLst/>
              <a:gdLst/>
              <a:ahLst/>
              <a:cxnLst/>
              <a:rect l="l" t="t" r="r" b="b"/>
              <a:pathLst>
                <a:path w="15240" h="9525">
                  <a:moveTo>
                    <a:pt x="0" y="0"/>
                  </a:moveTo>
                  <a:lnTo>
                    <a:pt x="15240" y="0"/>
                  </a:lnTo>
                </a:path>
              </a:pathLst>
            </a:custGeom>
            <a:noFill/>
            <a:ln w="11906" cap="rnd">
              <a:solidFill>
                <a:srgbClr val="26A69A"/>
              </a:solidFill>
              <a:round/>
            </a:ln>
          </p:spPr>
        </p:sp>
        <p:sp>
          <p:nvSpPr>
            <p:cNvPr id="51" name="Freeform 51"/>
            <p:cNvSpPr/>
            <p:nvPr/>
          </p:nvSpPr>
          <p:spPr>
            <a:xfrm>
              <a:off x="10786110" y="1798320"/>
              <a:ext cx="91440" cy="9525"/>
            </a:xfrm>
            <a:custGeom>
              <a:avLst/>
              <a:gdLst/>
              <a:ahLst/>
              <a:cxnLst/>
              <a:rect l="l" t="t" r="r" b="b"/>
              <a:pathLst>
                <a:path w="91440" h="9525">
                  <a:moveTo>
                    <a:pt x="0" y="0"/>
                  </a:moveTo>
                  <a:lnTo>
                    <a:pt x="91440" y="0"/>
                  </a:lnTo>
                </a:path>
              </a:pathLst>
            </a:custGeom>
            <a:noFill/>
            <a:ln w="11906" cap="rnd">
              <a:solidFill>
                <a:srgbClr val="26A69A"/>
              </a:solidFill>
              <a:round/>
            </a:ln>
          </p:spPr>
        </p:sp>
        <p:sp>
          <p:nvSpPr>
            <p:cNvPr id="52" name="Freeform 52"/>
            <p:cNvSpPr/>
            <p:nvPr/>
          </p:nvSpPr>
          <p:spPr>
            <a:xfrm>
              <a:off x="10786110" y="1859280"/>
              <a:ext cx="91440" cy="9525"/>
            </a:xfrm>
            <a:custGeom>
              <a:avLst/>
              <a:gdLst/>
              <a:ahLst/>
              <a:cxnLst/>
              <a:rect l="l" t="t" r="r" b="b"/>
              <a:pathLst>
                <a:path w="91440" h="9525">
                  <a:moveTo>
                    <a:pt x="0" y="0"/>
                  </a:moveTo>
                  <a:lnTo>
                    <a:pt x="91440" y="0"/>
                  </a:lnTo>
                </a:path>
              </a:pathLst>
            </a:custGeom>
            <a:noFill/>
            <a:ln w="11906" cap="rnd">
              <a:solidFill>
                <a:srgbClr val="26A69A"/>
              </a:solidFill>
              <a:round/>
            </a:ln>
          </p:spPr>
        </p:sp>
      </p:grpSp>
      <p:sp>
        <p:nvSpPr>
          <p:cNvPr id="54" name="TextBox 54"/>
          <p:cNvSpPr txBox="1"/>
          <p:nvPr/>
        </p:nvSpPr>
        <p:spPr>
          <a:xfrm>
            <a:off x="8437245" y="2155508"/>
            <a:ext cx="197760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SPEC 制品 + 验证</a:t>
            </a:r>
            <a:endParaRPr lang="zh-CN" sz="1650" b="1" dirty="0">
              <a:solidFill>
                <a:srgbClr val="1F2937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55" name="Line 55"/>
          <p:cNvSpPr/>
          <p:nvPr/>
        </p:nvSpPr>
        <p:spPr>
          <a:xfrm>
            <a:off x="8458200" y="2495550"/>
            <a:ext cx="952500" cy="9525"/>
          </a:xfrm>
          <a:custGeom>
            <a:avLst/>
            <a:gdLst/>
            <a:ahLst/>
            <a:cxnLst/>
            <a:rect l="l" t="t" r="r" b="b"/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/>
          <a:ln w="19050">
            <a:solidFill>
              <a:srgbClr val="26A69A"/>
            </a:solidFill>
          </a:ln>
        </p:spPr>
      </p:sp>
      <p:sp>
        <p:nvSpPr>
          <p:cNvPr id="56" name="TextBox 56"/>
          <p:cNvSpPr txBox="1"/>
          <p:nvPr/>
        </p:nvSpPr>
        <p:spPr>
          <a:xfrm>
            <a:off x="8441055" y="2692718"/>
            <a:ext cx="151452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每需求 9 份产物</a:t>
            </a:r>
            <a:endParaRPr lang="zh-CN" sz="1350" b="1" dirty="0">
              <a:solidFill>
                <a:srgbClr val="1F2937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57" name="TextBox 57"/>
          <p:cNvSpPr txBox="1"/>
          <p:nvPr/>
        </p:nvSpPr>
        <p:spPr>
          <a:xfrm>
            <a:off x="8443912" y="3002756"/>
            <a:ext cx="227135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B5563"/>
                </a:solidFill>
                <a:latin typeface="Segoe UI"/>
                <a:ea typeface="Microsoft YaHei"/>
                <a:cs typeface="Segoe UI"/>
              </a:rPr>
              <a:t>proposal / info / delta-spec</a:t>
            </a:r>
            <a:endParaRPr lang="zh-CN" sz="1125" dirty="0">
              <a:solidFill>
                <a:srgbClr val="4B5563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58" name="TextBox 58"/>
          <p:cNvSpPr txBox="1"/>
          <p:nvPr/>
        </p:nvSpPr>
        <p:spPr>
          <a:xfrm>
            <a:off x="8443912" y="3250406"/>
            <a:ext cx="234529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B5563"/>
                </a:solidFill>
                <a:latin typeface="Segoe UI"/>
                <a:ea typeface="Microsoft YaHei"/>
                <a:cs typeface="Segoe UI"/>
              </a:rPr>
              <a:t>delta-design / design-review</a:t>
            </a:r>
            <a:endParaRPr lang="zh-CN" sz="1125" dirty="0">
              <a:solidFill>
                <a:srgbClr val="4B5563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59" name="TextBox 59"/>
          <p:cNvSpPr txBox="1"/>
          <p:nvPr/>
        </p:nvSpPr>
        <p:spPr>
          <a:xfrm>
            <a:off x="8443912" y="3498056"/>
            <a:ext cx="226314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B5563"/>
                </a:solidFill>
                <a:latin typeface="Segoe UI"/>
                <a:ea typeface="Microsoft YaHei"/>
                <a:cs typeface="Segoe UI"/>
              </a:rPr>
              <a:t>tasks / todo / apply-report</a:t>
            </a:r>
            <a:endParaRPr lang="zh-CN" sz="1125" dirty="0">
              <a:solidFill>
                <a:srgbClr val="4B5563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60" name="TextBox 60"/>
          <p:cNvSpPr txBox="1"/>
          <p:nvPr/>
        </p:nvSpPr>
        <p:spPr>
          <a:xfrm>
            <a:off x="8443912" y="3745706"/>
            <a:ext cx="162234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B5563"/>
                </a:solidFill>
                <a:latin typeface="Segoe UI"/>
                <a:ea typeface="Microsoft YaHei"/>
                <a:cs typeface="Segoe UI"/>
              </a:rPr>
              <a:t>verification-report</a:t>
            </a:r>
            <a:endParaRPr lang="zh-CN" sz="1125" dirty="0">
              <a:solidFill>
                <a:srgbClr val="4B5563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61" name="Rectangle 61"/>
          <p:cNvSpPr/>
          <p:nvPr/>
        </p:nvSpPr>
        <p:spPr>
          <a:xfrm>
            <a:off x="8458200" y="4114800"/>
            <a:ext cx="2667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62" name="TextBox 62"/>
          <p:cNvSpPr txBox="1"/>
          <p:nvPr/>
        </p:nvSpPr>
        <p:spPr>
          <a:xfrm>
            <a:off x="8445818" y="4295299"/>
            <a:ext cx="154843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含模拟器实测 28 张截图</a:t>
            </a:r>
            <a:endParaRPr lang="zh-CN" sz="975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63" name="Rectangle 63"/>
          <p:cNvSpPr/>
          <p:nvPr/>
        </p:nvSpPr>
        <p:spPr>
          <a:xfrm>
            <a:off x="8458200" y="5448300"/>
            <a:ext cx="15240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64" name="TextBox 64"/>
          <p:cNvSpPr txBox="1"/>
          <p:nvPr/>
        </p:nvSpPr>
        <p:spPr>
          <a:xfrm>
            <a:off x="8801981" y="5543074"/>
            <a:ext cx="83643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26A69A"/>
                </a:solidFill>
                <a:latin typeface="Segoe UI"/>
                <a:ea typeface="Microsoft YaHei"/>
                <a:cs typeface="Segoe UI"/>
              </a:rPr>
              <a:t>P15 制品位置</a:t>
            </a:r>
            <a:endParaRPr lang="zh-CN" sz="975" dirty="0">
              <a:solidFill>
                <a:srgbClr val="26A69A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65" name="Line 65"/>
          <p:cNvSpPr/>
          <p:nvPr/>
        </p:nvSpPr>
        <p:spPr>
          <a:xfrm>
            <a:off x="571500" y="64770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66" name="TextBox 66"/>
          <p:cNvSpPr txBox="1"/>
          <p:nvPr/>
        </p:nvSpPr>
        <p:spPr>
          <a:xfrm>
            <a:off x="561975" y="6586538"/>
            <a:ext cx="219336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OpenCalc HarmonyOS Demo · 客户实验手册</a:t>
            </a:r>
            <a:endParaRPr lang="zh-CN" sz="750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67" name="TextBox 67"/>
          <p:cNvSpPr txBox="1"/>
          <p:nvPr/>
        </p:nvSpPr>
        <p:spPr>
          <a:xfrm>
            <a:off x="11271409" y="6586538"/>
            <a:ext cx="35861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02 / 16</a:t>
            </a:r>
            <a:endParaRPr lang="zh-CN" sz="750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1020" y="598170"/>
            <a:ext cx="226923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三个需求一览</a:t>
            </a:r>
            <a:endParaRPr lang="zh-CN" sz="2400" b="1" dirty="0">
              <a:solidFill>
                <a:srgbClr val="1F2937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4" name="Rectangle 4"/>
          <p:cNvSpPr/>
          <p:nvPr/>
        </p:nvSpPr>
        <p:spPr>
          <a:xfrm>
            <a:off x="571500" y="952500"/>
            <a:ext cx="7620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565C0"/>
              </a:gs>
              <a:gs pos="100000">
                <a:srgbClr val="0288D1"/>
              </a:gs>
            </a:gsLst>
            <a:lin ang="0" scaled="1"/>
          </a:gra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687050" y="743902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需求横向对比</a:t>
            </a:r>
            <a:endParaRPr lang="zh-CN" sz="1050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56260" y="1156335"/>
            <a:ext cx="610323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B5563"/>
                </a:solidFill>
                <a:latin typeface="Segoe UI"/>
                <a:ea typeface="Microsoft YaHei"/>
                <a:cs typeface="Segoe UI"/>
              </a:rPr>
              <a:t>三个需求层层递进 · 同一基线版本 · 同一 AID 方法 · 同一 Pura 80 模拟器验证</a:t>
            </a:r>
            <a:endParaRPr lang="zh-CN" sz="1200" dirty="0">
              <a:solidFill>
                <a:srgbClr val="4B5563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7" name="Rectangle 7"/>
          <p:cNvSpPr/>
          <p:nvPr/>
        </p:nvSpPr>
        <p:spPr>
          <a:xfrm>
            <a:off x="571500" y="1524000"/>
            <a:ext cx="11049000" cy="419100"/>
          </a:xfrm>
          <a:prstGeom prst="roundRect">
            <a:avLst>
              <a:gd name="adj" fmla="val 13636"/>
            </a:avLst>
          </a:prstGeom>
          <a:solidFill>
            <a:srgbClr val="1565C0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61060" y="1651635"/>
            <a:ext cx="13169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#</a:t>
            </a:r>
            <a:endParaRPr lang="zh-CN" sz="1200" b="1" dirty="0">
              <a:solidFill>
                <a:srgbClr val="FFFFFF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413510" y="1651635"/>
            <a:ext cx="39852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需求</a:t>
            </a:r>
            <a:endParaRPr lang="zh-CN" sz="1200" b="1" dirty="0">
              <a:solidFill>
                <a:srgbClr val="FFFFFF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3137725" y="1651635"/>
            <a:ext cx="5825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复杂度</a:t>
            </a:r>
            <a:endParaRPr lang="zh-CN" sz="1200" b="1" dirty="0">
              <a:solidFill>
                <a:srgbClr val="FFFFFF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4461510" y="1651635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主要改动</a:t>
            </a:r>
            <a:endParaRPr lang="zh-CN" sz="1200" b="1" dirty="0">
              <a:solidFill>
                <a:srgbClr val="FFFFFF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373237" y="1651635"/>
            <a:ext cx="39852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编译</a:t>
            </a:r>
            <a:endParaRPr lang="zh-CN" sz="1200" b="1" dirty="0">
              <a:solidFill>
                <a:srgbClr val="FFFFFF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9325737" y="1651635"/>
            <a:ext cx="39852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验证</a:t>
            </a:r>
            <a:endParaRPr lang="zh-CN" sz="1200" b="1" dirty="0">
              <a:solidFill>
                <a:srgbClr val="FFFFFF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379964" y="1651635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详细手册</a:t>
            </a:r>
            <a:endParaRPr lang="zh-CN" sz="1200" b="1" dirty="0">
              <a:solidFill>
                <a:srgbClr val="FFFFFF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15" name="Rectangle 15"/>
          <p:cNvSpPr/>
          <p:nvPr/>
        </p:nvSpPr>
        <p:spPr>
          <a:xfrm>
            <a:off x="571500" y="2000250"/>
            <a:ext cx="11049000" cy="1333500"/>
          </a:xfrm>
          <a:prstGeom prst="roundRect">
            <a:avLst>
              <a:gd name="adj" fmla="val 4286"/>
            </a:avLst>
          </a:prstGeom>
          <a:solidFill>
            <a:srgbClr val="F7F9FC"/>
          </a:solidFill>
          <a:ln w="9525">
            <a:solidFill>
              <a:srgbClr val="E5E7EB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857250" y="2143125"/>
            <a:ext cx="10710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565C0"/>
                </a:solidFill>
                <a:latin typeface="Segoe UI"/>
                <a:ea typeface="Microsoft YaHei"/>
                <a:cs typeface="Segoe UI"/>
              </a:rPr>
              <a:t>1</a:t>
            </a:r>
            <a:endParaRPr lang="zh-CN" sz="1500" b="1" dirty="0">
              <a:solidFill>
                <a:srgbClr val="1565C0"/>
              </a:solidFill>
              <a:latin typeface="Segoe UI"/>
              <a:ea typeface="Microsoft YaHei"/>
              <a:cs typeface="Segoe UI"/>
            </a:endParaRPr>
          </a:p>
        </p:txBody>
      </p:sp>
      <p:grpSp>
        <p:nvGrpSpPr>
          <p:cNvPr id="20" name="Group 20"/>
          <p:cNvGrpSpPr/>
          <p:nvPr/>
        </p:nvGrpSpPr>
        <p:grpSpPr>
          <a:xfrm>
            <a:off x="1390650" y="2190750"/>
            <a:ext cx="114300" cy="152400"/>
            <a:chOff x="1390650" y="2190750"/>
            <a:chExt cx="114300" cy="152400"/>
          </a:xfrm>
        </p:grpSpPr>
        <p:sp>
          <p:nvSpPr>
            <p:cNvPr id="17" name="Freeform 17"/>
            <p:cNvSpPr/>
            <p:nvPr/>
          </p:nvSpPr>
          <p:spPr>
            <a:xfrm>
              <a:off x="1390650" y="219075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114300"/>
                  </a:moveTo>
                  <a:lnTo>
                    <a:pt x="114300" y="0"/>
                  </a:lnTo>
                </a:path>
              </a:pathLst>
            </a:custGeom>
            <a:noFill/>
            <a:ln w="19050" cap="rnd">
              <a:solidFill>
                <a:srgbClr val="1565C0"/>
              </a:solidFill>
              <a:round/>
            </a:ln>
          </p:spPr>
        </p:sp>
        <p:sp>
          <p:nvSpPr>
            <p:cNvPr id="18" name="Freeform 18"/>
            <p:cNvSpPr/>
            <p:nvPr/>
          </p:nvSpPr>
          <p:spPr>
            <a:xfrm>
              <a:off x="1390650" y="2190750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>
                  <a:moveTo>
                    <a:pt x="0" y="0"/>
                  </a:moveTo>
                  <a:moveTo>
                    <a:pt x="0" y="19050"/>
                  </a:moveTo>
                  <a:cubicBezTo>
                    <a:pt x="0" y="29571"/>
                    <a:pt x="8529" y="38100"/>
                    <a:pt x="19050" y="38100"/>
                  </a:cubicBezTo>
                  <a:cubicBezTo>
                    <a:pt x="29571" y="38100"/>
                    <a:pt x="38100" y="29571"/>
                    <a:pt x="38100" y="19050"/>
                  </a:cubicBezTo>
                  <a:cubicBezTo>
                    <a:pt x="38100" y="8529"/>
                    <a:pt x="29571" y="0"/>
                    <a:pt x="19050" y="0"/>
                  </a:cubicBezTo>
                  <a:cubicBezTo>
                    <a:pt x="8529" y="0"/>
                    <a:pt x="0" y="8529"/>
                    <a:pt x="0" y="19050"/>
                  </a:cubicBezTo>
                </a:path>
              </a:pathLst>
            </a:custGeom>
            <a:noFill/>
            <a:ln w="19050" cap="rnd">
              <a:solidFill>
                <a:srgbClr val="1565C0"/>
              </a:solidFill>
              <a:round/>
            </a:ln>
          </p:spPr>
        </p:sp>
        <p:sp>
          <p:nvSpPr>
            <p:cNvPr id="19" name="Freeform 19"/>
            <p:cNvSpPr/>
            <p:nvPr/>
          </p:nvSpPr>
          <p:spPr>
            <a:xfrm>
              <a:off x="1466850" y="2305050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>
                  <a:moveTo>
                    <a:pt x="0" y="0"/>
                  </a:moveTo>
                  <a:moveTo>
                    <a:pt x="0" y="19050"/>
                  </a:moveTo>
                  <a:cubicBezTo>
                    <a:pt x="0" y="29571"/>
                    <a:pt x="8529" y="38100"/>
                    <a:pt x="19050" y="38100"/>
                  </a:cubicBezTo>
                  <a:cubicBezTo>
                    <a:pt x="29571" y="38100"/>
                    <a:pt x="38100" y="29571"/>
                    <a:pt x="38100" y="19050"/>
                  </a:cubicBezTo>
                  <a:cubicBezTo>
                    <a:pt x="38100" y="8529"/>
                    <a:pt x="29571" y="0"/>
                    <a:pt x="19050" y="0"/>
                  </a:cubicBezTo>
                  <a:cubicBezTo>
                    <a:pt x="8529" y="0"/>
                    <a:pt x="0" y="8529"/>
                    <a:pt x="0" y="19050"/>
                  </a:cubicBezTo>
                </a:path>
              </a:pathLst>
            </a:custGeom>
            <a:noFill/>
            <a:ln w="19050" cap="rnd">
              <a:solidFill>
                <a:srgbClr val="1565C0"/>
              </a:solidFill>
              <a:round/>
            </a:ln>
          </p:spPr>
        </p:sp>
      </p:grpSp>
      <p:sp>
        <p:nvSpPr>
          <p:cNvPr id="21" name="TextBox 21"/>
          <p:cNvSpPr txBox="1"/>
          <p:nvPr/>
        </p:nvSpPr>
        <p:spPr>
          <a:xfrm>
            <a:off x="1697355" y="2197418"/>
            <a:ext cx="106941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百分号按钮</a:t>
            </a:r>
            <a:endParaRPr lang="zh-CN" sz="1350" b="1" dirty="0">
              <a:solidFill>
                <a:srgbClr val="1F2937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702118" y="2466499"/>
            <a:ext cx="129923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首行 5 列 AC ( ) % ÷</a:t>
            </a:r>
            <a:endParaRPr lang="zh-CN" sz="975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23" name="Rectangle 23"/>
          <p:cNvSpPr/>
          <p:nvPr/>
        </p:nvSpPr>
        <p:spPr>
          <a:xfrm>
            <a:off x="3143250" y="2400300"/>
            <a:ext cx="571500" cy="304800"/>
          </a:xfrm>
          <a:prstGeom prst="roundRect">
            <a:avLst>
              <a:gd name="adj" fmla="val 50000"/>
            </a:avLst>
          </a:prstGeom>
          <a:solidFill>
            <a:srgbClr val="26A69A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3354923" y="2464118"/>
            <a:ext cx="14815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S</a:t>
            </a:r>
            <a:endParaRPr lang="zh-CN" sz="1350" b="1" dirty="0">
              <a:solidFill>
                <a:srgbClr val="FFFFFF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4462462" y="2221706"/>
            <a:ext cx="203311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CalculatorPage.ets +6/-1</a:t>
            </a:r>
            <a:endParaRPr lang="zh-CN" sz="1125" dirty="0">
              <a:solidFill>
                <a:srgbClr val="1F2937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4464368" y="2466499"/>
            <a:ext cx="199698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B5563"/>
                </a:solidFill>
                <a:latin typeface="Segoe UI"/>
                <a:ea typeface="Microsoft YaHei"/>
                <a:cs typeface="Segoe UI"/>
              </a:rPr>
              <a:t>新增 BtnOp5/BtnAct5 Builder</a:t>
            </a:r>
            <a:endParaRPr lang="zh-CN" sz="975" dirty="0">
              <a:solidFill>
                <a:srgbClr val="4B5563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4464368" y="2695099"/>
            <a:ext cx="272322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B5563"/>
                </a:solidFill>
                <a:latin typeface="Segoe UI"/>
                <a:ea typeface="Microsoft YaHei"/>
                <a:cs typeface="Segoe UI"/>
              </a:rPr>
              <a:t>算法层零改动(getPercentString 已存在)</a:t>
            </a:r>
            <a:endParaRPr lang="zh-CN" sz="975" dirty="0">
              <a:solidFill>
                <a:srgbClr val="4B5563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4464368" y="2923699"/>
            <a:ext cx="387665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变更:specs/changes/20260518-...-percentage-button/</a:t>
            </a:r>
            <a:endParaRPr lang="zh-CN" sz="975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29" name="Rectangle 29"/>
          <p:cNvSpPr/>
          <p:nvPr/>
        </p:nvSpPr>
        <p:spPr>
          <a:xfrm>
            <a:off x="8172450" y="2400300"/>
            <a:ext cx="800100" cy="3048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4288">
            <a:solidFill>
              <a:srgbClr val="10B981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8378017" y="2496502"/>
            <a:ext cx="38896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IDE</a:t>
            </a:r>
            <a:endParaRPr lang="zh-CN" sz="1050" b="1" dirty="0">
              <a:solidFill>
                <a:srgbClr val="10B981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9330517" y="2420302"/>
            <a:ext cx="38896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5 / 5</a:t>
            </a:r>
            <a:endParaRPr lang="zh-CN" sz="1050" b="1" dirty="0">
              <a:solidFill>
                <a:srgbClr val="10B981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9153049" y="2635091"/>
            <a:ext cx="7439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用例 · 5 截图</a:t>
            </a:r>
            <a:endParaRPr lang="zh-CN" sz="825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0204537" y="2482691"/>
            <a:ext cx="111742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0288D1"/>
                </a:solidFill>
                <a:latin typeface="Consolas"/>
                <a:ea typeface="Microsoft YaHei"/>
                <a:cs typeface="Consolas"/>
              </a:rPr>
              <a:t>1-percent-button/</a:t>
            </a:r>
            <a:endParaRPr lang="zh-CN" sz="825" dirty="0">
              <a:solidFill>
                <a:srgbClr val="0288D1"/>
              </a:solidFill>
              <a:latin typeface="Consolas"/>
              <a:ea typeface="Microsoft YaHei"/>
              <a:cs typeface="Consolas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0300930" y="2654141"/>
            <a:ext cx="92463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0288D1"/>
                </a:solidFill>
                <a:latin typeface="Consolas"/>
                <a:ea typeface="Microsoft YaHei"/>
                <a:cs typeface="Consolas"/>
              </a:rPr>
              <a:t>DEMO_GUIDE.md</a:t>
            </a:r>
            <a:endParaRPr lang="zh-CN" sz="825" dirty="0">
              <a:solidFill>
                <a:srgbClr val="0288D1"/>
              </a:solidFill>
              <a:latin typeface="Consolas"/>
              <a:ea typeface="Microsoft YaHei"/>
              <a:cs typeface="Consolas"/>
            </a:endParaRPr>
          </a:p>
        </p:txBody>
      </p:sp>
      <p:sp>
        <p:nvSpPr>
          <p:cNvPr id="35" name="Rectangle 35"/>
          <p:cNvSpPr/>
          <p:nvPr/>
        </p:nvSpPr>
        <p:spPr>
          <a:xfrm>
            <a:off x="571500" y="3429000"/>
            <a:ext cx="11049000" cy="1333500"/>
          </a:xfrm>
          <a:prstGeom prst="roundRect">
            <a:avLst>
              <a:gd name="adj" fmla="val 4286"/>
            </a:avLst>
          </a:prstGeom>
          <a:solidFill>
            <a:srgbClr val="F7F9FC"/>
          </a:solidFill>
          <a:ln w="9525">
            <a:solidFill>
              <a:srgbClr val="E5E7EB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857250" y="3571875"/>
            <a:ext cx="16461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288D1"/>
                </a:solidFill>
                <a:latin typeface="Segoe UI"/>
                <a:ea typeface="Microsoft YaHei"/>
                <a:cs typeface="Segoe UI"/>
              </a:rPr>
              <a:t>2</a:t>
            </a:r>
            <a:endParaRPr lang="zh-CN" sz="1500" b="1" dirty="0">
              <a:solidFill>
                <a:srgbClr val="0288D1"/>
              </a:solidFill>
              <a:latin typeface="Segoe UI"/>
              <a:ea typeface="Microsoft YaHei"/>
              <a:cs typeface="Segoe UI"/>
            </a:endParaRPr>
          </a:p>
        </p:txBody>
      </p:sp>
      <p:grpSp>
        <p:nvGrpSpPr>
          <p:cNvPr id="40" name="Group 40"/>
          <p:cNvGrpSpPr/>
          <p:nvPr/>
        </p:nvGrpSpPr>
        <p:grpSpPr>
          <a:xfrm>
            <a:off x="1381125" y="3590925"/>
            <a:ext cx="133350" cy="171450"/>
            <a:chOff x="1381125" y="3590925"/>
            <a:chExt cx="133350" cy="171450"/>
          </a:xfrm>
        </p:grpSpPr>
        <p:sp>
          <p:nvSpPr>
            <p:cNvPr id="37" name="Freeform 37"/>
            <p:cNvSpPr/>
            <p:nvPr/>
          </p:nvSpPr>
          <p:spPr>
            <a:xfrm>
              <a:off x="1381125" y="3590925"/>
              <a:ext cx="133350" cy="171450"/>
            </a:xfrm>
            <a:custGeom>
              <a:avLst/>
              <a:gdLst/>
              <a:ahLst/>
              <a:cxnLst/>
              <a:rect l="l" t="t" r="r" b="b"/>
              <a:pathLst>
                <a:path w="133350" h="171450">
                  <a:moveTo>
                    <a:pt x="0" y="171450"/>
                  </a:move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lnTo>
                    <a:pt x="114300" y="0"/>
                  </a:lnTo>
                  <a:cubicBezTo>
                    <a:pt x="124821" y="0"/>
                    <a:pt x="133350" y="8529"/>
                    <a:pt x="133350" y="19050"/>
                  </a:cubicBezTo>
                  <a:lnTo>
                    <a:pt x="133350" y="171450"/>
                  </a:lnTo>
                  <a:lnTo>
                    <a:pt x="104775" y="152400"/>
                  </a:lnTo>
                  <a:lnTo>
                    <a:pt x="85725" y="171450"/>
                  </a:lnTo>
                  <a:lnTo>
                    <a:pt x="66675" y="152400"/>
                  </a:lnTo>
                  <a:lnTo>
                    <a:pt x="47625" y="171450"/>
                  </a:lnTo>
                  <a:lnTo>
                    <a:pt x="28575" y="152400"/>
                  </a:lnTo>
                  <a:lnTo>
                    <a:pt x="0" y="171450"/>
                  </a:lnTo>
                </a:path>
              </a:pathLst>
            </a:custGeom>
            <a:noFill/>
            <a:ln w="19050" cap="rnd">
              <a:solidFill>
                <a:srgbClr val="0288D1"/>
              </a:solidFill>
              <a:round/>
            </a:ln>
          </p:spPr>
        </p:sp>
        <p:sp>
          <p:nvSpPr>
            <p:cNvPr id="38" name="Freeform 38"/>
            <p:cNvSpPr/>
            <p:nvPr/>
          </p:nvSpPr>
          <p:spPr>
            <a:xfrm>
              <a:off x="1419225" y="3629025"/>
              <a:ext cx="57150" cy="9525"/>
            </a:xfrm>
            <a:custGeom>
              <a:avLst/>
              <a:gdLst/>
              <a:ahLst/>
              <a:cxnLst/>
              <a:rect l="l" t="t" r="r" b="b"/>
              <a:pathLst>
                <a:path w="57150" h="9525">
                  <a:moveTo>
                    <a:pt x="0" y="0"/>
                  </a:moveTo>
                  <a:lnTo>
                    <a:pt x="57150" y="0"/>
                  </a:lnTo>
                </a:path>
              </a:pathLst>
            </a:custGeom>
            <a:noFill/>
            <a:ln w="19050" cap="rnd">
              <a:solidFill>
                <a:srgbClr val="0288D1"/>
              </a:solidFill>
              <a:round/>
            </a:ln>
          </p:spPr>
        </p:sp>
        <p:sp>
          <p:nvSpPr>
            <p:cNvPr id="39" name="Freeform 39"/>
            <p:cNvSpPr/>
            <p:nvPr/>
          </p:nvSpPr>
          <p:spPr>
            <a:xfrm>
              <a:off x="1419225" y="3667125"/>
              <a:ext cx="57150" cy="9525"/>
            </a:xfrm>
            <a:custGeom>
              <a:avLst/>
              <a:gdLst/>
              <a:ahLst/>
              <a:cxnLst/>
              <a:rect l="l" t="t" r="r" b="b"/>
              <a:pathLst>
                <a:path w="57150" h="9525">
                  <a:moveTo>
                    <a:pt x="0" y="0"/>
                  </a:moveTo>
                  <a:lnTo>
                    <a:pt x="57150" y="0"/>
                  </a:lnTo>
                </a:path>
              </a:pathLst>
            </a:custGeom>
            <a:noFill/>
            <a:ln w="19050" cap="rnd">
              <a:solidFill>
                <a:srgbClr val="0288D1"/>
              </a:solidFill>
              <a:round/>
            </a:ln>
          </p:spPr>
        </p:sp>
      </p:grpSp>
      <p:sp>
        <p:nvSpPr>
          <p:cNvPr id="41" name="TextBox 41"/>
          <p:cNvSpPr txBox="1"/>
          <p:nvPr/>
        </p:nvSpPr>
        <p:spPr>
          <a:xfrm>
            <a:off x="1697355" y="3626168"/>
            <a:ext cx="106941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小费计算器</a:t>
            </a:r>
            <a:endParaRPr lang="zh-CN" sz="1350" b="1" dirty="0">
              <a:solidFill>
                <a:srgbClr val="1F2937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1702118" y="3895249"/>
            <a:ext cx="175491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首个独立页面 · 主页零侵入</a:t>
            </a:r>
            <a:endParaRPr lang="zh-CN" sz="975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43" name="Rectangle 43"/>
          <p:cNvSpPr/>
          <p:nvPr/>
        </p:nvSpPr>
        <p:spPr>
          <a:xfrm>
            <a:off x="3143250" y="3829050"/>
            <a:ext cx="571500" cy="304800"/>
          </a:xfrm>
          <a:prstGeom prst="roundRect">
            <a:avLst>
              <a:gd name="adj" fmla="val 50000"/>
            </a:avLst>
          </a:prstGeom>
          <a:solidFill>
            <a:srgbClr val="26A69A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3354923" y="3892868"/>
            <a:ext cx="14815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S</a:t>
            </a:r>
            <a:endParaRPr lang="zh-CN" sz="1350" b="1" dirty="0">
              <a:solidFill>
                <a:srgbClr val="FFFFFF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4462462" y="3650456"/>
            <a:ext cx="377475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TipCalculator.ets +32 · TipCalculatorPage +208</a:t>
            </a:r>
            <a:endParaRPr lang="zh-CN" sz="1125" dirty="0">
              <a:solidFill>
                <a:srgbClr val="1F2937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4464368" y="3895249"/>
            <a:ext cx="36559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B5563"/>
                </a:solidFill>
                <a:latin typeface="Segoe UI"/>
                <a:ea typeface="Microsoft YaHei"/>
                <a:cs typeface="Segoe UI"/>
              </a:rPr>
              <a:t>CalculatorPage +13 (router.pushUrl) · main_pages +1</a:t>
            </a:r>
            <a:endParaRPr lang="zh-CN" sz="975" dirty="0">
              <a:solidFill>
                <a:srgbClr val="4B5563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4464368" y="4123849"/>
            <a:ext cx="23885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B5563"/>
                </a:solidFill>
                <a:latin typeface="Segoe UI"/>
                <a:ea typeface="Microsoft YaHei"/>
                <a:cs typeface="Segoe UI"/>
              </a:rPr>
              <a:t>含 P-01 缺陷复盘(getter → method)</a:t>
            </a:r>
            <a:endParaRPr lang="zh-CN" sz="975" dirty="0">
              <a:solidFill>
                <a:srgbClr val="4B5563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4464368" y="4352449"/>
            <a:ext cx="353489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变更:specs/changes/20260519-...-tip-calculator/</a:t>
            </a:r>
            <a:endParaRPr lang="zh-CN" sz="975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49" name="Rectangle 49"/>
          <p:cNvSpPr/>
          <p:nvPr/>
        </p:nvSpPr>
        <p:spPr>
          <a:xfrm>
            <a:off x="8172450" y="3829050"/>
            <a:ext cx="800100" cy="3048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4288">
            <a:solidFill>
              <a:srgbClr val="10B981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8378017" y="3925252"/>
            <a:ext cx="38896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IDE</a:t>
            </a:r>
            <a:endParaRPr lang="zh-CN" sz="1050" b="1" dirty="0">
              <a:solidFill>
                <a:srgbClr val="10B981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9330517" y="3849052"/>
            <a:ext cx="38896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8 / 8</a:t>
            </a:r>
            <a:endParaRPr lang="zh-CN" sz="1050" b="1" dirty="0">
              <a:solidFill>
                <a:srgbClr val="10B981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52" name="TextBox 52"/>
          <p:cNvSpPr txBox="1"/>
          <p:nvPr/>
        </p:nvSpPr>
        <p:spPr>
          <a:xfrm>
            <a:off x="9153049" y="4063841"/>
            <a:ext cx="7439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用例 · 7 截图</a:t>
            </a:r>
            <a:endParaRPr lang="zh-CN" sz="825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10234660" y="3911441"/>
            <a:ext cx="105718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0288D1"/>
                </a:solidFill>
                <a:latin typeface="Consolas"/>
                <a:ea typeface="Microsoft YaHei"/>
                <a:cs typeface="Consolas"/>
              </a:rPr>
              <a:t>2-tip-calculator/</a:t>
            </a:r>
            <a:endParaRPr lang="zh-CN" sz="825" dirty="0">
              <a:solidFill>
                <a:srgbClr val="0288D1"/>
              </a:solidFill>
              <a:latin typeface="Consolas"/>
              <a:ea typeface="Microsoft YaHei"/>
              <a:cs typeface="Consolas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10300930" y="4082891"/>
            <a:ext cx="92463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0288D1"/>
                </a:solidFill>
                <a:latin typeface="Consolas"/>
                <a:ea typeface="Microsoft YaHei"/>
                <a:cs typeface="Consolas"/>
              </a:rPr>
              <a:t>DEMO_GUIDE.md</a:t>
            </a:r>
            <a:endParaRPr lang="zh-CN" sz="825" dirty="0">
              <a:solidFill>
                <a:srgbClr val="0288D1"/>
              </a:solidFill>
              <a:latin typeface="Consolas"/>
              <a:ea typeface="Microsoft YaHei"/>
              <a:cs typeface="Consolas"/>
            </a:endParaRPr>
          </a:p>
        </p:txBody>
      </p:sp>
      <p:sp>
        <p:nvSpPr>
          <p:cNvPr id="55" name="Rectangle 55"/>
          <p:cNvSpPr/>
          <p:nvPr/>
        </p:nvSpPr>
        <p:spPr>
          <a:xfrm>
            <a:off x="571500" y="4857750"/>
            <a:ext cx="11049000" cy="1333500"/>
          </a:xfrm>
          <a:prstGeom prst="roundRect">
            <a:avLst>
              <a:gd name="adj" fmla="val 4286"/>
            </a:avLst>
          </a:prstGeom>
          <a:solidFill>
            <a:srgbClr val="F7F9FC"/>
          </a:solidFill>
          <a:ln w="9525">
            <a:solidFill>
              <a:srgbClr val="E5E7EB"/>
            </a:solidFill>
          </a:ln>
        </p:spPr>
      </p:sp>
      <p:sp>
        <p:nvSpPr>
          <p:cNvPr id="56" name="TextBox 56"/>
          <p:cNvSpPr txBox="1"/>
          <p:nvPr/>
        </p:nvSpPr>
        <p:spPr>
          <a:xfrm>
            <a:off x="857250" y="5000625"/>
            <a:ext cx="16461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6A69A"/>
                </a:solidFill>
                <a:latin typeface="Segoe UI"/>
                <a:ea typeface="Microsoft YaHei"/>
                <a:cs typeface="Segoe UI"/>
              </a:rPr>
              <a:t>3</a:t>
            </a:r>
            <a:endParaRPr lang="zh-CN" sz="1500" b="1" dirty="0">
              <a:solidFill>
                <a:srgbClr val="26A69A"/>
              </a:solidFill>
              <a:latin typeface="Segoe UI"/>
              <a:ea typeface="Microsoft YaHei"/>
              <a:cs typeface="Segoe UI"/>
            </a:endParaRPr>
          </a:p>
        </p:txBody>
      </p:sp>
      <p:grpSp>
        <p:nvGrpSpPr>
          <p:cNvPr id="59" name="Group 59"/>
          <p:cNvGrpSpPr/>
          <p:nvPr/>
        </p:nvGrpSpPr>
        <p:grpSpPr>
          <a:xfrm>
            <a:off x="1371600" y="5048250"/>
            <a:ext cx="152400" cy="133350"/>
            <a:chOff x="1371600" y="5048250"/>
            <a:chExt cx="152400" cy="133350"/>
          </a:xfrm>
        </p:grpSpPr>
        <p:sp>
          <p:nvSpPr>
            <p:cNvPr id="57" name="Freeform 57"/>
            <p:cNvSpPr/>
            <p:nvPr/>
          </p:nvSpPr>
          <p:spPr>
            <a:xfrm>
              <a:off x="1371600" y="5172075"/>
              <a:ext cx="152400" cy="9525"/>
            </a:xfrm>
            <a:custGeom>
              <a:avLst/>
              <a:gdLst/>
              <a:ahLst/>
              <a:cxnLst/>
              <a:rect l="l" t="t" r="r" b="b"/>
              <a:pathLst>
                <a:path w="152400" h="9525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noFill/>
            <a:ln w="19050" cap="rnd">
              <a:solidFill>
                <a:srgbClr val="26A69A"/>
              </a:solidFill>
              <a:round/>
            </a:ln>
          </p:spPr>
        </p:sp>
        <p:sp>
          <p:nvSpPr>
            <p:cNvPr id="58" name="Freeform 58"/>
            <p:cNvSpPr/>
            <p:nvPr/>
          </p:nvSpPr>
          <p:spPr>
            <a:xfrm>
              <a:off x="1371600" y="5048250"/>
              <a:ext cx="152400" cy="85725"/>
            </a:xfrm>
            <a:custGeom>
              <a:avLst/>
              <a:gdLst/>
              <a:ahLst/>
              <a:cxnLst/>
              <a:rect l="l" t="t" r="r" b="b"/>
              <a:pathLst>
                <a:path w="152400" h="85725">
                  <a:moveTo>
                    <a:pt x="0" y="85725"/>
                  </a:moveTo>
                  <a:lnTo>
                    <a:pt x="38100" y="28575"/>
                  </a:lnTo>
                  <a:lnTo>
                    <a:pt x="76200" y="47625"/>
                  </a:lnTo>
                  <a:lnTo>
                    <a:pt x="114300" y="0"/>
                  </a:lnTo>
                  <a:lnTo>
                    <a:pt x="152400" y="38100"/>
                  </a:lnTo>
                </a:path>
              </a:pathLst>
            </a:custGeom>
            <a:noFill/>
            <a:ln w="19050" cap="rnd">
              <a:solidFill>
                <a:srgbClr val="26A69A"/>
              </a:solidFill>
              <a:round/>
            </a:ln>
          </p:spPr>
        </p:sp>
      </p:grpSp>
      <p:sp>
        <p:nvSpPr>
          <p:cNvPr id="60" name="TextBox 60"/>
          <p:cNvSpPr txBox="1"/>
          <p:nvPr/>
        </p:nvSpPr>
        <p:spPr>
          <a:xfrm>
            <a:off x="1697355" y="5054918"/>
            <a:ext cx="12764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函数图像绘制</a:t>
            </a:r>
            <a:endParaRPr lang="zh-CN" sz="1350" b="1" dirty="0">
              <a:solidFill>
                <a:srgbClr val="1F2937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61" name="TextBox 61"/>
          <p:cNvSpPr txBox="1"/>
          <p:nvPr/>
        </p:nvSpPr>
        <p:spPr>
          <a:xfrm>
            <a:off x="1702118" y="5323999"/>
            <a:ext cx="196138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多文件 · Canvas · 解析器扩展</a:t>
            </a:r>
            <a:endParaRPr lang="zh-CN" sz="975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62" name="Rectangle 62"/>
          <p:cNvSpPr/>
          <p:nvPr/>
        </p:nvSpPr>
        <p:spPr>
          <a:xfrm>
            <a:off x="3143250" y="5257800"/>
            <a:ext cx="571500" cy="3048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63" name="TextBox 63"/>
          <p:cNvSpPr txBox="1"/>
          <p:nvPr/>
        </p:nvSpPr>
        <p:spPr>
          <a:xfrm>
            <a:off x="3334220" y="5321618"/>
            <a:ext cx="18955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M</a:t>
            </a:r>
            <a:endParaRPr lang="zh-CN" sz="1350" b="1" dirty="0">
              <a:solidFill>
                <a:srgbClr val="FFFFFF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64" name="TextBox 64"/>
          <p:cNvSpPr txBox="1"/>
          <p:nvPr/>
        </p:nvSpPr>
        <p:spPr>
          <a:xfrm>
            <a:off x="4462462" y="5079206"/>
            <a:ext cx="316682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Plotter.ets +202 · GraphPage.ets +207</a:t>
            </a:r>
            <a:endParaRPr lang="zh-CN" sz="1125" dirty="0">
              <a:solidFill>
                <a:srgbClr val="1F2937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65" name="TextBox 65"/>
          <p:cNvSpPr txBox="1"/>
          <p:nvPr/>
        </p:nvSpPr>
        <p:spPr>
          <a:xfrm>
            <a:off x="4464368" y="5323999"/>
            <a:ext cx="343521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B5563"/>
                </a:solidFill>
                <a:latin typeface="Segoe UI"/>
                <a:ea typeface="Microsoft YaHei"/>
                <a:cs typeface="Segoe UI"/>
              </a:rPr>
              <a:t>Calculator.ets +29 (evalAt + x 变量) · Models +25</a:t>
            </a:r>
            <a:endParaRPr lang="zh-CN" sz="975" dirty="0">
              <a:solidFill>
                <a:srgbClr val="4B5563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66" name="TextBox 66"/>
          <p:cNvSpPr txBox="1"/>
          <p:nvPr/>
        </p:nvSpPr>
        <p:spPr>
          <a:xfrm>
            <a:off x="4464368" y="5552599"/>
            <a:ext cx="219634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B5563"/>
                </a:solidFill>
                <a:latin typeface="Segoe UI"/>
                <a:ea typeface="Microsoft YaHei"/>
                <a:cs typeface="Segoe UI"/>
              </a:rPr>
              <a:t>FMEA R-01..R-10 高危项 7/7 闭环</a:t>
            </a:r>
            <a:endParaRPr lang="zh-CN" sz="975" dirty="0">
              <a:solidFill>
                <a:srgbClr val="4B5563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67" name="TextBox 67"/>
          <p:cNvSpPr txBox="1"/>
          <p:nvPr/>
        </p:nvSpPr>
        <p:spPr>
          <a:xfrm>
            <a:off x="4464368" y="5781199"/>
            <a:ext cx="360609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变更:specs/changes/20260519-...-function-graph/</a:t>
            </a:r>
            <a:endParaRPr lang="zh-CN" sz="975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68" name="Rectangle 68"/>
          <p:cNvSpPr/>
          <p:nvPr/>
        </p:nvSpPr>
        <p:spPr>
          <a:xfrm>
            <a:off x="8172450" y="5257800"/>
            <a:ext cx="800100" cy="3048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4288">
            <a:solidFill>
              <a:srgbClr val="10B981"/>
            </a:solidFill>
          </a:ln>
        </p:spPr>
      </p:sp>
      <p:sp>
        <p:nvSpPr>
          <p:cNvPr id="69" name="TextBox 69"/>
          <p:cNvSpPr txBox="1"/>
          <p:nvPr/>
        </p:nvSpPr>
        <p:spPr>
          <a:xfrm>
            <a:off x="8378017" y="5354002"/>
            <a:ext cx="38896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CLI</a:t>
            </a:r>
            <a:endParaRPr lang="zh-CN" sz="1050" b="1" dirty="0">
              <a:solidFill>
                <a:srgbClr val="10B981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70" name="TextBox 70"/>
          <p:cNvSpPr txBox="1"/>
          <p:nvPr/>
        </p:nvSpPr>
        <p:spPr>
          <a:xfrm>
            <a:off x="9282211" y="5277802"/>
            <a:ext cx="48557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12 / 12</a:t>
            </a:r>
            <a:endParaRPr lang="zh-CN" sz="1050" b="1" dirty="0">
              <a:solidFill>
                <a:srgbClr val="10B981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71" name="TextBox 71"/>
          <p:cNvSpPr txBox="1"/>
          <p:nvPr/>
        </p:nvSpPr>
        <p:spPr>
          <a:xfrm>
            <a:off x="9189196" y="5492591"/>
            <a:ext cx="67160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P0 · 16 截图</a:t>
            </a:r>
            <a:endParaRPr lang="zh-CN" sz="825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72" name="TextBox 72"/>
          <p:cNvSpPr txBox="1"/>
          <p:nvPr/>
        </p:nvSpPr>
        <p:spPr>
          <a:xfrm>
            <a:off x="10343102" y="5340191"/>
            <a:ext cx="8402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0288D1"/>
                </a:solidFill>
                <a:latin typeface="Consolas"/>
                <a:ea typeface="Microsoft YaHei"/>
                <a:cs typeface="Consolas"/>
              </a:rPr>
              <a:t>3-draw-func/</a:t>
            </a:r>
            <a:endParaRPr lang="zh-CN" sz="825" dirty="0">
              <a:solidFill>
                <a:srgbClr val="0288D1"/>
              </a:solidFill>
              <a:latin typeface="Consolas"/>
              <a:ea typeface="Microsoft YaHei"/>
              <a:cs typeface="Consolas"/>
            </a:endParaRPr>
          </a:p>
        </p:txBody>
      </p:sp>
      <p:sp>
        <p:nvSpPr>
          <p:cNvPr id="73" name="TextBox 73"/>
          <p:cNvSpPr txBox="1"/>
          <p:nvPr/>
        </p:nvSpPr>
        <p:spPr>
          <a:xfrm>
            <a:off x="10300930" y="5511641"/>
            <a:ext cx="92463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0288D1"/>
                </a:solidFill>
                <a:latin typeface="Consolas"/>
                <a:ea typeface="Microsoft YaHei"/>
                <a:cs typeface="Consolas"/>
              </a:rPr>
              <a:t>DEMO_GUIDE.md</a:t>
            </a:r>
            <a:endParaRPr lang="zh-CN" sz="825" dirty="0">
              <a:solidFill>
                <a:srgbClr val="0288D1"/>
              </a:solidFill>
              <a:latin typeface="Consolas"/>
              <a:ea typeface="Microsoft YaHei"/>
              <a:cs typeface="Consolas"/>
            </a:endParaRPr>
          </a:p>
        </p:txBody>
      </p:sp>
      <p:sp>
        <p:nvSpPr>
          <p:cNvPr id="74" name="Line 74"/>
          <p:cNvSpPr/>
          <p:nvPr/>
        </p:nvSpPr>
        <p:spPr>
          <a:xfrm>
            <a:off x="571500" y="64770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75" name="TextBox 75"/>
          <p:cNvSpPr txBox="1"/>
          <p:nvPr/>
        </p:nvSpPr>
        <p:spPr>
          <a:xfrm>
            <a:off x="561975" y="6586538"/>
            <a:ext cx="219336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OpenCalc HarmonyOS Demo · 客户实验手册</a:t>
            </a:r>
            <a:endParaRPr lang="zh-CN" sz="750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76" name="TextBox 76"/>
          <p:cNvSpPr txBox="1"/>
          <p:nvPr/>
        </p:nvSpPr>
        <p:spPr>
          <a:xfrm>
            <a:off x="11271409" y="6586538"/>
            <a:ext cx="35861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03 / 16</a:t>
            </a:r>
            <a:endParaRPr lang="zh-CN" sz="750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1020" y="598170"/>
            <a:ext cx="3373374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标准化 AID 开发流程</a:t>
            </a:r>
            <a:endParaRPr lang="zh-CN" sz="2400" b="1" dirty="0">
              <a:solidFill>
                <a:srgbClr val="1F2937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4" name="Rectangle 4"/>
          <p:cNvSpPr/>
          <p:nvPr/>
        </p:nvSpPr>
        <p:spPr>
          <a:xfrm>
            <a:off x="571500" y="952500"/>
            <a:ext cx="7620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565C0"/>
              </a:gs>
              <a:gs pos="100000">
                <a:srgbClr val="0288D1"/>
              </a:gs>
            </a:gsLst>
            <a:lin ang="0" scaled="1"/>
          </a:gra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019967" y="743902"/>
            <a:ext cx="161386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/aid-workflow 一站式</a:t>
            </a:r>
            <a:endParaRPr lang="zh-CN" sz="1050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56260" y="1156335"/>
            <a:ext cx="655891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B5563"/>
                </a:solidFill>
                <a:latin typeface="Segoe UI"/>
                <a:ea typeface="Microsoft YaHei"/>
                <a:cs typeface="Segoe UI"/>
              </a:rPr>
              <a:t>三个需求统一走完 4 阶段 · 每阶段交付明确制品 · 阶段间通过 SPEC 文件传递上下文</a:t>
            </a:r>
            <a:endParaRPr lang="zh-CN" sz="1200" dirty="0">
              <a:solidFill>
                <a:srgbClr val="4B5563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7" name="Line 7"/>
          <p:cNvSpPr/>
          <p:nvPr/>
        </p:nvSpPr>
        <p:spPr>
          <a:xfrm>
            <a:off x="1143000" y="3048000"/>
            <a:ext cx="9906000" cy="9525"/>
          </a:xfrm>
          <a:custGeom>
            <a:avLst/>
            <a:gdLst/>
            <a:ahLst/>
            <a:cxnLst/>
            <a:rect l="l" t="t" r="r" b="b"/>
            <a:pathLst>
              <a:path w="9906000" h="9525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19050">
            <a:solidFill>
              <a:srgbClr val="E5E7EB"/>
            </a:solidFill>
            <a:prstDash val="dash"/>
          </a:ln>
        </p:spPr>
      </p:sp>
      <p:grpSp>
        <p:nvGrpSpPr>
          <p:cNvPr id="11" name="Group 11"/>
          <p:cNvGrpSpPr/>
          <p:nvPr/>
        </p:nvGrpSpPr>
        <p:grpSpPr>
          <a:xfrm>
            <a:off x="1276350" y="2514600"/>
            <a:ext cx="1066800" cy="1066800"/>
            <a:chOff x="1276350" y="2514600"/>
            <a:chExt cx="1066800" cy="1066800"/>
          </a:xfrm>
        </p:grpSpPr>
        <p:sp>
          <p:nvSpPr>
            <p:cNvPr id="8" name="Ellipse 8"/>
            <p:cNvSpPr/>
            <p:nvPr/>
          </p:nvSpPr>
          <p:spPr>
            <a:xfrm>
              <a:off x="1276350" y="2514600"/>
              <a:ext cx="1066800" cy="106680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702641" y="2686050"/>
              <a:ext cx="214217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1</a:t>
              </a:r>
              <a:endParaRPr lang="zh-CN" sz="30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66732" y="3206591"/>
              <a:ext cx="28603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STEP</a:t>
              </a:r>
              <a:endParaRPr lang="zh-CN" sz="825" dirty="0">
                <a:solidFill>
                  <a:srgbClr val="FFFFFF"/>
                </a:solidFill>
                <a:latin typeface="Segoe UI"/>
                <a:ea typeface="Microsoft YaHei"/>
                <a:cs typeface="Segoe UI"/>
              </a:endParaRP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313390" y="1743075"/>
            <a:ext cx="99271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565C0"/>
                </a:solidFill>
                <a:latin typeface="Segoe UI"/>
                <a:ea typeface="Microsoft YaHei"/>
                <a:cs typeface="Segoe UI"/>
              </a:rPr>
              <a:t>PLANNING</a:t>
            </a:r>
            <a:endParaRPr lang="zh-CN" sz="1500" b="1" dirty="0">
              <a:solidFill>
                <a:srgbClr val="1565C0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288292" y="2037874"/>
            <a:ext cx="104291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需求解析 / 澄清</a:t>
            </a:r>
            <a:endParaRPr lang="zh-CN" sz="975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14" name="Rectangle 14"/>
          <p:cNvSpPr/>
          <p:nvPr/>
        </p:nvSpPr>
        <p:spPr>
          <a:xfrm>
            <a:off x="762000" y="3886200"/>
            <a:ext cx="2095500" cy="2095500"/>
          </a:xfrm>
          <a:prstGeom prst="roundRect">
            <a:avLst>
              <a:gd name="adj" fmla="val 4545"/>
            </a:avLst>
          </a:prstGeom>
          <a:solidFill>
            <a:srgbClr val="F7F9FC"/>
          </a:solidFill>
          <a:ln w="9525">
            <a:solidFill>
              <a:srgbClr val="E5E7EB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938212" y="4050506"/>
            <a:ext cx="7186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主要产物</a:t>
            </a:r>
            <a:endParaRPr lang="zh-CN" sz="1125" b="1" dirty="0">
              <a:solidFill>
                <a:srgbClr val="1F2937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16" name="Line 16"/>
          <p:cNvSpPr/>
          <p:nvPr/>
        </p:nvSpPr>
        <p:spPr>
          <a:xfrm>
            <a:off x="952500" y="4267200"/>
            <a:ext cx="571500" cy="9525"/>
          </a:xfrm>
          <a:custGeom>
            <a:avLst/>
            <a:gdLst/>
            <a:ahLst/>
            <a:cxnLst/>
            <a:rect l="l" t="t" r="r" b="b"/>
            <a:pathLst>
              <a:path w="571500" h="952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/>
          <a:ln w="19050">
            <a:solidFill>
              <a:srgbClr val="1565C0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939165" y="4420552"/>
            <a:ext cx="10771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B5563"/>
                </a:solidFill>
                <a:latin typeface="Segoe UI"/>
                <a:ea typeface="Microsoft YaHei"/>
                <a:cs typeface="Segoe UI"/>
              </a:rPr>
              <a:t>· proposal.md</a:t>
            </a:r>
            <a:endParaRPr lang="zh-CN" sz="1050" dirty="0">
              <a:solidFill>
                <a:srgbClr val="4B5563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939165" y="4649152"/>
            <a:ext cx="73975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B5563"/>
                </a:solidFill>
                <a:latin typeface="Segoe UI"/>
                <a:ea typeface="Microsoft YaHei"/>
                <a:cs typeface="Segoe UI"/>
              </a:rPr>
              <a:t>· info.md</a:t>
            </a:r>
            <a:endParaRPr lang="zh-CN" sz="1050" dirty="0">
              <a:solidFill>
                <a:srgbClr val="4B5563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939165" y="4877752"/>
            <a:ext cx="124582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B5563"/>
                </a:solidFill>
                <a:latin typeface="Segoe UI"/>
                <a:ea typeface="Microsoft YaHei"/>
                <a:cs typeface="Segoe UI"/>
              </a:rPr>
              <a:t>· delta-spec.md</a:t>
            </a:r>
            <a:endParaRPr lang="zh-CN" sz="1050" dirty="0">
              <a:solidFill>
                <a:srgbClr val="4B5563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939165" y="5106352"/>
            <a:ext cx="137617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B5563"/>
                </a:solidFill>
                <a:latin typeface="Segoe UI"/>
                <a:ea typeface="Microsoft YaHei"/>
                <a:cs typeface="Segoe UI"/>
              </a:rPr>
              <a:t>· delta-design.md</a:t>
            </a:r>
            <a:endParaRPr lang="zh-CN" sz="1050" dirty="0">
              <a:solidFill>
                <a:srgbClr val="4B5563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939165" y="5334952"/>
            <a:ext cx="149118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B5563"/>
                </a:solidFill>
                <a:latin typeface="Segoe UI"/>
                <a:ea typeface="Microsoft YaHei"/>
                <a:cs typeface="Segoe UI"/>
              </a:rPr>
              <a:t>· design-review.md</a:t>
            </a:r>
            <a:endParaRPr lang="zh-CN" sz="1050" dirty="0">
              <a:solidFill>
                <a:srgbClr val="4B5563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941070" y="5655945"/>
            <a:ext cx="129787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含 FMEA · 7 维度审视</a:t>
            </a:r>
            <a:endParaRPr lang="zh-CN" sz="900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grpSp>
        <p:nvGrpSpPr>
          <p:cNvPr id="25" name="Group 25"/>
          <p:cNvGrpSpPr/>
          <p:nvPr/>
        </p:nvGrpSpPr>
        <p:grpSpPr>
          <a:xfrm>
            <a:off x="2952750" y="2990850"/>
            <a:ext cx="476250" cy="114300"/>
            <a:chOff x="2952750" y="2990850"/>
            <a:chExt cx="476250" cy="114300"/>
          </a:xfrm>
        </p:grpSpPr>
        <p:sp>
          <p:nvSpPr>
            <p:cNvPr id="23" name="Freeform 23"/>
            <p:cNvSpPr/>
            <p:nvPr/>
          </p:nvSpPr>
          <p:spPr>
            <a:xfrm>
              <a:off x="2952750" y="3048000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19050" cap="rnd">
              <a:solidFill>
                <a:srgbClr val="94A3B8"/>
              </a:solidFill>
              <a:round/>
            </a:ln>
          </p:spPr>
        </p:sp>
        <p:sp>
          <p:nvSpPr>
            <p:cNvPr id="24" name="Freeform 24"/>
            <p:cNvSpPr/>
            <p:nvPr/>
          </p:nvSpPr>
          <p:spPr>
            <a:xfrm>
              <a:off x="3352800" y="2990850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0" y="0"/>
                  </a:moveTo>
                  <a:lnTo>
                    <a:pt x="76200" y="57150"/>
                  </a:lnTo>
                  <a:lnTo>
                    <a:pt x="0" y="114300"/>
                  </a:lnTo>
                </a:path>
              </a:pathLst>
            </a:custGeom>
            <a:noFill/>
            <a:ln w="19050" cap="rnd">
              <a:solidFill>
                <a:srgbClr val="94A3B8"/>
              </a:solidFill>
              <a:round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3562350" y="2514600"/>
            <a:ext cx="1066800" cy="1066800"/>
            <a:chOff x="3562350" y="2514600"/>
            <a:chExt cx="1066800" cy="1066800"/>
          </a:xfrm>
        </p:grpSpPr>
        <p:sp>
          <p:nvSpPr>
            <p:cNvPr id="26" name="Ellipse 26"/>
            <p:cNvSpPr/>
            <p:nvPr/>
          </p:nvSpPr>
          <p:spPr>
            <a:xfrm>
              <a:off x="3562350" y="2514600"/>
              <a:ext cx="1066800" cy="1066800"/>
            </a:xfrm>
            <a:prstGeom prst="ellipse">
              <a:avLst/>
            </a:prstGeom>
            <a:solidFill>
              <a:srgbClr val="0288D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931134" y="2686050"/>
              <a:ext cx="329232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2</a:t>
              </a:r>
              <a:endParaRPr lang="zh-CN" sz="30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952732" y="3206591"/>
              <a:ext cx="28603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STEP</a:t>
              </a:r>
              <a:endParaRPr lang="zh-CN" sz="825" dirty="0">
                <a:solidFill>
                  <a:srgbClr val="FFFFFF"/>
                </a:solidFill>
                <a:latin typeface="Segoe UI"/>
                <a:ea typeface="Microsoft YaHei"/>
                <a:cs typeface="Segoe UI"/>
              </a:endParaRP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3329107" y="1743075"/>
            <a:ext cx="153328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0288D1"/>
                </a:solidFill>
                <a:latin typeface="Segoe UI"/>
                <a:ea typeface="Microsoft YaHei"/>
                <a:cs typeface="Segoe UI"/>
              </a:rPr>
              <a:t>IMPLEMENTING</a:t>
            </a:r>
            <a:endParaRPr lang="zh-CN" sz="1500" b="1" dirty="0">
              <a:solidFill>
                <a:srgbClr val="0288D1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3574292" y="2037874"/>
            <a:ext cx="104291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任务分解 + 排序</a:t>
            </a:r>
            <a:endParaRPr lang="zh-CN" sz="975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32" name="Rectangle 32"/>
          <p:cNvSpPr/>
          <p:nvPr/>
        </p:nvSpPr>
        <p:spPr>
          <a:xfrm>
            <a:off x="3048000" y="3886200"/>
            <a:ext cx="2095500" cy="2095500"/>
          </a:xfrm>
          <a:prstGeom prst="roundRect">
            <a:avLst>
              <a:gd name="adj" fmla="val 4545"/>
            </a:avLst>
          </a:prstGeom>
          <a:solidFill>
            <a:srgbClr val="F7F9FC"/>
          </a:solidFill>
          <a:ln w="9525">
            <a:solidFill>
              <a:srgbClr val="E5E7EB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3224212" y="4050506"/>
            <a:ext cx="7186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主要产物</a:t>
            </a:r>
            <a:endParaRPr lang="zh-CN" sz="1125" b="1" dirty="0">
              <a:solidFill>
                <a:srgbClr val="1F2937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34" name="Line 34"/>
          <p:cNvSpPr/>
          <p:nvPr/>
        </p:nvSpPr>
        <p:spPr>
          <a:xfrm>
            <a:off x="3238500" y="4267200"/>
            <a:ext cx="571500" cy="9525"/>
          </a:xfrm>
          <a:custGeom>
            <a:avLst/>
            <a:gdLst/>
            <a:ahLst/>
            <a:cxnLst/>
            <a:rect l="l" t="t" r="r" b="b"/>
            <a:pathLst>
              <a:path w="571500" h="952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/>
          <a:ln w="19050">
            <a:solidFill>
              <a:srgbClr val="0288D1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3225165" y="4420552"/>
            <a:ext cx="86244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B5563"/>
                </a:solidFill>
                <a:latin typeface="Segoe UI"/>
                <a:ea typeface="Microsoft YaHei"/>
                <a:cs typeface="Segoe UI"/>
              </a:rPr>
              <a:t>· tasks.md</a:t>
            </a:r>
            <a:endParaRPr lang="zh-CN" sz="1050" dirty="0">
              <a:solidFill>
                <a:srgbClr val="4B5563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3225165" y="4649152"/>
            <a:ext cx="77809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B5563"/>
                </a:solidFill>
                <a:latin typeface="Segoe UI"/>
                <a:ea typeface="Microsoft YaHei"/>
                <a:cs typeface="Segoe UI"/>
              </a:rPr>
              <a:t>· todo.md</a:t>
            </a:r>
            <a:endParaRPr lang="zh-CN" sz="1050" dirty="0">
              <a:solidFill>
                <a:srgbClr val="4B5563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3226118" y="5038249"/>
            <a:ext cx="11995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拆出 4–7 个任务块</a:t>
            </a:r>
            <a:endParaRPr lang="zh-CN" sz="975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3226118" y="5247799"/>
            <a:ext cx="142739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含 P0 / P1 UI 用例清单</a:t>
            </a:r>
            <a:endParaRPr lang="zh-CN" sz="975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3227070" y="5655945"/>
            <a:ext cx="10744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阶段间幂等可重入</a:t>
            </a:r>
            <a:endParaRPr lang="zh-CN" sz="900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grpSp>
        <p:nvGrpSpPr>
          <p:cNvPr id="42" name="Group 42"/>
          <p:cNvGrpSpPr/>
          <p:nvPr/>
        </p:nvGrpSpPr>
        <p:grpSpPr>
          <a:xfrm>
            <a:off x="5238750" y="2990850"/>
            <a:ext cx="476250" cy="114300"/>
            <a:chOff x="5238750" y="2990850"/>
            <a:chExt cx="476250" cy="114300"/>
          </a:xfrm>
        </p:grpSpPr>
        <p:sp>
          <p:nvSpPr>
            <p:cNvPr id="40" name="Freeform 40"/>
            <p:cNvSpPr/>
            <p:nvPr/>
          </p:nvSpPr>
          <p:spPr>
            <a:xfrm>
              <a:off x="5238750" y="3048000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19050" cap="rnd">
              <a:solidFill>
                <a:srgbClr val="94A3B8"/>
              </a:solidFill>
              <a:round/>
            </a:ln>
          </p:spPr>
        </p:sp>
        <p:sp>
          <p:nvSpPr>
            <p:cNvPr id="41" name="Freeform 41"/>
            <p:cNvSpPr/>
            <p:nvPr/>
          </p:nvSpPr>
          <p:spPr>
            <a:xfrm>
              <a:off x="5638800" y="2990850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0" y="0"/>
                  </a:moveTo>
                  <a:lnTo>
                    <a:pt x="76200" y="57150"/>
                  </a:lnTo>
                  <a:lnTo>
                    <a:pt x="0" y="114300"/>
                  </a:lnTo>
                </a:path>
              </a:pathLst>
            </a:custGeom>
            <a:noFill/>
            <a:ln w="19050" cap="rnd">
              <a:solidFill>
                <a:srgbClr val="94A3B8"/>
              </a:solidFill>
              <a:round/>
            </a:ln>
          </p:spPr>
        </p:sp>
      </p:grpSp>
      <p:grpSp>
        <p:nvGrpSpPr>
          <p:cNvPr id="46" name="Group 46"/>
          <p:cNvGrpSpPr/>
          <p:nvPr/>
        </p:nvGrpSpPr>
        <p:grpSpPr>
          <a:xfrm>
            <a:off x="5848350" y="2514600"/>
            <a:ext cx="1066800" cy="1066800"/>
            <a:chOff x="5848350" y="2514600"/>
            <a:chExt cx="1066800" cy="1066800"/>
          </a:xfrm>
        </p:grpSpPr>
        <p:sp>
          <p:nvSpPr>
            <p:cNvPr id="43" name="Ellipse 43"/>
            <p:cNvSpPr/>
            <p:nvPr/>
          </p:nvSpPr>
          <p:spPr>
            <a:xfrm>
              <a:off x="5848350" y="2514600"/>
              <a:ext cx="1066800" cy="1066800"/>
            </a:xfrm>
            <a:prstGeom prst="ellipse">
              <a:avLst/>
            </a:prstGeom>
            <a:solidFill>
              <a:srgbClr val="26A69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217134" y="2686050"/>
              <a:ext cx="329232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3</a:t>
              </a:r>
              <a:endParaRPr lang="zh-CN" sz="30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238732" y="3206591"/>
              <a:ext cx="28603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STEP</a:t>
              </a:r>
              <a:endParaRPr lang="zh-CN" sz="825" dirty="0">
                <a:solidFill>
                  <a:srgbClr val="FFFFFF"/>
                </a:solidFill>
                <a:latin typeface="Segoe UI"/>
                <a:ea typeface="Microsoft YaHei"/>
                <a:cs typeface="Segoe UI"/>
              </a:endParaRPr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5885390" y="1743075"/>
            <a:ext cx="99271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26A69A"/>
                </a:solidFill>
                <a:latin typeface="Segoe UI"/>
                <a:ea typeface="Microsoft YaHei"/>
                <a:cs typeface="Segoe UI"/>
              </a:rPr>
              <a:t>APPLYING</a:t>
            </a:r>
            <a:endParaRPr lang="zh-CN" sz="1500" b="1" dirty="0">
              <a:solidFill>
                <a:srgbClr val="26A69A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5717893" y="2037874"/>
            <a:ext cx="13277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代码应用 + 静态审查</a:t>
            </a:r>
            <a:endParaRPr lang="zh-CN" sz="975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49" name="Rectangle 49"/>
          <p:cNvSpPr/>
          <p:nvPr/>
        </p:nvSpPr>
        <p:spPr>
          <a:xfrm>
            <a:off x="5334000" y="3886200"/>
            <a:ext cx="2095500" cy="2095500"/>
          </a:xfrm>
          <a:prstGeom prst="roundRect">
            <a:avLst>
              <a:gd name="adj" fmla="val 4545"/>
            </a:avLst>
          </a:prstGeom>
          <a:solidFill>
            <a:srgbClr val="F7F9FC"/>
          </a:solidFill>
          <a:ln w="9525">
            <a:solidFill>
              <a:srgbClr val="E5E7EB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5510212" y="4050506"/>
            <a:ext cx="7186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主要产物</a:t>
            </a:r>
            <a:endParaRPr lang="zh-CN" sz="1125" b="1" dirty="0">
              <a:solidFill>
                <a:srgbClr val="1F2937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51" name="Line 51"/>
          <p:cNvSpPr/>
          <p:nvPr/>
        </p:nvSpPr>
        <p:spPr>
          <a:xfrm>
            <a:off x="5524500" y="4267200"/>
            <a:ext cx="571500" cy="9525"/>
          </a:xfrm>
          <a:custGeom>
            <a:avLst/>
            <a:gdLst/>
            <a:ahLst/>
            <a:cxnLst/>
            <a:rect l="l" t="t" r="r" b="b"/>
            <a:pathLst>
              <a:path w="571500" h="952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/>
          <a:ln w="19050">
            <a:solidFill>
              <a:srgbClr val="26A69A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5511165" y="4420552"/>
            <a:ext cx="14145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B5563"/>
                </a:solidFill>
                <a:latin typeface="Segoe UI"/>
                <a:ea typeface="Microsoft YaHei"/>
                <a:cs typeface="Segoe UI"/>
              </a:rPr>
              <a:t>· apply-report.md</a:t>
            </a:r>
            <a:endParaRPr lang="zh-CN" sz="1050" dirty="0">
              <a:solidFill>
                <a:srgbClr val="4B5563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5511165" y="4649152"/>
            <a:ext cx="10771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B5563"/>
                </a:solidFill>
                <a:latin typeface="Segoe UI"/>
                <a:ea typeface="Microsoft YaHei"/>
                <a:cs typeface="Segoe UI"/>
              </a:rPr>
              <a:t>· 真实代码改动</a:t>
            </a:r>
            <a:endParaRPr lang="zh-CN" sz="1050" dirty="0">
              <a:solidFill>
                <a:srgbClr val="4B5563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5512118" y="5038249"/>
            <a:ext cx="14985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arkts-check 静态等价</a:t>
            </a:r>
            <a:endParaRPr lang="zh-CN" sz="975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55" name="TextBox 55"/>
          <p:cNvSpPr txBox="1"/>
          <p:nvPr/>
        </p:nvSpPr>
        <p:spPr>
          <a:xfrm>
            <a:off x="5512118" y="5247799"/>
            <a:ext cx="144875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遗留缺陷在此追加复盘</a:t>
            </a:r>
            <a:endParaRPr lang="zh-CN" sz="975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56" name="TextBox 56"/>
          <p:cNvSpPr txBox="1"/>
          <p:nvPr/>
        </p:nvSpPr>
        <p:spPr>
          <a:xfrm>
            <a:off x="5513070" y="5655945"/>
            <a:ext cx="87725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如 demo2 P-01</a:t>
            </a:r>
            <a:endParaRPr lang="zh-CN" sz="900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grpSp>
        <p:nvGrpSpPr>
          <p:cNvPr id="59" name="Group 59"/>
          <p:cNvGrpSpPr/>
          <p:nvPr/>
        </p:nvGrpSpPr>
        <p:grpSpPr>
          <a:xfrm>
            <a:off x="7524750" y="2990850"/>
            <a:ext cx="476250" cy="114300"/>
            <a:chOff x="7524750" y="2990850"/>
            <a:chExt cx="476250" cy="114300"/>
          </a:xfrm>
        </p:grpSpPr>
        <p:sp>
          <p:nvSpPr>
            <p:cNvPr id="57" name="Freeform 57"/>
            <p:cNvSpPr/>
            <p:nvPr/>
          </p:nvSpPr>
          <p:spPr>
            <a:xfrm>
              <a:off x="7524750" y="3048000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19050" cap="rnd">
              <a:solidFill>
                <a:srgbClr val="94A3B8"/>
              </a:solidFill>
              <a:round/>
            </a:ln>
          </p:spPr>
        </p:sp>
        <p:sp>
          <p:nvSpPr>
            <p:cNvPr id="58" name="Freeform 58"/>
            <p:cNvSpPr/>
            <p:nvPr/>
          </p:nvSpPr>
          <p:spPr>
            <a:xfrm>
              <a:off x="7924800" y="2990850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0" y="0"/>
                  </a:moveTo>
                  <a:lnTo>
                    <a:pt x="76200" y="57150"/>
                  </a:lnTo>
                  <a:lnTo>
                    <a:pt x="0" y="114300"/>
                  </a:lnTo>
                </a:path>
              </a:pathLst>
            </a:custGeom>
            <a:noFill/>
            <a:ln w="19050" cap="rnd">
              <a:solidFill>
                <a:srgbClr val="94A3B8"/>
              </a:solidFill>
              <a:round/>
            </a:ln>
          </p:spPr>
        </p:sp>
      </p:grpSp>
      <p:grpSp>
        <p:nvGrpSpPr>
          <p:cNvPr id="63" name="Group 63"/>
          <p:cNvGrpSpPr/>
          <p:nvPr/>
        </p:nvGrpSpPr>
        <p:grpSpPr>
          <a:xfrm>
            <a:off x="8134350" y="2514600"/>
            <a:ext cx="1066800" cy="1066800"/>
            <a:chOff x="8134350" y="2514600"/>
            <a:chExt cx="1066800" cy="1066800"/>
          </a:xfrm>
        </p:grpSpPr>
        <p:sp>
          <p:nvSpPr>
            <p:cNvPr id="60" name="Ellipse 60"/>
            <p:cNvSpPr/>
            <p:nvPr/>
          </p:nvSpPr>
          <p:spPr>
            <a:xfrm>
              <a:off x="8134350" y="2514600"/>
              <a:ext cx="1066800" cy="10668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503134" y="2686050"/>
              <a:ext cx="329232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4</a:t>
              </a:r>
              <a:endParaRPr lang="zh-CN" sz="30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524732" y="3206591"/>
              <a:ext cx="28603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STEP</a:t>
              </a:r>
              <a:endParaRPr lang="zh-CN" sz="825" dirty="0">
                <a:solidFill>
                  <a:srgbClr val="FFFFFF"/>
                </a:solidFill>
                <a:latin typeface="Segoe UI"/>
                <a:ea typeface="Microsoft YaHei"/>
                <a:cs typeface="Segoe UI"/>
              </a:endParaRPr>
            </a:p>
          </p:txBody>
        </p:sp>
      </p:grpSp>
      <p:sp>
        <p:nvSpPr>
          <p:cNvPr id="64" name="TextBox 64"/>
          <p:cNvSpPr txBox="1"/>
          <p:nvPr/>
        </p:nvSpPr>
        <p:spPr>
          <a:xfrm>
            <a:off x="8418671" y="1743075"/>
            <a:ext cx="4981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验证</a:t>
            </a:r>
            <a:endParaRPr lang="zh-CN" sz="1500" b="1" dirty="0">
              <a:solidFill>
                <a:srgbClr val="10B981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65" name="TextBox 65"/>
          <p:cNvSpPr txBox="1"/>
          <p:nvPr/>
        </p:nvSpPr>
        <p:spPr>
          <a:xfrm>
            <a:off x="7932694" y="2037874"/>
            <a:ext cx="147011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模拟器实测 + 数学校验</a:t>
            </a:r>
            <a:endParaRPr lang="zh-CN" sz="975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66" name="Rectangle 66"/>
          <p:cNvSpPr/>
          <p:nvPr/>
        </p:nvSpPr>
        <p:spPr>
          <a:xfrm>
            <a:off x="7620000" y="3886200"/>
            <a:ext cx="2095500" cy="2095500"/>
          </a:xfrm>
          <a:prstGeom prst="roundRect">
            <a:avLst>
              <a:gd name="adj" fmla="val 4545"/>
            </a:avLst>
          </a:prstGeom>
          <a:solidFill>
            <a:srgbClr val="F7F9FC"/>
          </a:solidFill>
          <a:ln w="9525">
            <a:solidFill>
              <a:srgbClr val="E5E7EB"/>
            </a:solidFill>
          </a:ln>
        </p:spPr>
      </p:sp>
      <p:sp>
        <p:nvSpPr>
          <p:cNvPr id="67" name="TextBox 67"/>
          <p:cNvSpPr txBox="1"/>
          <p:nvPr/>
        </p:nvSpPr>
        <p:spPr>
          <a:xfrm>
            <a:off x="7796212" y="4050506"/>
            <a:ext cx="7186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主要产物</a:t>
            </a:r>
            <a:endParaRPr lang="zh-CN" sz="1125" b="1" dirty="0">
              <a:solidFill>
                <a:srgbClr val="1F2937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68" name="Line 68"/>
          <p:cNvSpPr/>
          <p:nvPr/>
        </p:nvSpPr>
        <p:spPr>
          <a:xfrm>
            <a:off x="7810500" y="4267200"/>
            <a:ext cx="571500" cy="9525"/>
          </a:xfrm>
          <a:custGeom>
            <a:avLst/>
            <a:gdLst/>
            <a:ahLst/>
            <a:cxnLst/>
            <a:rect l="l" t="t" r="r" b="b"/>
            <a:pathLst>
              <a:path w="571500" h="952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/>
          <a:ln w="19050">
            <a:solidFill>
              <a:srgbClr val="10B981"/>
            </a:solidFill>
          </a:ln>
        </p:spPr>
      </p:sp>
      <p:sp>
        <p:nvSpPr>
          <p:cNvPr id="69" name="TextBox 69"/>
          <p:cNvSpPr txBox="1"/>
          <p:nvPr/>
        </p:nvSpPr>
        <p:spPr>
          <a:xfrm>
            <a:off x="7797165" y="4420552"/>
            <a:ext cx="192824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B5563"/>
                </a:solidFill>
                <a:latin typeface="Segoe UI"/>
                <a:ea typeface="Microsoft YaHei"/>
                <a:cs typeface="Segoe UI"/>
              </a:rPr>
              <a:t>· verification-report.md</a:t>
            </a:r>
            <a:endParaRPr lang="zh-CN" sz="1050" dirty="0">
              <a:solidFill>
                <a:srgbClr val="4B5563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70" name="TextBox 70"/>
          <p:cNvSpPr txBox="1"/>
          <p:nvPr/>
        </p:nvSpPr>
        <p:spPr>
          <a:xfrm>
            <a:off x="7797165" y="4649152"/>
            <a:ext cx="92378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B5563"/>
                </a:solidFill>
                <a:latin typeface="Segoe UI"/>
                <a:ea typeface="Microsoft YaHei"/>
                <a:cs typeface="Segoe UI"/>
              </a:rPr>
              <a:t>· 模拟器截图</a:t>
            </a:r>
            <a:endParaRPr lang="zh-CN" sz="1050" dirty="0">
              <a:solidFill>
                <a:srgbClr val="4B5563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71" name="TextBox 71"/>
          <p:cNvSpPr txBox="1"/>
          <p:nvPr/>
        </p:nvSpPr>
        <p:spPr>
          <a:xfrm>
            <a:off x="7798118" y="5038249"/>
            <a:ext cx="13704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Pura 80 · 1256×2760</a:t>
            </a:r>
            <a:endParaRPr lang="zh-CN" sz="975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72" name="TextBox 72"/>
          <p:cNvSpPr txBox="1"/>
          <p:nvPr/>
        </p:nvSpPr>
        <p:spPr>
          <a:xfrm>
            <a:off x="7798118" y="5247799"/>
            <a:ext cx="120667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数学验证 + UI 用例</a:t>
            </a:r>
            <a:endParaRPr lang="zh-CN" sz="975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73" name="TextBox 73"/>
          <p:cNvSpPr txBox="1"/>
          <p:nvPr/>
        </p:nvSpPr>
        <p:spPr>
          <a:xfrm>
            <a:off x="7799070" y="5655945"/>
            <a:ext cx="129787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三需求合计 28 张截图</a:t>
            </a:r>
            <a:endParaRPr lang="zh-CN" sz="900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74" name="Rectangle 74"/>
          <p:cNvSpPr/>
          <p:nvPr/>
        </p:nvSpPr>
        <p:spPr>
          <a:xfrm>
            <a:off x="10001250" y="1809750"/>
            <a:ext cx="1714500" cy="4191000"/>
          </a:xfrm>
          <a:prstGeom prst="roundRect">
            <a:avLst>
              <a:gd name="adj" fmla="val 5556"/>
            </a:avLst>
          </a:prstGeom>
          <a:solidFill>
            <a:srgbClr val="0F172A"/>
          </a:solidFill>
          <a:ln>
            <a:noFill/>
          </a:ln>
        </p:spPr>
      </p:sp>
      <p:sp>
        <p:nvSpPr>
          <p:cNvPr id="75" name="TextBox 75"/>
          <p:cNvSpPr txBox="1"/>
          <p:nvPr/>
        </p:nvSpPr>
        <p:spPr>
          <a:xfrm>
            <a:off x="10582680" y="1990249"/>
            <a:ext cx="5516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METHOD</a:t>
            </a:r>
            <a:endParaRPr lang="zh-CN" sz="975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76" name="TextBox 76"/>
          <p:cNvSpPr txBox="1"/>
          <p:nvPr/>
        </p:nvSpPr>
        <p:spPr>
          <a:xfrm>
            <a:off x="10354304" y="2118360"/>
            <a:ext cx="1008393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AID</a:t>
            </a:r>
            <a:endParaRPr lang="zh-CN" sz="4200" b="1" dirty="0">
              <a:solidFill>
                <a:srgbClr val="FFFFFF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77" name="Line 77"/>
          <p:cNvSpPr/>
          <p:nvPr/>
        </p:nvSpPr>
        <p:spPr>
          <a:xfrm>
            <a:off x="10287000" y="2762250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19050">
            <a:solidFill>
              <a:srgbClr val="0288D1"/>
            </a:solidFill>
          </a:ln>
        </p:spPr>
      </p:sp>
      <p:sp>
        <p:nvSpPr>
          <p:cNvPr id="78" name="TextBox 78"/>
          <p:cNvSpPr txBox="1"/>
          <p:nvPr/>
        </p:nvSpPr>
        <p:spPr>
          <a:xfrm>
            <a:off x="10555329" y="2934652"/>
            <a:ext cx="6063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Analyze</a:t>
            </a:r>
            <a:endParaRPr lang="zh-CN" sz="1050" b="1" dirty="0">
              <a:solidFill>
                <a:srgbClr val="FFFFFF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79" name="TextBox 79"/>
          <p:cNvSpPr txBox="1"/>
          <p:nvPr/>
        </p:nvSpPr>
        <p:spPr>
          <a:xfrm>
            <a:off x="10454691" y="3144202"/>
            <a:ext cx="80761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Implement</a:t>
            </a:r>
            <a:endParaRPr lang="zh-CN" sz="1050" b="1" dirty="0">
              <a:solidFill>
                <a:srgbClr val="FFFFFF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80" name="TextBox 80"/>
          <p:cNvSpPr txBox="1"/>
          <p:nvPr/>
        </p:nvSpPr>
        <p:spPr>
          <a:xfrm>
            <a:off x="10575456" y="3353752"/>
            <a:ext cx="56608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Deliver</a:t>
            </a:r>
            <a:endParaRPr lang="zh-CN" sz="1050" b="1" dirty="0">
              <a:solidFill>
                <a:srgbClr val="FFFFFF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81" name="TextBox 81"/>
          <p:cNvSpPr txBox="1"/>
          <p:nvPr/>
        </p:nvSpPr>
        <p:spPr>
          <a:xfrm>
            <a:off x="10518458" y="3789045"/>
            <a:ext cx="6800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阶段间通过</a:t>
            </a:r>
            <a:endParaRPr lang="zh-CN" sz="900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82" name="TextBox 82"/>
          <p:cNvSpPr txBox="1"/>
          <p:nvPr/>
        </p:nvSpPr>
        <p:spPr>
          <a:xfrm>
            <a:off x="10419874" y="3960495"/>
            <a:ext cx="87725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SPEC 文件传递</a:t>
            </a:r>
            <a:endParaRPr lang="zh-CN" sz="900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83" name="TextBox 83"/>
          <p:cNvSpPr txBox="1"/>
          <p:nvPr/>
        </p:nvSpPr>
        <p:spPr>
          <a:xfrm>
            <a:off x="10649902" y="4131945"/>
            <a:ext cx="4171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上下文</a:t>
            </a:r>
            <a:endParaRPr lang="zh-CN" sz="900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84" name="Line 84"/>
          <p:cNvSpPr/>
          <p:nvPr/>
        </p:nvSpPr>
        <p:spPr>
          <a:xfrm>
            <a:off x="10287000" y="4533900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9525">
            <a:solidFill>
              <a:srgbClr val="1F2937"/>
            </a:solidFill>
          </a:ln>
        </p:spPr>
      </p:sp>
      <p:sp>
        <p:nvSpPr>
          <p:cNvPr id="85" name="TextBox 85"/>
          <p:cNvSpPr txBox="1"/>
          <p:nvPr/>
        </p:nvSpPr>
        <p:spPr>
          <a:xfrm>
            <a:off x="10426303" y="4730591"/>
            <a:ext cx="8643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三需求统一方法</a:t>
            </a:r>
            <a:endParaRPr lang="zh-CN" sz="825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86" name="TextBox 86"/>
          <p:cNvSpPr txBox="1"/>
          <p:nvPr/>
        </p:nvSpPr>
        <p:spPr>
          <a:xfrm>
            <a:off x="10486549" y="4940141"/>
            <a:ext cx="7439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同一目录结构</a:t>
            </a:r>
            <a:endParaRPr lang="zh-CN" sz="825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87" name="TextBox 87"/>
          <p:cNvSpPr txBox="1"/>
          <p:nvPr/>
        </p:nvSpPr>
        <p:spPr>
          <a:xfrm>
            <a:off x="10462450" y="5206841"/>
            <a:ext cx="79209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26A69A"/>
                </a:solidFill>
                <a:latin typeface="Segoe UI"/>
                <a:ea typeface="Microsoft YaHei"/>
                <a:cs typeface="Segoe UI"/>
              </a:rPr>
              <a:t>9 份制品/需求</a:t>
            </a:r>
            <a:endParaRPr lang="zh-CN" sz="825" dirty="0">
              <a:solidFill>
                <a:srgbClr val="26A69A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88" name="TextBox 88"/>
          <p:cNvSpPr txBox="1"/>
          <p:nvPr/>
        </p:nvSpPr>
        <p:spPr>
          <a:xfrm>
            <a:off x="10306179" y="5536882"/>
            <a:ext cx="110464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25 / 25 ✓</a:t>
            </a:r>
            <a:endParaRPr lang="zh-CN" sz="1650" b="1" dirty="0">
              <a:solidFill>
                <a:srgbClr val="10B981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89" name="Line 89"/>
          <p:cNvSpPr/>
          <p:nvPr/>
        </p:nvSpPr>
        <p:spPr>
          <a:xfrm>
            <a:off x="571500" y="64770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90" name="TextBox 90"/>
          <p:cNvSpPr txBox="1"/>
          <p:nvPr/>
        </p:nvSpPr>
        <p:spPr>
          <a:xfrm>
            <a:off x="561975" y="6586538"/>
            <a:ext cx="219336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OpenCalc HarmonyOS Demo · 客户实验手册</a:t>
            </a:r>
            <a:endParaRPr lang="zh-CN" sz="750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91" name="TextBox 91"/>
          <p:cNvSpPr txBox="1"/>
          <p:nvPr/>
        </p:nvSpPr>
        <p:spPr>
          <a:xfrm>
            <a:off x="11271409" y="6586538"/>
            <a:ext cx="35861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04 / 16</a:t>
            </a:r>
            <a:endParaRPr lang="zh-CN" sz="750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1020" y="598170"/>
            <a:ext cx="3373374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项目目录与制品位置</a:t>
            </a:r>
            <a:endParaRPr lang="zh-CN" sz="2400" b="1" dirty="0">
              <a:solidFill>
                <a:srgbClr val="1F2937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4" name="Rectangle 4"/>
          <p:cNvSpPr/>
          <p:nvPr/>
        </p:nvSpPr>
        <p:spPr>
          <a:xfrm>
            <a:off x="571500" y="952500"/>
            <a:ext cx="7620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565C0"/>
              </a:gs>
              <a:gs pos="100000">
                <a:srgbClr val="0288D1"/>
              </a:gs>
            </a:gsLst>
            <a:lin ang="0" scaled="1"/>
          </a:gra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621250" y="743902"/>
            <a:ext cx="20125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每需求独立 HarmonyOS 应用</a:t>
            </a:r>
            <a:endParaRPr lang="zh-CN" sz="1050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56260" y="1156335"/>
            <a:ext cx="456095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B5563"/>
                </a:solidFill>
                <a:latin typeface="Segoe UI"/>
                <a:ea typeface="Microsoft YaHei"/>
                <a:cs typeface="Segoe UI"/>
              </a:rPr>
              <a:t>4 个并列子目录 · 0-basic 为基线 · 1/2/3 为三个增量需求</a:t>
            </a:r>
            <a:endParaRPr lang="zh-CN" sz="1200" dirty="0">
              <a:solidFill>
                <a:srgbClr val="4B5563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7" name="Rectangle 7"/>
          <p:cNvSpPr/>
          <p:nvPr/>
        </p:nvSpPr>
        <p:spPr>
          <a:xfrm>
            <a:off x="571500" y="1524000"/>
            <a:ext cx="5334000" cy="4667250"/>
          </a:xfrm>
          <a:prstGeom prst="roundRect">
            <a:avLst>
              <a:gd name="adj" fmla="val 2041"/>
            </a:avLst>
          </a:prstGeom>
          <a:solidFill>
            <a:srgbClr val="0F172A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49618" y="1704499"/>
            <a:ext cx="208242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Consolas"/>
                <a:ea typeface="Microsoft YaHei"/>
                <a:cs typeface="Consolas"/>
              </a:rPr>
              <a:t>~/opencalc-harmonyos-demo/</a:t>
            </a:r>
            <a:endParaRPr lang="zh-CN" sz="975" dirty="0">
              <a:solidFill>
                <a:srgbClr val="94A3B8"/>
              </a:solidFill>
              <a:latin typeface="Consolas"/>
              <a:ea typeface="Microsoft YaHei"/>
              <a:cs typeface="Consolas"/>
            </a:endParaRPr>
          </a:p>
        </p:txBody>
      </p:sp>
      <p:sp>
        <p:nvSpPr>
          <p:cNvPr id="9" name="Line 9"/>
          <p:cNvSpPr/>
          <p:nvPr/>
        </p:nvSpPr>
        <p:spPr>
          <a:xfrm>
            <a:off x="762000" y="1905000"/>
            <a:ext cx="4953000" cy="9525"/>
          </a:xfrm>
          <a:custGeom>
            <a:avLst/>
            <a:gdLst/>
            <a:ahLst/>
            <a:cxnLst/>
            <a:rect l="l" t="t" r="r" b="b"/>
            <a:pathLst>
              <a:path w="4953000" h="9525">
                <a:moveTo>
                  <a:pt x="0" y="0"/>
                </a:moveTo>
                <a:lnTo>
                  <a:pt x="4953000" y="0"/>
                </a:lnTo>
              </a:path>
            </a:pathLst>
          </a:custGeom>
          <a:noFill/>
          <a:ln w="9525">
            <a:solidFill>
              <a:srgbClr val="1F2937"/>
            </a:solidFill>
          </a:ln>
        </p:spPr>
      </p:sp>
      <p:grpSp>
        <p:nvGrpSpPr>
          <p:cNvPr id="39" name="Group 39"/>
          <p:cNvGrpSpPr/>
          <p:nvPr/>
        </p:nvGrpSpPr>
        <p:grpSpPr>
          <a:xfrm>
            <a:off x="748665" y="2096452"/>
            <a:ext cx="3372660" cy="3947160"/>
            <a:chOff x="748665" y="2096452"/>
            <a:chExt cx="3372660" cy="3947160"/>
          </a:xfrm>
        </p:grpSpPr>
        <p:sp>
          <p:nvSpPr>
            <p:cNvPr id="10" name="TextBox 10"/>
            <p:cNvSpPr txBox="1"/>
            <p:nvPr/>
          </p:nvSpPr>
          <p:spPr>
            <a:xfrm>
              <a:off x="748665" y="2096452"/>
              <a:ext cx="2797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├──</a:t>
              </a:r>
              <a:endParaRPr lang="zh-CN" sz="1050" dirty="0">
                <a:solidFill>
                  <a:srgbClr val="94A3B8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29665" y="2096452"/>
              <a:ext cx="6630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0-basic/</a:t>
              </a:r>
              <a:endParaRPr lang="zh-CN" sz="1050" dirty="0">
                <a:solidFill>
                  <a:srgbClr val="94A3B8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465070" y="2112645"/>
              <a:ext cx="1304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原始 OpenCalc(基线)</a:t>
              </a:r>
              <a:endParaRPr lang="zh-CN" sz="900" dirty="0">
                <a:solidFill>
                  <a:srgbClr val="94A3B8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8665" y="2420302"/>
              <a:ext cx="2797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288D1"/>
                  </a:solidFill>
                  <a:latin typeface="Consolas"/>
                  <a:ea typeface="Microsoft YaHei"/>
                  <a:cs typeface="Consolas"/>
                </a:rPr>
                <a:t>├──</a:t>
              </a:r>
              <a:endParaRPr lang="zh-CN" sz="1050" dirty="0">
                <a:solidFill>
                  <a:srgbClr val="0288D1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29665" y="2420302"/>
              <a:ext cx="14221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288D1"/>
                  </a:solidFill>
                  <a:latin typeface="Consolas"/>
                  <a:ea typeface="Microsoft YaHei"/>
                  <a:cs typeface="Consolas"/>
                </a:rPr>
                <a:t>1-percent-button/</a:t>
              </a:r>
              <a:endParaRPr lang="zh-CN" sz="1050" dirty="0">
                <a:solidFill>
                  <a:srgbClr val="0288D1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29665" y="2629852"/>
              <a:ext cx="1110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│</a:t>
              </a:r>
              <a:endParaRPr lang="zh-CN" sz="1050" dirty="0">
                <a:solidFill>
                  <a:srgbClr val="94A3B8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20165" y="2629852"/>
              <a:ext cx="14758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├── DEMO_GUIDE.md</a:t>
              </a:r>
              <a:endParaRPr lang="zh-CN" sz="1050" dirty="0">
                <a:solidFill>
                  <a:srgbClr val="94A3B8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29665" y="2820352"/>
              <a:ext cx="1110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│</a:t>
              </a:r>
              <a:endParaRPr lang="zh-CN" sz="1050" dirty="0">
                <a:solidFill>
                  <a:srgbClr val="94A3B8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20165" y="2820352"/>
              <a:ext cx="192057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├── entry/src/main/ets/</a:t>
              </a:r>
              <a:endParaRPr lang="zh-CN" sz="1050" dirty="0">
                <a:solidFill>
                  <a:srgbClr val="94A3B8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29665" y="3010852"/>
              <a:ext cx="1110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│</a:t>
              </a:r>
              <a:endParaRPr lang="zh-CN" sz="1050" dirty="0">
                <a:solidFill>
                  <a:srgbClr val="94A3B8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320165" y="3010852"/>
              <a:ext cx="15065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0B981"/>
                  </a:solidFill>
                  <a:latin typeface="Consolas"/>
                  <a:ea typeface="Microsoft YaHei"/>
                  <a:cs typeface="Consolas"/>
                </a:rPr>
                <a:t>└── specs/changes/</a:t>
              </a:r>
              <a:endParaRPr lang="zh-CN" sz="1050" dirty="0">
                <a:solidFill>
                  <a:srgbClr val="10B981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510665" y="3201352"/>
              <a:ext cx="129949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└── 20260518-...</a:t>
              </a:r>
              <a:endParaRPr lang="zh-CN" sz="1050" dirty="0">
                <a:solidFill>
                  <a:srgbClr val="94A3B8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48665" y="3525202"/>
              <a:ext cx="2797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288D1"/>
                  </a:solidFill>
                  <a:latin typeface="Consolas"/>
                  <a:ea typeface="Microsoft YaHei"/>
                  <a:cs typeface="Consolas"/>
                </a:rPr>
                <a:t>├──</a:t>
              </a:r>
              <a:endParaRPr lang="zh-CN" sz="1050" dirty="0">
                <a:solidFill>
                  <a:srgbClr val="0288D1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29665" y="3525202"/>
              <a:ext cx="13455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288D1"/>
                  </a:solidFill>
                  <a:latin typeface="Consolas"/>
                  <a:ea typeface="Microsoft YaHei"/>
                  <a:cs typeface="Consolas"/>
                </a:rPr>
                <a:t>2-tip-calculator/</a:t>
              </a:r>
              <a:endParaRPr lang="zh-CN" sz="1050" dirty="0">
                <a:solidFill>
                  <a:srgbClr val="0288D1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29665" y="3734752"/>
              <a:ext cx="1110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│</a:t>
              </a:r>
              <a:endParaRPr lang="zh-CN" sz="1050" dirty="0">
                <a:solidFill>
                  <a:srgbClr val="94A3B8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320165" y="3734752"/>
              <a:ext cx="14758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├── DEMO_GUIDE.md</a:t>
              </a:r>
              <a:endParaRPr lang="zh-CN" sz="1050" dirty="0">
                <a:solidFill>
                  <a:srgbClr val="94A3B8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29665" y="3925252"/>
              <a:ext cx="1110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│</a:t>
              </a:r>
              <a:endParaRPr lang="zh-CN" sz="1050" dirty="0">
                <a:solidFill>
                  <a:srgbClr val="94A3B8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320165" y="3925252"/>
              <a:ext cx="192057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├── entry/src/main/ets/</a:t>
              </a:r>
              <a:endParaRPr lang="zh-CN" sz="1050" dirty="0">
                <a:solidFill>
                  <a:srgbClr val="94A3B8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29665" y="4115752"/>
              <a:ext cx="1110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│</a:t>
              </a:r>
              <a:endParaRPr lang="zh-CN" sz="1050" dirty="0">
                <a:solidFill>
                  <a:srgbClr val="94A3B8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320165" y="4115752"/>
              <a:ext cx="15065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0B981"/>
                  </a:solidFill>
                  <a:latin typeface="Consolas"/>
                  <a:ea typeface="Microsoft YaHei"/>
                  <a:cs typeface="Consolas"/>
                </a:rPr>
                <a:t>└── specs/changes/</a:t>
              </a:r>
              <a:endParaRPr lang="zh-CN" sz="1050" dirty="0">
                <a:solidFill>
                  <a:srgbClr val="10B981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510665" y="4306252"/>
              <a:ext cx="25339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└── 20260519-...-tip-calculator/</a:t>
              </a:r>
              <a:endParaRPr lang="zh-CN" sz="1050" dirty="0">
                <a:solidFill>
                  <a:srgbClr val="94A3B8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48665" y="4630102"/>
              <a:ext cx="2797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288D1"/>
                  </a:solidFill>
                  <a:latin typeface="Consolas"/>
                  <a:ea typeface="Microsoft YaHei"/>
                  <a:cs typeface="Consolas"/>
                </a:rPr>
                <a:t>└──</a:t>
              </a:r>
              <a:endParaRPr lang="zh-CN" sz="1050" dirty="0">
                <a:solidFill>
                  <a:srgbClr val="0288D1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29665" y="4630102"/>
              <a:ext cx="106946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288D1"/>
                  </a:solidFill>
                  <a:latin typeface="Consolas"/>
                  <a:ea typeface="Microsoft YaHei"/>
                  <a:cs typeface="Consolas"/>
                </a:rPr>
                <a:t>3-draw-func/</a:t>
              </a:r>
              <a:endParaRPr lang="zh-CN" sz="1050" dirty="0">
                <a:solidFill>
                  <a:srgbClr val="0288D1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320165" y="4839652"/>
              <a:ext cx="14758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├── DEMO_GUIDE.md</a:t>
              </a:r>
              <a:endParaRPr lang="zh-CN" sz="1050" dirty="0">
                <a:solidFill>
                  <a:srgbClr val="94A3B8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320165" y="5030152"/>
              <a:ext cx="192057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├── entry/src/main/ets/</a:t>
              </a:r>
              <a:endParaRPr lang="zh-CN" sz="1050" dirty="0">
                <a:solidFill>
                  <a:srgbClr val="94A3B8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320165" y="5220652"/>
              <a:ext cx="23576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├── scripts/fix-deveco-sdk.sh</a:t>
              </a:r>
              <a:endParaRPr lang="zh-CN" sz="1050" dirty="0">
                <a:solidFill>
                  <a:srgbClr val="94A3B8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320165" y="5411152"/>
              <a:ext cx="17442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59E0B"/>
                  </a:solidFill>
                  <a:latin typeface="Consolas"/>
                  <a:ea typeface="Microsoft YaHei"/>
                  <a:cs typeface="Consolas"/>
                </a:rPr>
                <a:t>│ └── SDK 00303168 修复</a:t>
              </a:r>
              <a:endParaRPr lang="zh-CN" sz="1050" dirty="0">
                <a:solidFill>
                  <a:srgbClr val="F59E0B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320165" y="5620702"/>
              <a:ext cx="15065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0B981"/>
                  </a:solidFill>
                  <a:latin typeface="Consolas"/>
                  <a:ea typeface="Microsoft YaHei"/>
                  <a:cs typeface="Consolas"/>
                </a:rPr>
                <a:t>└── specs/changes/</a:t>
              </a:r>
              <a:endParaRPr lang="zh-CN" sz="1050" dirty="0">
                <a:solidFill>
                  <a:srgbClr val="10B981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510665" y="5830252"/>
              <a:ext cx="26106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└── 20260519-...-function-graph/</a:t>
              </a:r>
              <a:endParaRPr lang="zh-CN" sz="1050" dirty="0">
                <a:solidFill>
                  <a:srgbClr val="94A3B8"/>
                </a:solidFill>
                <a:latin typeface="Consolas"/>
                <a:ea typeface="Microsoft YaHei"/>
                <a:cs typeface="Consolas"/>
              </a:endParaRPr>
            </a:p>
          </p:txBody>
        </p:sp>
      </p:grpSp>
      <p:sp>
        <p:nvSpPr>
          <p:cNvPr id="40" name="Rectangle 40"/>
          <p:cNvSpPr/>
          <p:nvPr/>
        </p:nvSpPr>
        <p:spPr>
          <a:xfrm>
            <a:off x="6096000" y="1524000"/>
            <a:ext cx="5524500" cy="9525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9525">
            <a:solidFill>
              <a:srgbClr val="E5E7EB"/>
            </a:solidFill>
          </a:ln>
        </p:spPr>
      </p:sp>
      <p:sp>
        <p:nvSpPr>
          <p:cNvPr id="41" name="Ellipse 41"/>
          <p:cNvSpPr/>
          <p:nvPr/>
        </p:nvSpPr>
        <p:spPr>
          <a:xfrm>
            <a:off x="6229350" y="1676400"/>
            <a:ext cx="266700" cy="2667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6309200" y="1752124"/>
            <a:ext cx="10700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0</a:t>
            </a:r>
            <a:endParaRPr lang="zh-CN" sz="975" b="1" dirty="0">
              <a:solidFill>
                <a:srgbClr val="FFFFFF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6593205" y="1711642"/>
            <a:ext cx="89344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0-basic/</a:t>
            </a:r>
            <a:endParaRPr lang="zh-CN" sz="1350" b="1" dirty="0">
              <a:solidFill>
                <a:srgbClr val="1F2937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6597015" y="1963102"/>
            <a:ext cx="279468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B5563"/>
                </a:solidFill>
                <a:latin typeface="Segoe UI"/>
                <a:ea typeface="Microsoft YaHei"/>
                <a:cs typeface="Segoe UI"/>
              </a:rPr>
              <a:t>原始 OpenCalc 计算器(未改动基线版本)</a:t>
            </a:r>
            <a:endParaRPr lang="zh-CN" sz="1050" dirty="0">
              <a:solidFill>
                <a:srgbClr val="4B5563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6598920" y="2188845"/>
            <a:ext cx="280292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作为三需求横向对比的参照系 · 不参与本期演示</a:t>
            </a:r>
            <a:endParaRPr lang="zh-CN" sz="900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46" name="Rectangle 46"/>
          <p:cNvSpPr/>
          <p:nvPr/>
        </p:nvSpPr>
        <p:spPr>
          <a:xfrm>
            <a:off x="6096000" y="2647950"/>
            <a:ext cx="5524500" cy="9525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9525">
            <a:solidFill>
              <a:srgbClr val="E5E7EB"/>
            </a:solidFill>
          </a:ln>
        </p:spPr>
      </p:sp>
      <p:sp>
        <p:nvSpPr>
          <p:cNvPr id="47" name="Ellipse 47"/>
          <p:cNvSpPr/>
          <p:nvPr/>
        </p:nvSpPr>
        <p:spPr>
          <a:xfrm>
            <a:off x="6229350" y="2800350"/>
            <a:ext cx="266700" cy="2667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6327890" y="2876074"/>
            <a:ext cx="6962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1</a:t>
            </a:r>
            <a:endParaRPr lang="zh-CN" sz="975" b="1" dirty="0">
              <a:solidFill>
                <a:srgbClr val="FFFFFF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6593205" y="2835592"/>
            <a:ext cx="191822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1-percent-button/</a:t>
            </a:r>
            <a:endParaRPr lang="zh-CN" sz="1350" b="1" dirty="0">
              <a:solidFill>
                <a:srgbClr val="1F2937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6597015" y="3087052"/>
            <a:ext cx="33007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B5563"/>
                </a:solidFill>
                <a:latin typeface="Segoe UI"/>
                <a:ea typeface="Microsoft YaHei"/>
                <a:cs typeface="Segoe UI"/>
              </a:rPr>
              <a:t>百分号按钮 · S 级 · CalculatorPage.ets +6/-1</a:t>
            </a:r>
            <a:endParaRPr lang="zh-CN" sz="1050" dirty="0">
              <a:solidFill>
                <a:srgbClr val="4B5563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6598920" y="3312795"/>
            <a:ext cx="410422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0288D1"/>
                </a:solidFill>
                <a:latin typeface="Consolas"/>
                <a:ea typeface="Microsoft YaHei"/>
                <a:cs typeface="Consolas"/>
              </a:rPr>
              <a:t>specs/changes/20260518-requirement-add-percentage-button/</a:t>
            </a:r>
            <a:endParaRPr lang="zh-CN" sz="900" dirty="0">
              <a:solidFill>
                <a:srgbClr val="0288D1"/>
              </a:solidFill>
              <a:latin typeface="Consolas"/>
              <a:ea typeface="Microsoft YaHei"/>
              <a:cs typeface="Consolas"/>
            </a:endParaRPr>
          </a:p>
        </p:txBody>
      </p:sp>
      <p:sp>
        <p:nvSpPr>
          <p:cNvPr id="52" name="Rectangle 52"/>
          <p:cNvSpPr/>
          <p:nvPr/>
        </p:nvSpPr>
        <p:spPr>
          <a:xfrm>
            <a:off x="6096000" y="3771900"/>
            <a:ext cx="5524500" cy="9525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9525">
            <a:solidFill>
              <a:srgbClr val="E5E7EB"/>
            </a:solidFill>
          </a:ln>
        </p:spPr>
      </p:sp>
      <p:sp>
        <p:nvSpPr>
          <p:cNvPr id="53" name="Ellipse 53"/>
          <p:cNvSpPr/>
          <p:nvPr/>
        </p:nvSpPr>
        <p:spPr>
          <a:xfrm>
            <a:off x="6229350" y="3924300"/>
            <a:ext cx="266700" cy="266700"/>
          </a:xfrm>
          <a:prstGeom prst="ellipse">
            <a:avLst/>
          </a:prstGeom>
          <a:solidFill>
            <a:srgbClr val="0288D1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6309200" y="4000024"/>
            <a:ext cx="10700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2</a:t>
            </a:r>
            <a:endParaRPr lang="zh-CN" sz="975" b="1" dirty="0">
              <a:solidFill>
                <a:srgbClr val="FFFFFF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55" name="TextBox 55"/>
          <p:cNvSpPr txBox="1"/>
          <p:nvPr/>
        </p:nvSpPr>
        <p:spPr>
          <a:xfrm>
            <a:off x="6593205" y="3959542"/>
            <a:ext cx="181471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2-tip-calculator/</a:t>
            </a:r>
            <a:endParaRPr lang="zh-CN" sz="1350" b="1" dirty="0">
              <a:solidFill>
                <a:srgbClr val="1F2937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56" name="TextBox 56"/>
          <p:cNvSpPr txBox="1"/>
          <p:nvPr/>
        </p:nvSpPr>
        <p:spPr>
          <a:xfrm>
            <a:off x="6597015" y="4211002"/>
            <a:ext cx="366112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B5563"/>
                </a:solidFill>
                <a:latin typeface="Segoe UI"/>
                <a:ea typeface="Microsoft YaHei"/>
                <a:cs typeface="Segoe UI"/>
              </a:rPr>
              <a:t>小费计算器 · S 级 · 首个独立页面(router.pushUrl)</a:t>
            </a:r>
            <a:endParaRPr lang="zh-CN" sz="1050" dirty="0">
              <a:solidFill>
                <a:srgbClr val="4B5563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57" name="TextBox 57"/>
          <p:cNvSpPr txBox="1"/>
          <p:nvPr/>
        </p:nvSpPr>
        <p:spPr>
          <a:xfrm>
            <a:off x="6598920" y="4436745"/>
            <a:ext cx="378875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0288D1"/>
                </a:solidFill>
                <a:latin typeface="Consolas"/>
                <a:ea typeface="Microsoft YaHei"/>
                <a:cs typeface="Consolas"/>
              </a:rPr>
              <a:t>specs/changes/20260519-requirement-add-tip-calculator/</a:t>
            </a:r>
            <a:endParaRPr lang="zh-CN" sz="900" dirty="0">
              <a:solidFill>
                <a:srgbClr val="0288D1"/>
              </a:solidFill>
              <a:latin typeface="Consolas"/>
              <a:ea typeface="Microsoft YaHei"/>
              <a:cs typeface="Consolas"/>
            </a:endParaRPr>
          </a:p>
        </p:txBody>
      </p:sp>
      <p:sp>
        <p:nvSpPr>
          <p:cNvPr id="58" name="Rectangle 58"/>
          <p:cNvSpPr/>
          <p:nvPr/>
        </p:nvSpPr>
        <p:spPr>
          <a:xfrm>
            <a:off x="6096000" y="4895850"/>
            <a:ext cx="5524500" cy="1295400"/>
          </a:xfrm>
          <a:prstGeom prst="roundRect">
            <a:avLst>
              <a:gd name="adj" fmla="val 5882"/>
            </a:avLst>
          </a:prstGeom>
          <a:solidFill>
            <a:srgbClr val="F7F9FC"/>
          </a:solidFill>
          <a:ln w="9525">
            <a:solidFill>
              <a:srgbClr val="E5E7EB"/>
            </a:solidFill>
          </a:ln>
        </p:spPr>
      </p:sp>
      <p:sp>
        <p:nvSpPr>
          <p:cNvPr id="59" name="Ellipse 59"/>
          <p:cNvSpPr/>
          <p:nvPr/>
        </p:nvSpPr>
        <p:spPr>
          <a:xfrm>
            <a:off x="6229350" y="5048250"/>
            <a:ext cx="266700" cy="266700"/>
          </a:xfrm>
          <a:prstGeom prst="ellipse">
            <a:avLst/>
          </a:prstGeom>
          <a:solidFill>
            <a:srgbClr val="26A69A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6309200" y="5123974"/>
            <a:ext cx="10700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3</a:t>
            </a:r>
            <a:endParaRPr lang="zh-CN" sz="975" b="1" dirty="0">
              <a:solidFill>
                <a:srgbClr val="FFFFFF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61" name="TextBox 61"/>
          <p:cNvSpPr txBox="1"/>
          <p:nvPr/>
        </p:nvSpPr>
        <p:spPr>
          <a:xfrm>
            <a:off x="6593205" y="5083492"/>
            <a:ext cx="144206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3-draw-func/</a:t>
            </a:r>
            <a:endParaRPr lang="zh-CN" sz="1350" b="1" dirty="0">
              <a:solidFill>
                <a:srgbClr val="1F2937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62" name="TextBox 62"/>
          <p:cNvSpPr txBox="1"/>
          <p:nvPr/>
        </p:nvSpPr>
        <p:spPr>
          <a:xfrm>
            <a:off x="6597015" y="5334952"/>
            <a:ext cx="33007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B5563"/>
                </a:solidFill>
                <a:latin typeface="Segoe UI"/>
                <a:ea typeface="Microsoft YaHei"/>
                <a:cs typeface="Segoe UI"/>
              </a:rPr>
              <a:t>函数图像绘制 · M 级 · Canvas + 解析器 + FMEA</a:t>
            </a:r>
            <a:endParaRPr lang="zh-CN" sz="1050" dirty="0">
              <a:solidFill>
                <a:srgbClr val="4B5563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63" name="TextBox 63"/>
          <p:cNvSpPr txBox="1"/>
          <p:nvPr/>
        </p:nvSpPr>
        <p:spPr>
          <a:xfrm>
            <a:off x="6598920" y="5560695"/>
            <a:ext cx="385448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0288D1"/>
                </a:solidFill>
                <a:latin typeface="Consolas"/>
                <a:ea typeface="Microsoft YaHei"/>
                <a:cs typeface="Consolas"/>
              </a:rPr>
              <a:t>specs/changes/20260519-requirement-add-function-graph/</a:t>
            </a:r>
            <a:endParaRPr lang="zh-CN" sz="900" dirty="0">
              <a:solidFill>
                <a:srgbClr val="0288D1"/>
              </a:solidFill>
              <a:latin typeface="Consolas"/>
              <a:ea typeface="Microsoft YaHei"/>
              <a:cs typeface="Consolas"/>
            </a:endParaRPr>
          </a:p>
        </p:txBody>
      </p:sp>
      <p:grpSp>
        <p:nvGrpSpPr>
          <p:cNvPr id="66" name="Group 66"/>
          <p:cNvGrpSpPr/>
          <p:nvPr/>
        </p:nvGrpSpPr>
        <p:grpSpPr>
          <a:xfrm>
            <a:off x="6637938" y="5819473"/>
            <a:ext cx="173280" cy="152702"/>
            <a:chOff x="6637938" y="5819473"/>
            <a:chExt cx="173280" cy="152702"/>
          </a:xfrm>
        </p:grpSpPr>
        <p:sp>
          <p:nvSpPr>
            <p:cNvPr id="64" name="Freeform 64"/>
            <p:cNvSpPr/>
            <p:nvPr/>
          </p:nvSpPr>
          <p:spPr>
            <a:xfrm>
              <a:off x="6724650" y="5876925"/>
              <a:ext cx="9525" cy="57245"/>
            </a:xfrm>
            <a:custGeom>
              <a:avLst/>
              <a:gdLst/>
              <a:ahLst/>
              <a:cxnLst/>
              <a:rect l="l" t="t" r="r" b="b"/>
              <a:pathLst>
                <a:path w="9525" h="57245">
                  <a:moveTo>
                    <a:pt x="0" y="0"/>
                  </a:moveTo>
                  <a:lnTo>
                    <a:pt x="0" y="19050"/>
                  </a:lnTo>
                  <a:moveTo>
                    <a:pt x="0" y="57150"/>
                  </a:moveTo>
                  <a:lnTo>
                    <a:pt x="0" y="57245"/>
                  </a:lnTo>
                </a:path>
              </a:pathLst>
            </a:custGeom>
            <a:noFill/>
            <a:ln w="19050" cap="rnd">
              <a:solidFill>
                <a:srgbClr val="F59E0B"/>
              </a:solidFill>
              <a:round/>
            </a:ln>
          </p:spPr>
        </p:sp>
        <p:sp>
          <p:nvSpPr>
            <p:cNvPr id="65" name="Freeform 65"/>
            <p:cNvSpPr/>
            <p:nvPr/>
          </p:nvSpPr>
          <p:spPr>
            <a:xfrm>
              <a:off x="6637938" y="5819473"/>
              <a:ext cx="173280" cy="152702"/>
            </a:xfrm>
            <a:custGeom>
              <a:avLst/>
              <a:gdLst/>
              <a:ahLst/>
              <a:cxnLst/>
              <a:rect l="l" t="t" r="r" b="b"/>
              <a:pathLst>
                <a:path w="173280" h="152702">
                  <a:moveTo>
                    <a:pt x="20037" y="152702"/>
                  </a:moveTo>
                  <a:lnTo>
                    <a:pt x="153387" y="152702"/>
                  </a:lnTo>
                  <a:cubicBezTo>
                    <a:pt x="159697" y="152658"/>
                    <a:pt x="165577" y="149492"/>
                    <a:pt x="169086" y="144247"/>
                  </a:cubicBezTo>
                  <a:cubicBezTo>
                    <a:pt x="172595" y="139001"/>
                    <a:pt x="173280" y="132359"/>
                    <a:pt x="170913" y="126509"/>
                  </a:cubicBezTo>
                  <a:lnTo>
                    <a:pt x="103285" y="9827"/>
                  </a:lnTo>
                  <a:cubicBezTo>
                    <a:pt x="99930" y="3764"/>
                    <a:pt x="93547" y="0"/>
                    <a:pt x="86617" y="0"/>
                  </a:cubicBezTo>
                  <a:cubicBezTo>
                    <a:pt x="79686" y="0"/>
                    <a:pt x="73303" y="3764"/>
                    <a:pt x="69948" y="9827"/>
                  </a:cubicBezTo>
                  <a:lnTo>
                    <a:pt x="2320" y="126509"/>
                  </a:lnTo>
                  <a:cubicBezTo>
                    <a:pt x="0" y="132221"/>
                    <a:pt x="588" y="138703"/>
                    <a:pt x="3898" y="143905"/>
                  </a:cubicBezTo>
                  <a:cubicBezTo>
                    <a:pt x="7208" y="149107"/>
                    <a:pt x="12832" y="152385"/>
                    <a:pt x="18989" y="152702"/>
                  </a:cubicBezTo>
                </a:path>
              </a:pathLst>
            </a:custGeom>
            <a:noFill/>
            <a:ln w="19050" cap="rnd">
              <a:solidFill>
                <a:srgbClr val="F59E0B"/>
              </a:solidFill>
              <a:round/>
            </a:ln>
          </p:spPr>
        </p:sp>
      </p:grpSp>
      <p:sp>
        <p:nvSpPr>
          <p:cNvPr id="67" name="TextBox 67"/>
          <p:cNvSpPr txBox="1"/>
          <p:nvPr/>
        </p:nvSpPr>
        <p:spPr>
          <a:xfrm>
            <a:off x="6845618" y="5914549"/>
            <a:ext cx="416144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59E0B"/>
                </a:solidFill>
                <a:latin typeface="Segoe UI"/>
                <a:ea typeface="Microsoft YaHei"/>
                <a:cs typeface="Segoe UI"/>
              </a:rPr>
              <a:t>独家携带 SDK 00303168 修复脚本(scripts/fix-deveco-sdk.sh)</a:t>
            </a:r>
            <a:endParaRPr lang="zh-CN" sz="975" dirty="0">
              <a:solidFill>
                <a:srgbClr val="F59E0B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68" name="Line 68"/>
          <p:cNvSpPr/>
          <p:nvPr/>
        </p:nvSpPr>
        <p:spPr>
          <a:xfrm>
            <a:off x="571500" y="64770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69" name="TextBox 69"/>
          <p:cNvSpPr txBox="1"/>
          <p:nvPr/>
        </p:nvSpPr>
        <p:spPr>
          <a:xfrm>
            <a:off x="561975" y="6586538"/>
            <a:ext cx="219336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OpenCalc HarmonyOS Demo · 客户实验手册</a:t>
            </a:r>
            <a:endParaRPr lang="zh-CN" sz="750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70" name="TextBox 70"/>
          <p:cNvSpPr txBox="1"/>
          <p:nvPr/>
        </p:nvSpPr>
        <p:spPr>
          <a:xfrm>
            <a:off x="11271409" y="6586538"/>
            <a:ext cx="35861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05 / 16</a:t>
            </a:r>
            <a:endParaRPr lang="zh-CN" sz="750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1020" y="598170"/>
            <a:ext cx="3281362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需求 1 — 百分号按钮</a:t>
            </a:r>
            <a:endParaRPr lang="zh-CN" sz="2400" b="1" dirty="0">
              <a:solidFill>
                <a:srgbClr val="1F2937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4" name="Rectangle 4"/>
          <p:cNvSpPr/>
          <p:nvPr/>
        </p:nvSpPr>
        <p:spPr>
          <a:xfrm>
            <a:off x="571500" y="952500"/>
            <a:ext cx="7620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565C0"/>
              </a:gs>
              <a:gs pos="100000">
                <a:srgbClr val="0288D1"/>
              </a:gs>
            </a:gsLst>
            <a:lin ang="0" scaled="1"/>
          </a:gra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886408" y="743902"/>
            <a:ext cx="7474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Demo 1 / 3</a:t>
            </a:r>
            <a:endParaRPr lang="zh-CN" sz="1050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54355" y="1140142"/>
            <a:ext cx="507537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565C0"/>
                </a:solidFill>
                <a:latin typeface="Segoe UI"/>
                <a:ea typeface="Microsoft YaHei"/>
                <a:cs typeface="Segoe UI"/>
              </a:rPr>
              <a:t>复杂度 S · CalculatorPage.ets +6/-1 · 算法层零改动</a:t>
            </a:r>
            <a:endParaRPr lang="zh-CN" sz="1350" b="1" dirty="0">
              <a:solidFill>
                <a:srgbClr val="1565C0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7" name="Rectangle 7"/>
          <p:cNvSpPr/>
          <p:nvPr/>
        </p:nvSpPr>
        <p:spPr>
          <a:xfrm>
            <a:off x="571500" y="1619250"/>
            <a:ext cx="4095750" cy="457200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E5E7EB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748665" y="1867852"/>
            <a:ext cx="89311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COMPLEXITY</a:t>
            </a:r>
            <a:endParaRPr lang="zh-CN" sz="1050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647700" y="1695450"/>
            <a:ext cx="987695" cy="182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0" b="1" dirty="0">
                <a:gradFill>
                  <a:gsLst>
                    <a:gs pos="0">
                      <a:srgbClr val="1565C0"/>
                    </a:gs>
                    <a:gs pos="100000">
                      <a:srgbClr val="0288D1"/>
                    </a:gs>
                  </a:gsLst>
                  <a:lin ang="0" scaled="1"/>
                </a:gradFill>
                <a:latin typeface="Segoe UI"/>
                <a:ea typeface="Microsoft YaHei"/>
                <a:cs typeface="Segoe UI"/>
              </a:rPr>
              <a:t>S</a:t>
            </a:r>
            <a:endParaRPr lang="zh-CN" sz="9000" b="1" dirty="0">
              <a:gradFill>
                <a:gsLst>
                  <a:gs pos="0">
                    <a:srgbClr val="1565C0"/>
                  </a:gs>
                  <a:gs pos="100000">
                    <a:srgbClr val="0288D1"/>
                  </a:gs>
                </a:gsLst>
                <a:lin ang="0" scaled="1"/>
              </a:gradFill>
              <a:latin typeface="Segoe UI"/>
              <a:ea typeface="Microsoft YaHei"/>
              <a:cs typeface="Segoe UI"/>
            </a:endParaRPr>
          </a:p>
        </p:txBody>
      </p:sp>
      <p:sp>
        <p:nvSpPr>
          <p:cNvPr id="10" name="Line 10"/>
          <p:cNvSpPr/>
          <p:nvPr/>
        </p:nvSpPr>
        <p:spPr>
          <a:xfrm>
            <a:off x="762000" y="2838450"/>
            <a:ext cx="952500" cy="9525"/>
          </a:xfrm>
          <a:custGeom>
            <a:avLst/>
            <a:gdLst/>
            <a:ahLst/>
            <a:cxnLst/>
            <a:rect l="l" t="t" r="r" b="b"/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/>
          <a:ln w="19050">
            <a:solidFill>
              <a:srgbClr val="1565C0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748665" y="2972752"/>
            <a:ext cx="129949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B5563"/>
                </a:solidFill>
                <a:latin typeface="Segoe UI"/>
                <a:ea typeface="Microsoft YaHei"/>
                <a:cs typeface="Segoe UI"/>
              </a:rPr>
              <a:t>Simple · 单文件 UI</a:t>
            </a:r>
            <a:endParaRPr lang="zh-CN" sz="1050" dirty="0">
              <a:solidFill>
                <a:srgbClr val="4B5563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748665" y="3182302"/>
            <a:ext cx="3333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B5563"/>
                </a:solidFill>
                <a:latin typeface="Segoe UI"/>
                <a:ea typeface="Microsoft YaHei"/>
                <a:cs typeface="Segoe UI"/>
              </a:rPr>
              <a:t>改动</a:t>
            </a:r>
            <a:endParaRPr lang="zh-CN" sz="1050" dirty="0">
              <a:solidFill>
                <a:srgbClr val="4B5563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13" name="Rectangle 13"/>
          <p:cNvSpPr/>
          <p:nvPr/>
        </p:nvSpPr>
        <p:spPr>
          <a:xfrm>
            <a:off x="762000" y="3581400"/>
            <a:ext cx="37147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749618" y="379999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改动文件</a:t>
            </a:r>
            <a:endParaRPr lang="zh-CN" sz="975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887855" y="3759518"/>
            <a:ext cx="9639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1</a:t>
            </a:r>
            <a:endParaRPr lang="zh-CN" sz="1350" b="1" dirty="0">
              <a:solidFill>
                <a:srgbClr val="1F2937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2197418" y="3799999"/>
            <a:ext cx="136331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B5563"/>
                </a:solidFill>
                <a:latin typeface="Segoe UI"/>
                <a:ea typeface="Microsoft YaHei"/>
                <a:cs typeface="Segoe UI"/>
              </a:rPr>
              <a:t>CalculatorPage.ets</a:t>
            </a:r>
            <a:endParaRPr lang="zh-CN" sz="975" dirty="0">
              <a:solidFill>
                <a:srgbClr val="4B5563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749618" y="410479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代码行数</a:t>
            </a:r>
            <a:endParaRPr lang="zh-CN" sz="975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887855" y="4064318"/>
            <a:ext cx="67607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+6 / -1</a:t>
            </a:r>
            <a:endParaRPr lang="zh-CN" sz="1350" b="1" dirty="0">
              <a:solidFill>
                <a:srgbClr val="1F2937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749618" y="4409599"/>
            <a:ext cx="45196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算法层</a:t>
            </a:r>
            <a:endParaRPr lang="zh-CN" sz="975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887855" y="4369118"/>
            <a:ext cx="6553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零改动</a:t>
            </a:r>
            <a:endParaRPr lang="zh-CN" sz="1350" b="1" dirty="0">
              <a:solidFill>
                <a:srgbClr val="10B981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749618" y="471439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验证用例</a:t>
            </a:r>
            <a:endParaRPr lang="zh-CN" sz="975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887855" y="4673918"/>
            <a:ext cx="67607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5 / 5 ✓</a:t>
            </a:r>
            <a:endParaRPr lang="zh-CN" sz="1350" b="1" dirty="0">
              <a:solidFill>
                <a:srgbClr val="10B981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23" name="Rectangle 23"/>
          <p:cNvSpPr/>
          <p:nvPr/>
        </p:nvSpPr>
        <p:spPr>
          <a:xfrm>
            <a:off x="762000" y="5029200"/>
            <a:ext cx="37147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grpSp>
        <p:nvGrpSpPr>
          <p:cNvPr id="27" name="Group 27"/>
          <p:cNvGrpSpPr/>
          <p:nvPr/>
        </p:nvGrpSpPr>
        <p:grpSpPr>
          <a:xfrm>
            <a:off x="887730" y="5459730"/>
            <a:ext cx="251460" cy="335280"/>
            <a:chOff x="887730" y="5459730"/>
            <a:chExt cx="251460" cy="335280"/>
          </a:xfrm>
        </p:grpSpPr>
        <p:sp>
          <p:nvSpPr>
            <p:cNvPr id="24" name="Freeform 24"/>
            <p:cNvSpPr/>
            <p:nvPr/>
          </p:nvSpPr>
          <p:spPr>
            <a:xfrm>
              <a:off x="887730" y="5459730"/>
              <a:ext cx="251460" cy="251460"/>
            </a:xfrm>
            <a:custGeom>
              <a:avLst/>
              <a:gdLst/>
              <a:ahLst/>
              <a:cxnLst/>
              <a:rect l="l" t="t" r="r" b="b"/>
              <a:pathLst>
                <a:path w="251460" h="251460">
                  <a:moveTo>
                    <a:pt x="0" y="251460"/>
                  </a:moveTo>
                  <a:lnTo>
                    <a:pt x="251460" y="0"/>
                  </a:lnTo>
                </a:path>
              </a:pathLst>
            </a:custGeom>
            <a:noFill/>
            <a:ln w="19050" cap="rnd">
              <a:solidFill>
                <a:srgbClr val="1565C0"/>
              </a:solidFill>
              <a:round/>
            </a:ln>
          </p:spPr>
        </p:sp>
        <p:sp>
          <p:nvSpPr>
            <p:cNvPr id="25" name="Freeform 25"/>
            <p:cNvSpPr/>
            <p:nvPr/>
          </p:nvSpPr>
          <p:spPr>
            <a:xfrm>
              <a:off x="887730" y="5459730"/>
              <a:ext cx="83820" cy="83820"/>
            </a:xfrm>
            <a:custGeom>
              <a:avLst/>
              <a:gdLst/>
              <a:ahLst/>
              <a:cxnLst/>
              <a:rect l="l" t="t" r="r" b="b"/>
              <a:pathLst>
                <a:path w="83820" h="83820">
                  <a:moveTo>
                    <a:pt x="0" y="0"/>
                  </a:moveTo>
                  <a:moveTo>
                    <a:pt x="0" y="41910"/>
                  </a:moveTo>
                  <a:cubicBezTo>
                    <a:pt x="0" y="65056"/>
                    <a:pt x="18764" y="83820"/>
                    <a:pt x="41910" y="83820"/>
                  </a:cubicBezTo>
                  <a:cubicBezTo>
                    <a:pt x="65056" y="83820"/>
                    <a:pt x="83820" y="65056"/>
                    <a:pt x="83820" y="41910"/>
                  </a:cubicBezTo>
                  <a:cubicBezTo>
                    <a:pt x="83820" y="18764"/>
                    <a:pt x="65056" y="0"/>
                    <a:pt x="41910" y="0"/>
                  </a:cubicBezTo>
                  <a:cubicBezTo>
                    <a:pt x="18764" y="0"/>
                    <a:pt x="0" y="18764"/>
                    <a:pt x="0" y="41910"/>
                  </a:cubicBezTo>
                </a:path>
              </a:pathLst>
            </a:custGeom>
            <a:noFill/>
            <a:ln w="19050" cap="rnd">
              <a:solidFill>
                <a:srgbClr val="1565C0"/>
              </a:solidFill>
              <a:round/>
            </a:ln>
          </p:spPr>
        </p:sp>
        <p:sp>
          <p:nvSpPr>
            <p:cNvPr id="26" name="Freeform 26"/>
            <p:cNvSpPr/>
            <p:nvPr/>
          </p:nvSpPr>
          <p:spPr>
            <a:xfrm>
              <a:off x="1055370" y="5711190"/>
              <a:ext cx="83820" cy="83820"/>
            </a:xfrm>
            <a:custGeom>
              <a:avLst/>
              <a:gdLst/>
              <a:ahLst/>
              <a:cxnLst/>
              <a:rect l="l" t="t" r="r" b="b"/>
              <a:pathLst>
                <a:path w="83820" h="83820">
                  <a:moveTo>
                    <a:pt x="0" y="0"/>
                  </a:moveTo>
                  <a:moveTo>
                    <a:pt x="0" y="41910"/>
                  </a:moveTo>
                  <a:cubicBezTo>
                    <a:pt x="0" y="65056"/>
                    <a:pt x="18764" y="83820"/>
                    <a:pt x="41910" y="83820"/>
                  </a:cubicBezTo>
                  <a:cubicBezTo>
                    <a:pt x="65056" y="83820"/>
                    <a:pt x="83820" y="65056"/>
                    <a:pt x="83820" y="41910"/>
                  </a:cubicBezTo>
                  <a:cubicBezTo>
                    <a:pt x="83820" y="18764"/>
                    <a:pt x="65056" y="0"/>
                    <a:pt x="41910" y="0"/>
                  </a:cubicBezTo>
                  <a:cubicBezTo>
                    <a:pt x="18764" y="0"/>
                    <a:pt x="0" y="18764"/>
                    <a:pt x="0" y="41910"/>
                  </a:cubicBezTo>
                </a:path>
              </a:pathLst>
            </a:custGeom>
            <a:noFill/>
            <a:ln w="19050" cap="rnd">
              <a:solidFill>
                <a:srgbClr val="1565C0"/>
              </a:solidFill>
              <a:round/>
            </a:ln>
          </p:spPr>
        </p:sp>
      </p:grpSp>
      <p:sp>
        <p:nvSpPr>
          <p:cNvPr id="28" name="TextBox 28"/>
          <p:cNvSpPr txBox="1"/>
          <p:nvPr/>
        </p:nvSpPr>
        <p:spPr>
          <a:xfrm>
            <a:off x="1605915" y="5601652"/>
            <a:ext cx="10541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最轻量级 demo</a:t>
            </a:r>
            <a:endParaRPr lang="zh-CN" sz="1050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606868" y="5819299"/>
            <a:ext cx="13063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教科书式零侵入改造</a:t>
            </a:r>
            <a:endParaRPr lang="zh-CN" sz="975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30" name="Rectangle 30"/>
          <p:cNvSpPr/>
          <p:nvPr/>
        </p:nvSpPr>
        <p:spPr>
          <a:xfrm>
            <a:off x="4857750" y="1619250"/>
            <a:ext cx="6762750" cy="140970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31" name="Rectangle 31"/>
          <p:cNvSpPr/>
          <p:nvPr/>
        </p:nvSpPr>
        <p:spPr>
          <a:xfrm>
            <a:off x="4857750" y="1619250"/>
            <a:ext cx="57150" cy="1409700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5131118" y="1799749"/>
            <a:ext cx="90763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REQUIREMENT</a:t>
            </a:r>
            <a:endParaRPr lang="zh-CN" sz="975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5124450" y="1990725"/>
            <a:ext cx="4981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需求</a:t>
            </a:r>
            <a:endParaRPr lang="zh-CN" sz="1500" b="1" dirty="0">
              <a:solidFill>
                <a:srgbClr val="1F2937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5129212" y="2336006"/>
            <a:ext cx="35529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B5563"/>
                </a:solidFill>
                <a:latin typeface="Segoe UI"/>
                <a:ea typeface="Microsoft YaHei"/>
                <a:cs typeface="Segoe UI"/>
              </a:rPr>
              <a:t>首行新增百分号按钮 · 按键布局从 4 列扩为 5 列</a:t>
            </a:r>
            <a:endParaRPr lang="zh-CN" sz="1125" dirty="0">
              <a:solidFill>
                <a:srgbClr val="4B5563"/>
              </a:solidFill>
              <a:latin typeface="Segoe UI"/>
              <a:ea typeface="Microsoft YaHei"/>
              <a:cs typeface="Segoe UI"/>
            </a:endParaRPr>
          </a:p>
        </p:txBody>
      </p:sp>
      <p:grpSp>
        <p:nvGrpSpPr>
          <p:cNvPr id="46" name="Group 46"/>
          <p:cNvGrpSpPr/>
          <p:nvPr/>
        </p:nvGrpSpPr>
        <p:grpSpPr>
          <a:xfrm>
            <a:off x="5143500" y="2628900"/>
            <a:ext cx="3756469" cy="280988"/>
            <a:chOff x="5143500" y="2628900"/>
            <a:chExt cx="3756469" cy="280988"/>
          </a:xfrm>
        </p:grpSpPr>
        <p:sp>
          <p:nvSpPr>
            <p:cNvPr id="35" name="Rectangle 35"/>
            <p:cNvSpPr/>
            <p:nvPr/>
          </p:nvSpPr>
          <p:spPr>
            <a:xfrm>
              <a:off x="5143500" y="2628900"/>
              <a:ext cx="457200" cy="266700"/>
            </a:xfrm>
            <a:prstGeom prst="roundRect">
              <a:avLst>
                <a:gd name="adj" fmla="val 21429"/>
              </a:avLst>
            </a:prstGeom>
            <a:solidFill>
              <a:srgbClr val="F7F9FC"/>
            </a:solidFill>
            <a:ln w="9525">
              <a:solidFill>
                <a:srgbClr val="E5E7EB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270204" y="2696528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AC</a:t>
              </a:r>
              <a:endParaRPr lang="zh-CN" sz="1050" b="1" dirty="0">
                <a:solidFill>
                  <a:srgbClr val="1F2937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676900" y="2628900"/>
              <a:ext cx="342900" cy="266700"/>
            </a:xfrm>
            <a:prstGeom prst="roundRect">
              <a:avLst>
                <a:gd name="adj" fmla="val 21429"/>
              </a:avLst>
            </a:prstGeom>
            <a:solidFill>
              <a:srgbClr val="F7F9FC"/>
            </a:solidFill>
            <a:ln w="9525">
              <a:solidFill>
                <a:srgbClr val="E5E7EB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790734" y="2696528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(</a:t>
              </a:r>
              <a:endParaRPr lang="zh-CN" sz="1050" b="1" dirty="0">
                <a:solidFill>
                  <a:srgbClr val="1F2937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096000" y="2628900"/>
              <a:ext cx="342900" cy="266700"/>
            </a:xfrm>
            <a:prstGeom prst="roundRect">
              <a:avLst>
                <a:gd name="adj" fmla="val 21429"/>
              </a:avLst>
            </a:prstGeom>
            <a:solidFill>
              <a:srgbClr val="F7F9FC"/>
            </a:solidFill>
            <a:ln w="9525">
              <a:solidFill>
                <a:srgbClr val="E5E7EB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209834" y="2696528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)</a:t>
              </a:r>
              <a:endParaRPr lang="zh-CN" sz="1050" b="1" dirty="0">
                <a:solidFill>
                  <a:srgbClr val="1F2937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515100" y="2628900"/>
              <a:ext cx="342900" cy="266700"/>
            </a:xfrm>
            <a:prstGeom prst="roundRect">
              <a:avLst>
                <a:gd name="adj" fmla="val 21429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628934" y="2696528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%</a:t>
              </a:r>
              <a:endParaRPr lang="zh-CN" sz="1050" b="1" dirty="0">
                <a:solidFill>
                  <a:srgbClr val="FFFFFF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934200" y="2628900"/>
              <a:ext cx="342900" cy="266700"/>
            </a:xfrm>
            <a:prstGeom prst="roundRect">
              <a:avLst>
                <a:gd name="adj" fmla="val 21429"/>
              </a:avLst>
            </a:prstGeom>
            <a:solidFill>
              <a:srgbClr val="F7F9FC"/>
            </a:solidFill>
            <a:ln w="9525">
              <a:solidFill>
                <a:srgbClr val="E5E7EB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048034" y="2696528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÷</a:t>
              </a:r>
              <a:endParaRPr lang="zh-CN" sz="1050" b="1" dirty="0">
                <a:solidFill>
                  <a:srgbClr val="1F2937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418070" y="2712720"/>
              <a:ext cx="148189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← 新增 % 按钮(蓝色高亮)</a:t>
              </a:r>
              <a:endParaRPr lang="zh-CN" sz="900" dirty="0">
                <a:solidFill>
                  <a:srgbClr val="94A3B8"/>
                </a:solidFill>
                <a:latin typeface="Consolas"/>
                <a:ea typeface="Microsoft YaHei"/>
                <a:cs typeface="Consolas"/>
              </a:endParaRPr>
            </a:p>
          </p:txBody>
        </p:sp>
      </p:grpSp>
      <p:sp>
        <p:nvSpPr>
          <p:cNvPr id="47" name="Rectangle 47"/>
          <p:cNvSpPr/>
          <p:nvPr/>
        </p:nvSpPr>
        <p:spPr>
          <a:xfrm>
            <a:off x="4857750" y="3181350"/>
            <a:ext cx="6762750" cy="140970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48" name="Rectangle 48"/>
          <p:cNvSpPr/>
          <p:nvPr/>
        </p:nvSpPr>
        <p:spPr>
          <a:xfrm>
            <a:off x="4857750" y="3181350"/>
            <a:ext cx="57150" cy="1409700"/>
          </a:xfrm>
          <a:prstGeom prst="roundRect">
            <a:avLst>
              <a:gd name="adj" fmla="val 50000"/>
            </a:avLst>
          </a:prstGeom>
          <a:solidFill>
            <a:srgbClr val="0288D1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5131118" y="3361849"/>
            <a:ext cx="4590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DESIGN</a:t>
            </a:r>
            <a:endParaRPr lang="zh-CN" sz="975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5124450" y="3552825"/>
            <a:ext cx="237289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设计 · 零侵入既有按钮</a:t>
            </a:r>
            <a:endParaRPr lang="zh-CN" sz="1500" b="1" dirty="0">
              <a:solidFill>
                <a:srgbClr val="1F2937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5129212" y="3840956"/>
            <a:ext cx="395549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B5563"/>
                </a:solidFill>
                <a:latin typeface="Segoe UI"/>
                <a:ea typeface="Microsoft YaHei"/>
                <a:cs typeface="Segoe UI"/>
              </a:rPr>
              <a:t>新增独立 Builder 函数,既有 BtnOp/BtnAct 完全不动</a:t>
            </a:r>
            <a:endParaRPr lang="zh-CN" sz="1125" dirty="0">
              <a:solidFill>
                <a:srgbClr val="4B5563"/>
              </a:solidFill>
              <a:latin typeface="Segoe UI"/>
              <a:ea typeface="Microsoft YaHei"/>
              <a:cs typeface="Segoe UI"/>
            </a:endParaRPr>
          </a:p>
        </p:txBody>
      </p:sp>
      <p:grpSp>
        <p:nvGrpSpPr>
          <p:cNvPr id="57" name="Group 57"/>
          <p:cNvGrpSpPr/>
          <p:nvPr/>
        </p:nvGrpSpPr>
        <p:grpSpPr>
          <a:xfrm>
            <a:off x="5143500" y="4095750"/>
            <a:ext cx="4733163" cy="342900"/>
            <a:chOff x="5143500" y="4095750"/>
            <a:chExt cx="4733163" cy="342900"/>
          </a:xfrm>
        </p:grpSpPr>
        <p:sp>
          <p:nvSpPr>
            <p:cNvPr id="52" name="Rectangle 52"/>
            <p:cNvSpPr/>
            <p:nvPr/>
          </p:nvSpPr>
          <p:spPr>
            <a:xfrm>
              <a:off x="5143500" y="4095750"/>
              <a:ext cx="1619250" cy="342900"/>
            </a:xfrm>
            <a:prstGeom prst="roundRect">
              <a:avLst>
                <a:gd name="adj" fmla="val 16667"/>
              </a:avLst>
            </a:prstGeom>
            <a:solidFill>
              <a:srgbClr val="F7F9FC"/>
            </a:solidFill>
            <a:ln w="9525">
              <a:solidFill>
                <a:srgbClr val="E5E7EB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314188" y="4209574"/>
              <a:ext cx="12778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0288D1"/>
                  </a:solidFill>
                  <a:latin typeface="Consolas"/>
                  <a:ea typeface="Microsoft YaHei"/>
                  <a:cs typeface="Consolas"/>
                </a:rPr>
                <a:t>@Builder BtnOp5()</a:t>
              </a:r>
              <a:endParaRPr lang="zh-CN" sz="975" dirty="0">
                <a:solidFill>
                  <a:srgbClr val="0288D1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877050" y="4095750"/>
              <a:ext cx="1619250" cy="342900"/>
            </a:xfrm>
            <a:prstGeom prst="roundRect">
              <a:avLst>
                <a:gd name="adj" fmla="val 16667"/>
              </a:avLst>
            </a:prstGeom>
            <a:solidFill>
              <a:srgbClr val="F7F9FC"/>
            </a:solidFill>
            <a:ln w="9525">
              <a:solidFill>
                <a:srgbClr val="E5E7EB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022818" y="4209574"/>
              <a:ext cx="13277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0288D1"/>
                  </a:solidFill>
                  <a:latin typeface="Consolas"/>
                  <a:ea typeface="Microsoft YaHei"/>
                  <a:cs typeface="Consolas"/>
                </a:rPr>
                <a:t>@Builder BtnAct5()</a:t>
              </a:r>
              <a:endParaRPr lang="zh-CN" sz="975" dirty="0">
                <a:solidFill>
                  <a:srgbClr val="0288D1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618220" y="4217670"/>
              <a:ext cx="125844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 panose="020B0604020202090204"/>
                  <a:ea typeface="Microsoft YaHei"/>
                  <a:cs typeface="Arial" panose="020B0604020202090204"/>
                </a:rPr>
                <a:t>width 18% · 5 列网格</a:t>
              </a:r>
              <a:endParaRPr lang="zh-CN" sz="900" dirty="0">
                <a:solidFill>
                  <a:srgbClr val="94A3B8"/>
                </a:solidFill>
                <a:latin typeface="Arial" panose="020B0604020202090204"/>
                <a:ea typeface="Microsoft YaHei"/>
                <a:cs typeface="Arial" panose="020B0604020202090204"/>
              </a:endParaRPr>
            </a:p>
          </p:txBody>
        </p:sp>
      </p:grpSp>
      <p:sp>
        <p:nvSpPr>
          <p:cNvPr id="58" name="Rectangle 58"/>
          <p:cNvSpPr/>
          <p:nvPr/>
        </p:nvSpPr>
        <p:spPr>
          <a:xfrm>
            <a:off x="4857750" y="4743450"/>
            <a:ext cx="6762750" cy="1447800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59" name="Rectangle 59"/>
          <p:cNvSpPr/>
          <p:nvPr/>
        </p:nvSpPr>
        <p:spPr>
          <a:xfrm>
            <a:off x="4857750" y="4743450"/>
            <a:ext cx="57150" cy="14478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5131118" y="4923949"/>
            <a:ext cx="7509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ALGORITHM</a:t>
            </a:r>
            <a:endParaRPr lang="zh-CN" sz="975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61" name="TextBox 61"/>
          <p:cNvSpPr txBox="1"/>
          <p:nvPr/>
        </p:nvSpPr>
        <p:spPr>
          <a:xfrm>
            <a:off x="5124450" y="5114925"/>
            <a:ext cx="26374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算法 · 智能 % 语义已存在</a:t>
            </a:r>
            <a:endParaRPr lang="zh-CN" sz="1500" b="1" dirty="0">
              <a:solidFill>
                <a:srgbClr val="1F2937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62" name="TextBox 62"/>
          <p:cNvSpPr txBox="1"/>
          <p:nvPr/>
        </p:nvSpPr>
        <p:spPr>
          <a:xfrm>
            <a:off x="5129212" y="5403056"/>
            <a:ext cx="480988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4B5563"/>
                </a:solidFill>
                <a:latin typeface="Segoe UI"/>
                <a:ea typeface="Microsoft YaHei"/>
                <a:cs typeface="Segoe UI"/>
              </a:rPr>
              <a:t>getPercentString() 已支持上下文感知 · 无需新增任何运算逻辑</a:t>
            </a:r>
            <a:endParaRPr lang="zh-CN" sz="1125" dirty="0">
              <a:solidFill>
                <a:srgbClr val="4B5563"/>
              </a:solidFill>
              <a:latin typeface="Segoe UI"/>
              <a:ea typeface="Microsoft YaHei"/>
              <a:cs typeface="Segoe UI"/>
            </a:endParaRPr>
          </a:p>
        </p:txBody>
      </p:sp>
      <p:grpSp>
        <p:nvGrpSpPr>
          <p:cNvPr id="65" name="Group 65"/>
          <p:cNvGrpSpPr/>
          <p:nvPr/>
        </p:nvGrpSpPr>
        <p:grpSpPr>
          <a:xfrm>
            <a:off x="5131118" y="5704999"/>
            <a:ext cx="2687622" cy="388620"/>
            <a:chOff x="5131118" y="5704999"/>
            <a:chExt cx="2687622" cy="388620"/>
          </a:xfrm>
        </p:grpSpPr>
        <p:sp>
          <p:nvSpPr>
            <p:cNvPr id="63" name="TextBox 63"/>
            <p:cNvSpPr txBox="1"/>
            <p:nvPr/>
          </p:nvSpPr>
          <p:spPr>
            <a:xfrm>
              <a:off x="5131118" y="5704999"/>
              <a:ext cx="268762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B5563"/>
                  </a:solidFill>
                  <a:latin typeface="Consolas"/>
                  <a:ea typeface="Microsoft YaHei"/>
                  <a:cs typeface="Consolas"/>
                </a:rPr>
                <a:t>· 50 + 10% → 55 (加法语境 → 取 50 的 10%)</a:t>
              </a:r>
              <a:endParaRPr lang="zh-CN" sz="975" dirty="0">
                <a:solidFill>
                  <a:srgbClr val="4B5563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5131118" y="5895499"/>
              <a:ext cx="24241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B5563"/>
                  </a:solidFill>
                  <a:latin typeface="Consolas"/>
                  <a:ea typeface="Microsoft YaHei"/>
                  <a:cs typeface="Consolas"/>
                </a:rPr>
                <a:t>· 50 × 10% → 5 (乘法语境 → 取 10/100)</a:t>
              </a:r>
              <a:endParaRPr lang="zh-CN" sz="975" dirty="0">
                <a:solidFill>
                  <a:srgbClr val="4B5563"/>
                </a:solidFill>
                <a:latin typeface="Consolas"/>
                <a:ea typeface="Microsoft YaHei"/>
                <a:cs typeface="Consolas"/>
              </a:endParaRPr>
            </a:p>
          </p:txBody>
        </p:sp>
      </p:grpSp>
      <p:sp>
        <p:nvSpPr>
          <p:cNvPr id="66" name="Line 66"/>
          <p:cNvSpPr/>
          <p:nvPr/>
        </p:nvSpPr>
        <p:spPr>
          <a:xfrm>
            <a:off x="571500" y="64770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67" name="TextBox 67"/>
          <p:cNvSpPr txBox="1"/>
          <p:nvPr/>
        </p:nvSpPr>
        <p:spPr>
          <a:xfrm>
            <a:off x="561975" y="6586538"/>
            <a:ext cx="219336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OpenCalc HarmonyOS Demo · 客户实验手册</a:t>
            </a:r>
            <a:endParaRPr lang="zh-CN" sz="750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68" name="TextBox 68"/>
          <p:cNvSpPr txBox="1"/>
          <p:nvPr/>
        </p:nvSpPr>
        <p:spPr>
          <a:xfrm>
            <a:off x="11271409" y="6586538"/>
            <a:ext cx="35861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06 / 16</a:t>
            </a:r>
            <a:endParaRPr lang="zh-CN" sz="750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1020" y="598170"/>
            <a:ext cx="374142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核心改动 + 5 用例验证</a:t>
            </a:r>
            <a:endParaRPr lang="zh-CN" sz="2400" b="1" dirty="0">
              <a:solidFill>
                <a:srgbClr val="1F2937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4" name="Rectangle 4"/>
          <p:cNvSpPr/>
          <p:nvPr/>
        </p:nvSpPr>
        <p:spPr>
          <a:xfrm>
            <a:off x="571500" y="952500"/>
            <a:ext cx="7620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565C0"/>
              </a:gs>
              <a:gs pos="100000">
                <a:srgbClr val="0288D1"/>
              </a:gs>
            </a:gsLst>
            <a:lin ang="0" scaled="1"/>
          </a:gra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203990" y="743902"/>
            <a:ext cx="14298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Demo 1 — 百分号按钮</a:t>
            </a:r>
            <a:endParaRPr lang="zh-CN" sz="1050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56260" y="1156335"/>
            <a:ext cx="54635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B5563"/>
                </a:solidFill>
                <a:latin typeface="Segoe UI"/>
                <a:ea typeface="Microsoft YaHei"/>
                <a:cs typeface="Segoe UI"/>
              </a:rPr>
              <a:t>上半:Builder 片段(width 18% / 首行 5 列) · 下半:数学验证 + UI 验证</a:t>
            </a:r>
            <a:endParaRPr lang="zh-CN" sz="1200" dirty="0">
              <a:solidFill>
                <a:srgbClr val="4B5563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7" name="Rectangle 7"/>
          <p:cNvSpPr/>
          <p:nvPr/>
        </p:nvSpPr>
        <p:spPr>
          <a:xfrm>
            <a:off x="571500" y="1524000"/>
            <a:ext cx="11049000" cy="2667000"/>
          </a:xfrm>
          <a:prstGeom prst="roundRect">
            <a:avLst>
              <a:gd name="adj" fmla="val 3571"/>
            </a:avLst>
          </a:prstGeom>
          <a:solidFill>
            <a:srgbClr val="0F172A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524000"/>
            <a:ext cx="11049000" cy="381000"/>
          </a:xfrm>
          <a:prstGeom prst="roundRect">
            <a:avLst>
              <a:gd name="adj" fmla="val 25000"/>
            </a:avLst>
          </a:prstGeom>
          <a:solidFill>
            <a:srgbClr val="1F2937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571500" y="1809750"/>
            <a:ext cx="11049000" cy="95250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742950" y="1657350"/>
            <a:ext cx="114300" cy="11430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933450" y="1657350"/>
            <a:ext cx="114300" cy="11430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1123950" y="1657350"/>
            <a:ext cx="114300" cy="11430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511618" y="1656874"/>
            <a:ext cx="353489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Consolas"/>
                <a:ea typeface="Microsoft YaHei"/>
                <a:cs typeface="Consolas"/>
              </a:rPr>
              <a:t>CalculatorPage.ets · @Builder BtnOp5() · 新增 6 行</a:t>
            </a:r>
            <a:endParaRPr lang="zh-CN" sz="975" dirty="0">
              <a:solidFill>
                <a:srgbClr val="94A3B8"/>
              </a:solidFill>
              <a:latin typeface="Consolas"/>
              <a:ea typeface="Microsoft YaHei"/>
              <a:cs typeface="Consolas"/>
            </a:endParaRPr>
          </a:p>
        </p:txBody>
      </p:sp>
      <p:grpSp>
        <p:nvGrpSpPr>
          <p:cNvPr id="37" name="Group 37"/>
          <p:cNvGrpSpPr/>
          <p:nvPr/>
        </p:nvGrpSpPr>
        <p:grpSpPr>
          <a:xfrm>
            <a:off x="785812" y="2088356"/>
            <a:ext cx="7219593" cy="2133600"/>
            <a:chOff x="785812" y="2088356"/>
            <a:chExt cx="7219593" cy="2133600"/>
          </a:xfrm>
        </p:grpSpPr>
        <p:sp>
          <p:nvSpPr>
            <p:cNvPr id="14" name="TextBox 14"/>
            <p:cNvSpPr txBox="1"/>
            <p:nvPr/>
          </p:nvSpPr>
          <p:spPr>
            <a:xfrm>
              <a:off x="785812" y="2088356"/>
              <a:ext cx="1682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Consolas"/>
                  <a:ea typeface="Microsoft YaHei"/>
                  <a:cs typeface="Consolas"/>
                </a:rPr>
                <a:t>10</a:t>
              </a:r>
              <a:endParaRPr lang="zh-CN" sz="1125" dirty="0">
                <a:solidFill>
                  <a:srgbClr val="475569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28712" y="2088356"/>
              <a:ext cx="444019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// 既有 4 列 Builder 完全不动,以下为新增首行 5 列 Builder</a:t>
              </a:r>
              <a:endParaRPr lang="zh-CN" sz="1125" dirty="0">
                <a:solidFill>
                  <a:srgbClr val="94A3B8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85812" y="2316956"/>
              <a:ext cx="12715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Consolas"/>
                  <a:ea typeface="Microsoft YaHei"/>
                  <a:cs typeface="Consolas"/>
                </a:rPr>
                <a:t>11</a:t>
              </a:r>
              <a:endParaRPr lang="zh-CN" sz="1125" dirty="0">
                <a:solidFill>
                  <a:srgbClr val="475569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28712" y="2316956"/>
              <a:ext cx="6693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DD3FC"/>
                  </a:solidFill>
                  <a:latin typeface="Consolas"/>
                  <a:ea typeface="Microsoft YaHei"/>
                  <a:cs typeface="Consolas"/>
                </a:rPr>
                <a:t>@Builder</a:t>
              </a:r>
              <a:endParaRPr lang="zh-CN" sz="1125" dirty="0">
                <a:solidFill>
                  <a:srgbClr val="7DD3FC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890712" y="2316956"/>
              <a:ext cx="407050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BtnOp5(symbol: string, fn: (s: string) =&gt; void) {</a:t>
              </a:r>
              <a:endParaRPr lang="zh-CN" sz="1125" dirty="0">
                <a:solidFill>
                  <a:srgbClr val="FFFFFF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85812" y="2545556"/>
              <a:ext cx="1682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Consolas"/>
                  <a:ea typeface="Microsoft YaHei"/>
                  <a:cs typeface="Consolas"/>
                </a:rPr>
                <a:t>12</a:t>
              </a:r>
              <a:endParaRPr lang="zh-CN" sz="1125" dirty="0">
                <a:solidFill>
                  <a:srgbClr val="475569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319212" y="2545556"/>
              <a:ext cx="11047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Text(symbol)</a:t>
              </a:r>
              <a:endParaRPr lang="zh-CN" sz="1125" dirty="0">
                <a:solidFill>
                  <a:srgbClr val="FFFFFF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85812" y="2774156"/>
              <a:ext cx="1682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Consolas"/>
                  <a:ea typeface="Microsoft YaHei"/>
                  <a:cs typeface="Consolas"/>
                </a:rPr>
                <a:t>13</a:t>
              </a:r>
              <a:endParaRPr lang="zh-CN" sz="1125" dirty="0">
                <a:solidFill>
                  <a:srgbClr val="475569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509712" y="2774156"/>
              <a:ext cx="11540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BBF24"/>
                  </a:solidFill>
                  <a:latin typeface="Consolas"/>
                  <a:ea typeface="Microsoft YaHei"/>
                  <a:cs typeface="Consolas"/>
                </a:rPr>
                <a:t>.width('18%')</a:t>
              </a:r>
              <a:endParaRPr lang="zh-CN" sz="1125" dirty="0">
                <a:solidFill>
                  <a:srgbClr val="FBBF24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690812" y="2774156"/>
              <a:ext cx="265747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// ← 5 列网格:18% × 5 + 间距 ≈ 100%</a:t>
              </a:r>
              <a:endParaRPr lang="zh-CN" sz="1125" dirty="0">
                <a:solidFill>
                  <a:srgbClr val="94A3B8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5812" y="3002756"/>
              <a:ext cx="1682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Consolas"/>
                  <a:ea typeface="Microsoft YaHei"/>
                  <a:cs typeface="Consolas"/>
                </a:rPr>
                <a:t>14</a:t>
              </a:r>
              <a:endParaRPr lang="zh-CN" sz="1125" dirty="0">
                <a:solidFill>
                  <a:srgbClr val="475569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509712" y="3002756"/>
              <a:ext cx="139231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BBF24"/>
                  </a:solidFill>
                  <a:latin typeface="Consolas"/>
                  <a:ea typeface="Microsoft YaHei"/>
                  <a:cs typeface="Consolas"/>
                </a:rPr>
                <a:t>.height('12.5%')</a:t>
              </a:r>
              <a:endParaRPr lang="zh-CN" sz="1125" dirty="0">
                <a:solidFill>
                  <a:srgbClr val="FBBF24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033712" y="3002756"/>
              <a:ext cx="11622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.fontSize(28)</a:t>
              </a:r>
              <a:endParaRPr lang="zh-CN" sz="1125" dirty="0">
                <a:solidFill>
                  <a:srgbClr val="94A3B8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85812" y="3231356"/>
              <a:ext cx="1682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Consolas"/>
                  <a:ea typeface="Microsoft YaHei"/>
                  <a:cs typeface="Consolas"/>
                </a:rPr>
                <a:t>15</a:t>
              </a:r>
              <a:endParaRPr lang="zh-CN" sz="1125" dirty="0">
                <a:solidFill>
                  <a:srgbClr val="475569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509712" y="3231356"/>
              <a:ext cx="6693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BBF24"/>
                  </a:solidFill>
                  <a:latin typeface="Consolas"/>
                  <a:ea typeface="Microsoft YaHei"/>
                  <a:cs typeface="Consolas"/>
                </a:rPr>
                <a:t>.onClick</a:t>
              </a:r>
              <a:endParaRPr lang="zh-CN" sz="1125" dirty="0">
                <a:solidFill>
                  <a:srgbClr val="FBBF24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271712" y="3231356"/>
              <a:ext cx="15648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(() =&gt; fn(symbol))</a:t>
              </a:r>
              <a:endParaRPr lang="zh-CN" sz="1125" dirty="0">
                <a:solidFill>
                  <a:srgbClr val="FFFFFF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85812" y="3459956"/>
              <a:ext cx="1682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Consolas"/>
                  <a:ea typeface="Microsoft YaHei"/>
                  <a:cs typeface="Consolas"/>
                </a:rPr>
                <a:t>16</a:t>
              </a:r>
              <a:endParaRPr lang="zh-CN" sz="1125" dirty="0">
                <a:solidFill>
                  <a:srgbClr val="475569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28712" y="3459956"/>
              <a:ext cx="11894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}</a:t>
              </a:r>
              <a:endParaRPr lang="zh-CN" sz="1125" dirty="0">
                <a:solidFill>
                  <a:srgbClr val="FFFFFF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85812" y="3764756"/>
              <a:ext cx="2093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Consolas"/>
                  <a:ea typeface="Microsoft YaHei"/>
                  <a:cs typeface="Consolas"/>
                </a:rPr>
                <a:t>42</a:t>
              </a:r>
              <a:endParaRPr lang="zh-CN" sz="1125" dirty="0">
                <a:solidFill>
                  <a:srgbClr val="475569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28712" y="3764756"/>
              <a:ext cx="202489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// ToggleRow 内首行调用:</a:t>
              </a:r>
              <a:endParaRPr lang="zh-CN" sz="1125" dirty="0">
                <a:solidFill>
                  <a:srgbClr val="94A3B8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85812" y="3993356"/>
              <a:ext cx="2093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Consolas"/>
                  <a:ea typeface="Microsoft YaHei"/>
                  <a:cs typeface="Consolas"/>
                </a:rPr>
                <a:t>43</a:t>
              </a:r>
              <a:endParaRPr lang="zh-CN" sz="1125" dirty="0">
                <a:solidFill>
                  <a:srgbClr val="475569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28712" y="3993356"/>
              <a:ext cx="341328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this.BtnOp5('%', s =&gt; this.appendOp(s))</a:t>
              </a:r>
              <a:endParaRPr lang="zh-CN" sz="1125" dirty="0">
                <a:solidFill>
                  <a:srgbClr val="FFFFFF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748212" y="3993356"/>
              <a:ext cx="325719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// 复用既有 getPercentString() 智能语义</a:t>
              </a:r>
              <a:endParaRPr lang="zh-CN" sz="1125" dirty="0">
                <a:solidFill>
                  <a:srgbClr val="94A3B8"/>
                </a:solidFill>
                <a:latin typeface="Consolas"/>
                <a:ea typeface="Microsoft YaHei"/>
                <a:cs typeface="Consolas"/>
              </a:endParaRP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552450" y="4371975"/>
            <a:ext cx="346552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5 用例验证 · Pura 80 模拟器实测</a:t>
            </a:r>
            <a:endParaRPr lang="zh-CN" sz="1500" b="1" dirty="0">
              <a:solidFill>
                <a:srgbClr val="1F2937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39" name="Line 39"/>
          <p:cNvSpPr/>
          <p:nvPr/>
        </p:nvSpPr>
        <p:spPr>
          <a:xfrm>
            <a:off x="571500" y="4629150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19050">
            <a:solidFill>
              <a:srgbClr val="1565C0"/>
            </a:solidFill>
          </a:ln>
        </p:spPr>
      </p:sp>
      <p:grpSp>
        <p:nvGrpSpPr>
          <p:cNvPr id="65" name="Group 65"/>
          <p:cNvGrpSpPr/>
          <p:nvPr/>
        </p:nvGrpSpPr>
        <p:grpSpPr>
          <a:xfrm>
            <a:off x="571500" y="4857750"/>
            <a:ext cx="11049000" cy="1333500"/>
            <a:chOff x="571500" y="4857750"/>
            <a:chExt cx="11049000" cy="1333500"/>
          </a:xfrm>
        </p:grpSpPr>
        <p:sp>
          <p:nvSpPr>
            <p:cNvPr id="40" name="Rectangle 40"/>
            <p:cNvSpPr/>
            <p:nvPr/>
          </p:nvSpPr>
          <p:spPr>
            <a:xfrm>
              <a:off x="571500" y="4857750"/>
              <a:ext cx="2057400" cy="1333500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4288">
              <a:solidFill>
                <a:srgbClr val="10B981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49618" y="5019199"/>
              <a:ext cx="11283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用例 1 · 加法语境</a:t>
              </a:r>
              <a:endParaRPr lang="zh-CN" sz="975" dirty="0">
                <a:solidFill>
                  <a:srgbClr val="94A3B8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42950" y="5286375"/>
              <a:ext cx="8777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50 + 10%</a:t>
              </a:r>
              <a:endParaRPr lang="zh-CN" sz="1500" b="1" dirty="0">
                <a:solidFill>
                  <a:srgbClr val="1F2937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49618" y="5609749"/>
              <a:ext cx="7581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B5563"/>
                  </a:solidFill>
                  <a:latin typeface="Segoe UI"/>
                  <a:ea typeface="Microsoft YaHei"/>
                  <a:cs typeface="Segoe UI"/>
                </a:rPr>
                <a:t>期望 ▸ 实测</a:t>
              </a:r>
              <a:endParaRPr lang="zh-CN" sz="975" dirty="0">
                <a:solidFill>
                  <a:srgbClr val="4B5563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41045" y="5765482"/>
              <a:ext cx="53532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0B981"/>
                  </a:solidFill>
                  <a:latin typeface="Consolas"/>
                  <a:ea typeface="Microsoft YaHei"/>
                  <a:cs typeface="Consolas"/>
                </a:rPr>
                <a:t>55 ✓</a:t>
              </a:r>
              <a:endParaRPr lang="zh-CN" sz="1650" b="1" dirty="0">
                <a:solidFill>
                  <a:srgbClr val="10B981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2819400" y="4857750"/>
              <a:ext cx="2057400" cy="1333500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4288">
              <a:solidFill>
                <a:srgbClr val="10B981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2997518" y="5019199"/>
              <a:ext cx="11639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用例 2 · 减法语境</a:t>
              </a:r>
              <a:endParaRPr lang="zh-CN" sz="975" dirty="0">
                <a:solidFill>
                  <a:srgbClr val="94A3B8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990850" y="5286375"/>
              <a:ext cx="8777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50 − 10%</a:t>
              </a:r>
              <a:endParaRPr lang="zh-CN" sz="1500" b="1" dirty="0">
                <a:solidFill>
                  <a:srgbClr val="1F2937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997518" y="5609749"/>
              <a:ext cx="7581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B5563"/>
                  </a:solidFill>
                  <a:latin typeface="Segoe UI"/>
                  <a:ea typeface="Microsoft YaHei"/>
                  <a:cs typeface="Segoe UI"/>
                </a:rPr>
                <a:t>期望 ▸ 实测</a:t>
              </a:r>
              <a:endParaRPr lang="zh-CN" sz="975" dirty="0">
                <a:solidFill>
                  <a:srgbClr val="4B5563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2988945" y="5765482"/>
              <a:ext cx="53532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0B981"/>
                  </a:solidFill>
                  <a:latin typeface="Consolas"/>
                  <a:ea typeface="Microsoft YaHei"/>
                  <a:cs typeface="Consolas"/>
                </a:rPr>
                <a:t>45 ✓</a:t>
              </a:r>
              <a:endParaRPr lang="zh-CN" sz="1650" b="1" dirty="0">
                <a:solidFill>
                  <a:srgbClr val="10B981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067300" y="4857750"/>
              <a:ext cx="2057400" cy="1333500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4288">
              <a:solidFill>
                <a:srgbClr val="10B981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245418" y="5019199"/>
              <a:ext cx="11639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用例 3 · 乘法语境</a:t>
              </a:r>
              <a:endParaRPr lang="zh-CN" sz="975" dirty="0">
                <a:solidFill>
                  <a:srgbClr val="94A3B8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238750" y="5286375"/>
              <a:ext cx="8777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50 × 10%</a:t>
              </a:r>
              <a:endParaRPr lang="zh-CN" sz="1500" b="1" dirty="0">
                <a:solidFill>
                  <a:srgbClr val="1F2937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245418" y="5609749"/>
              <a:ext cx="7581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B5563"/>
                  </a:solidFill>
                  <a:latin typeface="Segoe UI"/>
                  <a:ea typeface="Microsoft YaHei"/>
                  <a:cs typeface="Segoe UI"/>
                </a:rPr>
                <a:t>期望 ▸ 实测</a:t>
              </a:r>
              <a:endParaRPr lang="zh-CN" sz="975" dirty="0">
                <a:solidFill>
                  <a:srgbClr val="4B5563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236845" y="5765482"/>
              <a:ext cx="3961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0B981"/>
                  </a:solidFill>
                  <a:latin typeface="Consolas"/>
                  <a:ea typeface="Microsoft YaHei"/>
                  <a:cs typeface="Consolas"/>
                </a:rPr>
                <a:t>5 ✓</a:t>
              </a:r>
              <a:endParaRPr lang="zh-CN" sz="1650" b="1" dirty="0">
                <a:solidFill>
                  <a:srgbClr val="10B981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7315200" y="4857750"/>
              <a:ext cx="2057400" cy="1333500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4288">
              <a:solidFill>
                <a:srgbClr val="10B981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493318" y="5019199"/>
              <a:ext cx="11425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用例 4 · 单独按 %</a:t>
              </a:r>
              <a:endParaRPr lang="zh-CN" sz="975" dirty="0">
                <a:solidFill>
                  <a:srgbClr val="94A3B8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486650" y="5286375"/>
              <a:ext cx="48665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25 %</a:t>
              </a:r>
              <a:endParaRPr lang="zh-CN" sz="1500" b="1" dirty="0">
                <a:solidFill>
                  <a:srgbClr val="1F2937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493318" y="5609749"/>
              <a:ext cx="7581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B5563"/>
                  </a:solidFill>
                  <a:latin typeface="Segoe UI"/>
                  <a:ea typeface="Microsoft YaHei"/>
                  <a:cs typeface="Segoe UI"/>
                </a:rPr>
                <a:t>期望 ▸ 实测</a:t>
              </a:r>
              <a:endParaRPr lang="zh-CN" sz="975" dirty="0">
                <a:solidFill>
                  <a:srgbClr val="4B5563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484745" y="5765482"/>
              <a:ext cx="81365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0B981"/>
                  </a:solidFill>
                  <a:latin typeface="Consolas"/>
                  <a:ea typeface="Microsoft YaHei"/>
                  <a:cs typeface="Consolas"/>
                </a:rPr>
                <a:t>0.25 ✓</a:t>
              </a:r>
              <a:endParaRPr lang="zh-CN" sz="1650" b="1" dirty="0">
                <a:solidFill>
                  <a:srgbClr val="10B981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9563100" y="4857750"/>
              <a:ext cx="2057400" cy="1333500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4288">
              <a:solidFill>
                <a:srgbClr val="10B981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9741218" y="5019199"/>
              <a:ext cx="11639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用例 5 · 横屏布局</a:t>
              </a:r>
              <a:endParaRPr lang="zh-CN" sz="975" dirty="0">
                <a:solidFill>
                  <a:srgbClr val="94A3B8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736455" y="5302568"/>
              <a:ext cx="8313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5 列首行</a:t>
              </a:r>
              <a:endParaRPr lang="zh-CN" sz="13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741218" y="5609749"/>
              <a:ext cx="10429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B5563"/>
                  </a:solidFill>
                  <a:latin typeface="Segoe UI"/>
                  <a:ea typeface="Microsoft YaHei"/>
                  <a:cs typeface="Segoe UI"/>
                </a:rPr>
                <a:t>不溢出 / 不裁切</a:t>
              </a:r>
              <a:endParaRPr lang="zh-CN" sz="975" dirty="0">
                <a:solidFill>
                  <a:srgbClr val="4B5563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732645" y="5765482"/>
              <a:ext cx="81365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0B981"/>
                  </a:solidFill>
                  <a:latin typeface="Consolas"/>
                  <a:ea typeface="Microsoft YaHei"/>
                  <a:cs typeface="Consolas"/>
                </a:rPr>
                <a:t>PASS ✓</a:t>
              </a:r>
              <a:endParaRPr lang="zh-CN" sz="1650" b="1" dirty="0">
                <a:solidFill>
                  <a:srgbClr val="10B981"/>
                </a:solidFill>
                <a:latin typeface="Consolas"/>
                <a:ea typeface="Microsoft YaHei"/>
                <a:cs typeface="Consolas"/>
              </a:endParaRPr>
            </a:p>
          </p:txBody>
        </p:sp>
      </p:grpSp>
      <p:sp>
        <p:nvSpPr>
          <p:cNvPr id="66" name="Line 66"/>
          <p:cNvSpPr/>
          <p:nvPr/>
        </p:nvSpPr>
        <p:spPr>
          <a:xfrm>
            <a:off x="571500" y="64770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67" name="TextBox 67"/>
          <p:cNvSpPr txBox="1"/>
          <p:nvPr/>
        </p:nvSpPr>
        <p:spPr>
          <a:xfrm>
            <a:off x="561975" y="6586538"/>
            <a:ext cx="219336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OpenCalc HarmonyOS Demo · 客户实验手册</a:t>
            </a:r>
            <a:endParaRPr lang="zh-CN" sz="750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68" name="TextBox 68"/>
          <p:cNvSpPr txBox="1"/>
          <p:nvPr/>
        </p:nvSpPr>
        <p:spPr>
          <a:xfrm>
            <a:off x="11271409" y="6586538"/>
            <a:ext cx="35861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07 / 16</a:t>
            </a:r>
            <a:endParaRPr lang="zh-CN" sz="750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1020" y="598170"/>
            <a:ext cx="3373374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需求 2 — 小费计算器</a:t>
            </a:r>
            <a:endParaRPr lang="zh-CN" sz="2400" b="1" dirty="0">
              <a:solidFill>
                <a:srgbClr val="1F2937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4" name="Rectangle 4"/>
          <p:cNvSpPr/>
          <p:nvPr/>
        </p:nvSpPr>
        <p:spPr>
          <a:xfrm>
            <a:off x="571500" y="952500"/>
            <a:ext cx="7620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565C0"/>
              </a:gs>
              <a:gs pos="100000">
                <a:srgbClr val="0288D1"/>
              </a:gs>
            </a:gsLst>
            <a:lin ang="0" scaled="1"/>
          </a:gra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848070" y="743902"/>
            <a:ext cx="78576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Demo 2 / 3</a:t>
            </a:r>
            <a:endParaRPr lang="zh-CN" sz="1050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54355" y="1140142"/>
            <a:ext cx="399883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288D1"/>
                </a:solidFill>
                <a:latin typeface="Segoe UI"/>
                <a:ea typeface="Microsoft YaHei"/>
                <a:cs typeface="Segoe UI"/>
              </a:rPr>
              <a:t>复杂度 S · 首个独立页面改造 · 主页零侵入</a:t>
            </a:r>
            <a:endParaRPr lang="zh-CN" sz="1350" b="1" dirty="0">
              <a:solidFill>
                <a:srgbClr val="0288D1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7" name="Rectangle 7"/>
          <p:cNvSpPr/>
          <p:nvPr/>
        </p:nvSpPr>
        <p:spPr>
          <a:xfrm>
            <a:off x="571500" y="1619250"/>
            <a:ext cx="4095750" cy="457200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E5E7EB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748665" y="1867852"/>
            <a:ext cx="89311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COMPLEXITY</a:t>
            </a:r>
            <a:endParaRPr lang="zh-CN" sz="1050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647700" y="1695450"/>
            <a:ext cx="987695" cy="182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0" b="1" dirty="0">
                <a:gradFill>
                  <a:gsLst>
                    <a:gs pos="0">
                      <a:srgbClr val="1565C0"/>
                    </a:gs>
                    <a:gs pos="100000">
                      <a:srgbClr val="0288D1"/>
                    </a:gs>
                  </a:gsLst>
                  <a:lin ang="0" scaled="1"/>
                </a:gradFill>
                <a:latin typeface="Segoe UI"/>
                <a:ea typeface="Microsoft YaHei"/>
                <a:cs typeface="Segoe UI"/>
              </a:rPr>
              <a:t>S</a:t>
            </a:r>
            <a:endParaRPr lang="zh-CN" sz="9000" b="1" dirty="0">
              <a:gradFill>
                <a:gsLst>
                  <a:gs pos="0">
                    <a:srgbClr val="1565C0"/>
                  </a:gs>
                  <a:gs pos="100000">
                    <a:srgbClr val="0288D1"/>
                  </a:gs>
                </a:gsLst>
                <a:lin ang="0" scaled="1"/>
              </a:gradFill>
              <a:latin typeface="Segoe UI"/>
              <a:ea typeface="Microsoft YaHei"/>
              <a:cs typeface="Segoe UI"/>
            </a:endParaRPr>
          </a:p>
        </p:txBody>
      </p:sp>
      <p:sp>
        <p:nvSpPr>
          <p:cNvPr id="10" name="Line 10"/>
          <p:cNvSpPr/>
          <p:nvPr/>
        </p:nvSpPr>
        <p:spPr>
          <a:xfrm>
            <a:off x="762000" y="2838450"/>
            <a:ext cx="952500" cy="9525"/>
          </a:xfrm>
          <a:custGeom>
            <a:avLst/>
            <a:gdLst/>
            <a:ahLst/>
            <a:cxnLst/>
            <a:rect l="l" t="t" r="r" b="b"/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/>
          <a:ln w="19050">
            <a:solidFill>
              <a:srgbClr val="0288D1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748665" y="2972752"/>
            <a:ext cx="127649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B5563"/>
                </a:solidFill>
                <a:latin typeface="Segoe UI"/>
                <a:ea typeface="Microsoft YaHei"/>
                <a:cs typeface="Segoe UI"/>
              </a:rPr>
              <a:t>Simple · 独立页面</a:t>
            </a:r>
            <a:endParaRPr lang="zh-CN" sz="1050" dirty="0">
              <a:solidFill>
                <a:srgbClr val="4B5563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748665" y="3182302"/>
            <a:ext cx="13224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B5563"/>
                </a:solidFill>
                <a:latin typeface="Segoe UI"/>
                <a:ea typeface="Microsoft YaHei"/>
                <a:cs typeface="Segoe UI"/>
              </a:rPr>
              <a:t>算法层与 UI 层解耦</a:t>
            </a:r>
            <a:endParaRPr lang="zh-CN" sz="1050" dirty="0">
              <a:solidFill>
                <a:srgbClr val="4B5563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13" name="Rectangle 13"/>
          <p:cNvSpPr/>
          <p:nvPr/>
        </p:nvSpPr>
        <p:spPr>
          <a:xfrm>
            <a:off x="762000" y="3581400"/>
            <a:ext cx="37147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749618" y="379999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改动文件</a:t>
            </a:r>
            <a:endParaRPr lang="zh-CN" sz="975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887855" y="3759518"/>
            <a:ext cx="14815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4</a:t>
            </a:r>
            <a:endParaRPr lang="zh-CN" sz="1350" b="1" dirty="0">
              <a:solidFill>
                <a:srgbClr val="1F2937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2197418" y="3799999"/>
            <a:ext cx="100019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B5563"/>
                </a:solidFill>
                <a:latin typeface="Segoe UI"/>
                <a:ea typeface="Microsoft YaHei"/>
                <a:cs typeface="Segoe UI"/>
              </a:rPr>
              <a:t>2 新增 + 2 修改</a:t>
            </a:r>
            <a:endParaRPr lang="zh-CN" sz="975" dirty="0">
              <a:solidFill>
                <a:srgbClr val="4B5563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749618" y="410479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代码行数</a:t>
            </a:r>
            <a:endParaRPr lang="zh-CN" sz="975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887855" y="4064318"/>
            <a:ext cx="48974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+253</a:t>
            </a:r>
            <a:endParaRPr lang="zh-CN" sz="1350" b="1" dirty="0">
              <a:solidFill>
                <a:srgbClr val="1F2937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2387918" y="4104799"/>
            <a:ext cx="139179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B5563"/>
                </a:solidFill>
                <a:latin typeface="Segoe UI"/>
                <a:ea typeface="Microsoft YaHei"/>
                <a:cs typeface="Segoe UI"/>
              </a:rPr>
              <a:t>含 ArkUI 8 个 Builder</a:t>
            </a:r>
            <a:endParaRPr lang="zh-CN" sz="975" dirty="0">
              <a:solidFill>
                <a:srgbClr val="4B5563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749618" y="440959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主页侵入</a:t>
            </a:r>
            <a:endParaRPr lang="zh-CN" sz="975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887855" y="436911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仅 +13 行</a:t>
            </a:r>
            <a:endParaRPr lang="zh-CN" sz="1350" b="1" dirty="0">
              <a:solidFill>
                <a:srgbClr val="10B981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749618" y="471439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验证用例</a:t>
            </a:r>
            <a:endParaRPr lang="zh-CN" sz="975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887855" y="4673918"/>
            <a:ext cx="67607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8 / 8 ✓</a:t>
            </a:r>
            <a:endParaRPr lang="zh-CN" sz="1350" b="1" dirty="0">
              <a:solidFill>
                <a:srgbClr val="10B981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24" name="Rectangle 24"/>
          <p:cNvSpPr/>
          <p:nvPr/>
        </p:nvSpPr>
        <p:spPr>
          <a:xfrm>
            <a:off x="762000" y="5029200"/>
            <a:ext cx="37147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grpSp>
        <p:nvGrpSpPr>
          <p:cNvPr id="28" name="Group 28"/>
          <p:cNvGrpSpPr/>
          <p:nvPr/>
        </p:nvGrpSpPr>
        <p:grpSpPr>
          <a:xfrm>
            <a:off x="866775" y="5377815"/>
            <a:ext cx="293370" cy="377190"/>
            <a:chOff x="866775" y="5377815"/>
            <a:chExt cx="293370" cy="377190"/>
          </a:xfrm>
        </p:grpSpPr>
        <p:sp>
          <p:nvSpPr>
            <p:cNvPr id="25" name="Freeform 25"/>
            <p:cNvSpPr/>
            <p:nvPr/>
          </p:nvSpPr>
          <p:spPr>
            <a:xfrm>
              <a:off x="866775" y="5377815"/>
              <a:ext cx="293370" cy="377190"/>
            </a:xfrm>
            <a:custGeom>
              <a:avLst/>
              <a:gdLst/>
              <a:ahLst/>
              <a:cxnLst/>
              <a:rect l="l" t="t" r="r" b="b"/>
              <a:pathLst>
                <a:path w="293370" h="377190">
                  <a:moveTo>
                    <a:pt x="0" y="377190"/>
                  </a:moveTo>
                  <a:lnTo>
                    <a:pt x="0" y="41910"/>
                  </a:lnTo>
                  <a:cubicBezTo>
                    <a:pt x="0" y="18764"/>
                    <a:pt x="18764" y="0"/>
                    <a:pt x="41910" y="0"/>
                  </a:cubicBezTo>
                  <a:lnTo>
                    <a:pt x="251460" y="0"/>
                  </a:lnTo>
                  <a:cubicBezTo>
                    <a:pt x="274606" y="0"/>
                    <a:pt x="293370" y="18764"/>
                    <a:pt x="293370" y="41910"/>
                  </a:cubicBezTo>
                  <a:lnTo>
                    <a:pt x="293370" y="377190"/>
                  </a:lnTo>
                  <a:lnTo>
                    <a:pt x="230505" y="335280"/>
                  </a:lnTo>
                  <a:lnTo>
                    <a:pt x="188595" y="377190"/>
                  </a:lnTo>
                  <a:lnTo>
                    <a:pt x="146685" y="335280"/>
                  </a:lnTo>
                  <a:lnTo>
                    <a:pt x="104775" y="377190"/>
                  </a:lnTo>
                  <a:lnTo>
                    <a:pt x="62865" y="335280"/>
                  </a:lnTo>
                  <a:lnTo>
                    <a:pt x="0" y="377190"/>
                  </a:lnTo>
                </a:path>
              </a:pathLst>
            </a:custGeom>
            <a:noFill/>
            <a:ln w="19050" cap="rnd">
              <a:solidFill>
                <a:srgbClr val="0288D1"/>
              </a:solidFill>
              <a:round/>
            </a:ln>
          </p:spPr>
        </p:sp>
        <p:sp>
          <p:nvSpPr>
            <p:cNvPr id="26" name="Freeform 26"/>
            <p:cNvSpPr/>
            <p:nvPr/>
          </p:nvSpPr>
          <p:spPr>
            <a:xfrm>
              <a:off x="950595" y="5461635"/>
              <a:ext cx="125730" cy="9525"/>
            </a:xfrm>
            <a:custGeom>
              <a:avLst/>
              <a:gdLst/>
              <a:ahLst/>
              <a:cxnLst/>
              <a:rect l="l" t="t" r="r" b="b"/>
              <a:pathLst>
                <a:path w="125730" h="9525">
                  <a:moveTo>
                    <a:pt x="0" y="0"/>
                  </a:moveTo>
                  <a:lnTo>
                    <a:pt x="125730" y="0"/>
                  </a:lnTo>
                </a:path>
              </a:pathLst>
            </a:custGeom>
            <a:noFill/>
            <a:ln w="19050" cap="rnd">
              <a:solidFill>
                <a:srgbClr val="0288D1"/>
              </a:solidFill>
              <a:round/>
            </a:ln>
          </p:spPr>
        </p:sp>
        <p:sp>
          <p:nvSpPr>
            <p:cNvPr id="27" name="Freeform 27"/>
            <p:cNvSpPr/>
            <p:nvPr/>
          </p:nvSpPr>
          <p:spPr>
            <a:xfrm>
              <a:off x="950595" y="5545455"/>
              <a:ext cx="125730" cy="9525"/>
            </a:xfrm>
            <a:custGeom>
              <a:avLst/>
              <a:gdLst/>
              <a:ahLst/>
              <a:cxnLst/>
              <a:rect l="l" t="t" r="r" b="b"/>
              <a:pathLst>
                <a:path w="125730" h="9525">
                  <a:moveTo>
                    <a:pt x="0" y="0"/>
                  </a:moveTo>
                  <a:lnTo>
                    <a:pt x="125730" y="0"/>
                  </a:lnTo>
                </a:path>
              </a:pathLst>
            </a:custGeom>
            <a:noFill/>
            <a:ln w="19050" cap="rnd">
              <a:solidFill>
                <a:srgbClr val="0288D1"/>
              </a:solidFill>
              <a:round/>
            </a:ln>
          </p:spPr>
        </p:sp>
      </p:grpSp>
      <p:sp>
        <p:nvSpPr>
          <p:cNvPr id="29" name="TextBox 29"/>
          <p:cNvSpPr txBox="1"/>
          <p:nvPr/>
        </p:nvSpPr>
        <p:spPr>
          <a:xfrm>
            <a:off x="1605915" y="5582602"/>
            <a:ext cx="118448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含 P-01 缺陷复盘</a:t>
            </a:r>
            <a:endParaRPr lang="zh-CN" sz="1050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606868" y="5800249"/>
            <a:ext cx="214650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getter → method · ArkUI 响应式</a:t>
            </a:r>
            <a:endParaRPr lang="zh-CN" sz="975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4840605" y="1759268"/>
            <a:ext cx="151452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改动了 4 个文件</a:t>
            </a:r>
            <a:endParaRPr lang="zh-CN" sz="1350" b="1" dirty="0">
              <a:solidFill>
                <a:srgbClr val="1F2937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32" name="Line 32"/>
          <p:cNvSpPr/>
          <p:nvPr/>
        </p:nvSpPr>
        <p:spPr>
          <a:xfrm>
            <a:off x="4857750" y="2000250"/>
            <a:ext cx="1333500" cy="9525"/>
          </a:xfrm>
          <a:custGeom>
            <a:avLst/>
            <a:gdLst/>
            <a:ahLst/>
            <a:cxnLst/>
            <a:rect l="l" t="t" r="r" b="b"/>
            <a:pathLst>
              <a:path w="1333500" h="9525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/>
          <a:ln w="19050">
            <a:solidFill>
              <a:srgbClr val="0288D1"/>
            </a:solidFill>
          </a:ln>
        </p:spPr>
      </p:sp>
      <p:sp>
        <p:nvSpPr>
          <p:cNvPr id="33" name="Rectangle 33"/>
          <p:cNvSpPr/>
          <p:nvPr/>
        </p:nvSpPr>
        <p:spPr>
          <a:xfrm>
            <a:off x="4857750" y="2152650"/>
            <a:ext cx="676275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34" name="Rectangle 34"/>
          <p:cNvSpPr/>
          <p:nvPr/>
        </p:nvSpPr>
        <p:spPr>
          <a:xfrm>
            <a:off x="4857750" y="2152650"/>
            <a:ext cx="57150" cy="9525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</p:sp>
      <p:grpSp>
        <p:nvGrpSpPr>
          <p:cNvPr id="38" name="Group 38"/>
          <p:cNvGrpSpPr/>
          <p:nvPr/>
        </p:nvGrpSpPr>
        <p:grpSpPr>
          <a:xfrm>
            <a:off x="5114925" y="2419350"/>
            <a:ext cx="171450" cy="152400"/>
            <a:chOff x="5114925" y="2419350"/>
            <a:chExt cx="171450" cy="152400"/>
          </a:xfrm>
        </p:grpSpPr>
        <p:sp>
          <p:nvSpPr>
            <p:cNvPr id="35" name="Freeform 35"/>
            <p:cNvSpPr/>
            <p:nvPr/>
          </p:nvSpPr>
          <p:spPr>
            <a:xfrm>
              <a:off x="5114925" y="2457450"/>
              <a:ext cx="38100" cy="76200"/>
            </a:xfrm>
            <a:custGeom>
              <a:avLst/>
              <a:gdLst/>
              <a:ahLst/>
              <a:cxnLst/>
              <a:rect l="l" t="t" r="r" b="b"/>
              <a:pathLst>
                <a:path w="38100" h="76200">
                  <a:moveTo>
                    <a:pt x="38100" y="0"/>
                  </a:moveTo>
                  <a:lnTo>
                    <a:pt x="0" y="38100"/>
                  </a:lnTo>
                  <a:lnTo>
                    <a:pt x="38100" y="76200"/>
                  </a:lnTo>
                </a:path>
              </a:pathLst>
            </a:custGeom>
            <a:noFill/>
            <a:ln w="19050" cap="rnd">
              <a:solidFill>
                <a:srgbClr val="10B981"/>
              </a:solidFill>
              <a:round/>
            </a:ln>
          </p:spPr>
        </p:sp>
        <p:sp>
          <p:nvSpPr>
            <p:cNvPr id="36" name="Freeform 36"/>
            <p:cNvSpPr/>
            <p:nvPr/>
          </p:nvSpPr>
          <p:spPr>
            <a:xfrm>
              <a:off x="5248275" y="2457450"/>
              <a:ext cx="38100" cy="76200"/>
            </a:xfrm>
            <a:custGeom>
              <a:avLst/>
              <a:gdLst/>
              <a:ahLst/>
              <a:cxnLst/>
              <a:rect l="l" t="t" r="r" b="b"/>
              <a:pathLst>
                <a:path w="38100" h="76200">
                  <a:moveTo>
                    <a:pt x="0" y="0"/>
                  </a:moveTo>
                  <a:lnTo>
                    <a:pt x="38100" y="38100"/>
                  </a:lnTo>
                  <a:lnTo>
                    <a:pt x="0" y="76200"/>
                  </a:lnTo>
                </a:path>
              </a:pathLst>
            </a:custGeom>
            <a:noFill/>
            <a:ln w="19050" cap="rnd">
              <a:solidFill>
                <a:srgbClr val="10B981"/>
              </a:solidFill>
              <a:round/>
            </a:ln>
          </p:spPr>
        </p:sp>
        <p:sp>
          <p:nvSpPr>
            <p:cNvPr id="37" name="Freeform 37"/>
            <p:cNvSpPr/>
            <p:nvPr/>
          </p:nvSpPr>
          <p:spPr>
            <a:xfrm>
              <a:off x="5181600" y="2419350"/>
              <a:ext cx="38100" cy="152400"/>
            </a:xfrm>
            <a:custGeom>
              <a:avLst/>
              <a:gdLst/>
              <a:ahLst/>
              <a:cxnLst/>
              <a:rect l="l" t="t" r="r" b="b"/>
              <a:pathLst>
                <a:path w="38100" h="152400">
                  <a:moveTo>
                    <a:pt x="38100" y="0"/>
                  </a:moveTo>
                  <a:lnTo>
                    <a:pt x="0" y="152400"/>
                  </a:lnTo>
                </a:path>
              </a:pathLst>
            </a:custGeom>
            <a:noFill/>
            <a:ln w="19050" cap="rnd">
              <a:solidFill>
                <a:srgbClr val="10B981"/>
              </a:solidFill>
              <a:round/>
            </a:ln>
          </p:spPr>
        </p:sp>
      </p:grpSp>
      <p:sp>
        <p:nvSpPr>
          <p:cNvPr id="39" name="TextBox 39"/>
          <p:cNvSpPr txBox="1"/>
          <p:nvPr/>
        </p:nvSpPr>
        <p:spPr>
          <a:xfrm>
            <a:off x="5376862" y="2278856"/>
            <a:ext cx="151226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2937"/>
                </a:solidFill>
                <a:latin typeface="Consolas"/>
                <a:ea typeface="Microsoft YaHei"/>
                <a:cs typeface="Consolas"/>
              </a:rPr>
              <a:t>TipCalculator.ets</a:t>
            </a:r>
            <a:endParaRPr lang="zh-CN" sz="1125" b="1" dirty="0">
              <a:solidFill>
                <a:srgbClr val="1F2937"/>
              </a:solidFill>
              <a:latin typeface="Consolas"/>
              <a:ea typeface="Microsoft YaHei"/>
              <a:cs typeface="Consolas"/>
            </a:endParaRPr>
          </a:p>
        </p:txBody>
      </p:sp>
      <p:sp>
        <p:nvSpPr>
          <p:cNvPr id="40" name="Rectangle 40"/>
          <p:cNvSpPr/>
          <p:nvPr/>
        </p:nvSpPr>
        <p:spPr>
          <a:xfrm>
            <a:off x="7429500" y="2266950"/>
            <a:ext cx="571500" cy="20955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7565803" y="2312670"/>
            <a:ext cx="298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新增</a:t>
            </a:r>
            <a:endParaRPr lang="zh-CN" sz="900" b="1" dirty="0">
              <a:solidFill>
                <a:srgbClr val="FFFFFF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8082915" y="2296478"/>
            <a:ext cx="47906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0B981"/>
                </a:solidFill>
                <a:latin typeface="Consolas"/>
                <a:ea typeface="Microsoft YaHei"/>
                <a:cs typeface="Consolas"/>
              </a:rPr>
              <a:t>+32 行</a:t>
            </a:r>
            <a:endParaRPr lang="zh-CN" sz="1050" dirty="0">
              <a:solidFill>
                <a:srgbClr val="10B981"/>
              </a:solidFill>
              <a:latin typeface="Consolas"/>
              <a:ea typeface="Microsoft YaHei"/>
              <a:cs typeface="Consolas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5377815" y="2534602"/>
            <a:ext cx="442788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B5563"/>
                </a:solidFill>
                <a:latin typeface="Segoe UI"/>
                <a:ea typeface="Microsoft YaHei"/>
                <a:cs typeface="Segoe UI"/>
              </a:rPr>
              <a:t>纯函数 calcPerPerson(amount, people, tipPercent): string</a:t>
            </a:r>
            <a:endParaRPr lang="zh-CN" sz="1050" dirty="0">
              <a:solidFill>
                <a:srgbClr val="4B5563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5378768" y="2771299"/>
            <a:ext cx="319313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算法层零副作用 · 非法输入返回 '--' · 与 UI 解耦</a:t>
            </a:r>
            <a:endParaRPr lang="zh-CN" sz="975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45" name="Rectangle 45"/>
          <p:cNvSpPr/>
          <p:nvPr/>
        </p:nvSpPr>
        <p:spPr>
          <a:xfrm>
            <a:off x="4857750" y="3219450"/>
            <a:ext cx="676275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46" name="Rectangle 46"/>
          <p:cNvSpPr/>
          <p:nvPr/>
        </p:nvSpPr>
        <p:spPr>
          <a:xfrm>
            <a:off x="4857750" y="3219450"/>
            <a:ext cx="57150" cy="9525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</p:sp>
      <p:grpSp>
        <p:nvGrpSpPr>
          <p:cNvPr id="50" name="Group 50"/>
          <p:cNvGrpSpPr/>
          <p:nvPr/>
        </p:nvGrpSpPr>
        <p:grpSpPr>
          <a:xfrm>
            <a:off x="5114925" y="3476625"/>
            <a:ext cx="171450" cy="171450"/>
            <a:chOff x="5114925" y="3476625"/>
            <a:chExt cx="171450" cy="171450"/>
          </a:xfrm>
        </p:grpSpPr>
        <p:sp>
          <p:nvSpPr>
            <p:cNvPr id="47" name="Freeform 47"/>
            <p:cNvSpPr/>
            <p:nvPr/>
          </p:nvSpPr>
          <p:spPr>
            <a:xfrm>
              <a:off x="5114925" y="3476625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0" y="0"/>
                  </a:moveTo>
                  <a:moveTo>
                    <a:pt x="0" y="19050"/>
                  </a:moveTo>
                  <a:cubicBezTo>
                    <a:pt x="0" y="8529"/>
                    <a:pt x="8529" y="0"/>
                    <a:pt x="19050" y="0"/>
                  </a:cubicBezTo>
                  <a:lnTo>
                    <a:pt x="152400" y="0"/>
                  </a:lnTo>
                  <a:cubicBezTo>
                    <a:pt x="162921" y="0"/>
                    <a:pt x="171450" y="8529"/>
                    <a:pt x="171450" y="19050"/>
                  </a:cubicBezTo>
                  <a:lnTo>
                    <a:pt x="171450" y="152400"/>
                  </a:lnTo>
                  <a:cubicBezTo>
                    <a:pt x="171450" y="162921"/>
                    <a:pt x="162921" y="171450"/>
                    <a:pt x="152400" y="171450"/>
                  </a:cubicBezTo>
                  <a:lnTo>
                    <a:pt x="19050" y="171450"/>
                  </a:lnTo>
                  <a:cubicBezTo>
                    <a:pt x="8529" y="171450"/>
                    <a:pt x="0" y="162921"/>
                    <a:pt x="0" y="152400"/>
                  </a:cubicBezTo>
                  <a:close/>
                </a:path>
              </a:pathLst>
            </a:custGeom>
            <a:noFill/>
            <a:ln w="19050" cap="rnd">
              <a:solidFill>
                <a:srgbClr val="10B981"/>
              </a:solidFill>
              <a:round/>
            </a:ln>
          </p:spPr>
        </p:sp>
        <p:sp>
          <p:nvSpPr>
            <p:cNvPr id="48" name="Freeform 48"/>
            <p:cNvSpPr/>
            <p:nvPr/>
          </p:nvSpPr>
          <p:spPr>
            <a:xfrm>
              <a:off x="5172075" y="3514725"/>
              <a:ext cx="9525" cy="95250"/>
            </a:xfrm>
            <a:custGeom>
              <a:avLst/>
              <a:gdLst/>
              <a:ahLst/>
              <a:cxnLst/>
              <a:rect l="l" t="t" r="r" b="b"/>
              <a:pathLst>
                <a:path w="9525" h="95250">
                  <a:moveTo>
                    <a:pt x="0" y="95250"/>
                  </a:moveTo>
                  <a:lnTo>
                    <a:pt x="0" y="0"/>
                  </a:lnTo>
                </a:path>
              </a:pathLst>
            </a:custGeom>
            <a:noFill/>
            <a:ln w="19050" cap="rnd">
              <a:solidFill>
                <a:srgbClr val="10B981"/>
              </a:solidFill>
              <a:round/>
            </a:ln>
          </p:spPr>
        </p:sp>
        <p:sp>
          <p:nvSpPr>
            <p:cNvPr id="49" name="Freeform 49"/>
            <p:cNvSpPr/>
            <p:nvPr/>
          </p:nvSpPr>
          <p:spPr>
            <a:xfrm>
              <a:off x="5114925" y="3514725"/>
              <a:ext cx="171450" cy="9525"/>
            </a:xfrm>
            <a:custGeom>
              <a:avLst/>
              <a:gdLst/>
              <a:ahLst/>
              <a:cxnLst/>
              <a:rect l="l" t="t" r="r" b="b"/>
              <a:pathLst>
                <a:path w="171450" h="9525">
                  <a:moveTo>
                    <a:pt x="0" y="0"/>
                  </a:moveTo>
                  <a:lnTo>
                    <a:pt x="171450" y="0"/>
                  </a:lnTo>
                </a:path>
              </a:pathLst>
            </a:custGeom>
            <a:noFill/>
            <a:ln w="19050" cap="rnd">
              <a:solidFill>
                <a:srgbClr val="10B981"/>
              </a:solidFill>
              <a:round/>
            </a:ln>
          </p:spPr>
        </p:sp>
      </p:grpSp>
      <p:sp>
        <p:nvSpPr>
          <p:cNvPr id="51" name="TextBox 51"/>
          <p:cNvSpPr txBox="1"/>
          <p:nvPr/>
        </p:nvSpPr>
        <p:spPr>
          <a:xfrm>
            <a:off x="5376862" y="3345656"/>
            <a:ext cx="189180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2937"/>
                </a:solidFill>
                <a:latin typeface="Consolas"/>
                <a:ea typeface="Microsoft YaHei"/>
                <a:cs typeface="Consolas"/>
              </a:rPr>
              <a:t>TipCalculatorPage.ets</a:t>
            </a:r>
            <a:endParaRPr lang="zh-CN" sz="1125" b="1" dirty="0">
              <a:solidFill>
                <a:srgbClr val="1F2937"/>
              </a:solidFill>
              <a:latin typeface="Consolas"/>
              <a:ea typeface="Microsoft YaHei"/>
              <a:cs typeface="Consolas"/>
            </a:endParaRPr>
          </a:p>
        </p:txBody>
      </p:sp>
      <p:sp>
        <p:nvSpPr>
          <p:cNvPr id="52" name="Rectangle 52"/>
          <p:cNvSpPr/>
          <p:nvPr/>
        </p:nvSpPr>
        <p:spPr>
          <a:xfrm>
            <a:off x="7829550" y="3333750"/>
            <a:ext cx="571500" cy="20955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7965853" y="3379470"/>
            <a:ext cx="298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新增</a:t>
            </a:r>
            <a:endParaRPr lang="zh-CN" sz="900" b="1" dirty="0">
              <a:solidFill>
                <a:srgbClr val="FFFFFF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8502015" y="3363278"/>
            <a:ext cx="56340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0B981"/>
                </a:solidFill>
                <a:latin typeface="Consolas"/>
                <a:ea typeface="Microsoft YaHei"/>
                <a:cs typeface="Consolas"/>
              </a:rPr>
              <a:t>~208 行</a:t>
            </a:r>
            <a:endParaRPr lang="zh-CN" sz="1050" dirty="0">
              <a:solidFill>
                <a:srgbClr val="10B981"/>
              </a:solidFill>
              <a:latin typeface="Consolas"/>
              <a:ea typeface="Microsoft YaHei"/>
              <a:cs typeface="Consolas"/>
            </a:endParaRPr>
          </a:p>
        </p:txBody>
      </p:sp>
      <p:sp>
        <p:nvSpPr>
          <p:cNvPr id="55" name="TextBox 55"/>
          <p:cNvSpPr txBox="1"/>
          <p:nvPr/>
        </p:nvSpPr>
        <p:spPr>
          <a:xfrm>
            <a:off x="5377815" y="3601402"/>
            <a:ext cx="459657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B5563"/>
                </a:solidFill>
                <a:latin typeface="Segoe UI"/>
                <a:ea typeface="Microsoft YaHei"/>
                <a:cs typeface="Segoe UI"/>
              </a:rPr>
              <a:t>@Entry @Component · 5 @State · 8 @Builder · 1 computeMethod</a:t>
            </a:r>
            <a:endParaRPr lang="zh-CN" sz="1050" dirty="0">
              <a:solidFill>
                <a:srgbClr val="4B5563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56" name="TextBox 56"/>
          <p:cNvSpPr txBox="1"/>
          <p:nvPr/>
        </p:nvSpPr>
        <p:spPr>
          <a:xfrm>
            <a:off x="5378768" y="3838099"/>
            <a:ext cx="342097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含金额/人数输入框 + 4 档位 + 自定义输入 + 实时人均</a:t>
            </a:r>
            <a:endParaRPr lang="zh-CN" sz="975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57" name="Rectangle 57"/>
          <p:cNvSpPr/>
          <p:nvPr/>
        </p:nvSpPr>
        <p:spPr>
          <a:xfrm>
            <a:off x="4857750" y="4286250"/>
            <a:ext cx="6762750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58" name="Rectangle 58"/>
          <p:cNvSpPr/>
          <p:nvPr/>
        </p:nvSpPr>
        <p:spPr>
          <a:xfrm>
            <a:off x="4857750" y="4286250"/>
            <a:ext cx="57150" cy="7620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</p:sp>
      <p:grpSp>
        <p:nvGrpSpPr>
          <p:cNvPr id="61" name="Group 61"/>
          <p:cNvGrpSpPr/>
          <p:nvPr/>
        </p:nvGrpSpPr>
        <p:grpSpPr>
          <a:xfrm>
            <a:off x="5124450" y="4518616"/>
            <a:ext cx="148634" cy="148634"/>
            <a:chOff x="5124450" y="4518616"/>
            <a:chExt cx="148634" cy="148634"/>
          </a:xfrm>
        </p:grpSpPr>
        <p:sp>
          <p:nvSpPr>
            <p:cNvPr id="59" name="Freeform 59"/>
            <p:cNvSpPr/>
            <p:nvPr/>
          </p:nvSpPr>
          <p:spPr>
            <a:xfrm>
              <a:off x="5124450" y="4518616"/>
              <a:ext cx="148634" cy="148634"/>
            </a:xfrm>
            <a:custGeom>
              <a:avLst/>
              <a:gdLst/>
              <a:ahLst/>
              <a:cxnLst/>
              <a:rect l="l" t="t" r="r" b="b"/>
              <a:pathLst>
                <a:path w="148634" h="148634">
                  <a:moveTo>
                    <a:pt x="0" y="148634"/>
                  </a:moveTo>
                  <a:lnTo>
                    <a:pt x="38100" y="148634"/>
                  </a:lnTo>
                  <a:lnTo>
                    <a:pt x="138112" y="48621"/>
                  </a:lnTo>
                  <a:cubicBezTo>
                    <a:pt x="148634" y="38100"/>
                    <a:pt x="148634" y="21042"/>
                    <a:pt x="138112" y="10521"/>
                  </a:cubicBezTo>
                  <a:cubicBezTo>
                    <a:pt x="127591" y="0"/>
                    <a:pt x="110534" y="0"/>
                    <a:pt x="100012" y="10521"/>
                  </a:cubicBezTo>
                  <a:lnTo>
                    <a:pt x="0" y="110534"/>
                  </a:lnTo>
                  <a:lnTo>
                    <a:pt x="0" y="148634"/>
                  </a:lnTo>
                </a:path>
              </a:pathLst>
            </a:custGeom>
            <a:noFill/>
            <a:ln w="19050" cap="rnd">
              <a:solidFill>
                <a:srgbClr val="F59E0B"/>
              </a:solidFill>
              <a:round/>
            </a:ln>
          </p:spPr>
        </p:sp>
        <p:sp>
          <p:nvSpPr>
            <p:cNvPr id="60" name="Freeform 60"/>
            <p:cNvSpPr/>
            <p:nvPr/>
          </p:nvSpPr>
          <p:spPr>
            <a:xfrm>
              <a:off x="5214938" y="4538662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>
                  <a:moveTo>
                    <a:pt x="0" y="0"/>
                  </a:moveTo>
                  <a:lnTo>
                    <a:pt x="38100" y="38100"/>
                  </a:lnTo>
                </a:path>
              </a:pathLst>
            </a:custGeom>
            <a:noFill/>
            <a:ln w="19050" cap="rnd">
              <a:solidFill>
                <a:srgbClr val="F59E0B"/>
              </a:solidFill>
              <a:round/>
            </a:ln>
          </p:spPr>
        </p:sp>
      </p:grpSp>
      <p:sp>
        <p:nvSpPr>
          <p:cNvPr id="62" name="TextBox 62"/>
          <p:cNvSpPr txBox="1"/>
          <p:nvPr/>
        </p:nvSpPr>
        <p:spPr>
          <a:xfrm>
            <a:off x="5376862" y="4374356"/>
            <a:ext cx="165027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2937"/>
                </a:solidFill>
                <a:latin typeface="Consolas"/>
                <a:ea typeface="Microsoft YaHei"/>
                <a:cs typeface="Consolas"/>
              </a:rPr>
              <a:t>CalculatorPage.ets</a:t>
            </a:r>
            <a:endParaRPr lang="zh-CN" sz="1125" b="1" dirty="0">
              <a:solidFill>
                <a:srgbClr val="1F2937"/>
              </a:solidFill>
              <a:latin typeface="Consolas"/>
              <a:ea typeface="Microsoft YaHei"/>
              <a:cs typeface="Consolas"/>
            </a:endParaRPr>
          </a:p>
        </p:txBody>
      </p:sp>
      <p:sp>
        <p:nvSpPr>
          <p:cNvPr id="63" name="Rectangle 63"/>
          <p:cNvSpPr/>
          <p:nvPr/>
        </p:nvSpPr>
        <p:spPr>
          <a:xfrm>
            <a:off x="7429500" y="4362450"/>
            <a:ext cx="571500" cy="2095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7565803" y="4408170"/>
            <a:ext cx="298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修改</a:t>
            </a:r>
            <a:endParaRPr lang="zh-CN" sz="900" b="1" dirty="0">
              <a:solidFill>
                <a:srgbClr val="FFFFFF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65" name="TextBox 65"/>
          <p:cNvSpPr txBox="1"/>
          <p:nvPr/>
        </p:nvSpPr>
        <p:spPr>
          <a:xfrm>
            <a:off x="8082915" y="4391978"/>
            <a:ext cx="44072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59E0B"/>
                </a:solidFill>
                <a:latin typeface="Consolas"/>
                <a:ea typeface="Microsoft YaHei"/>
                <a:cs typeface="Consolas"/>
              </a:rPr>
              <a:t>+13 行</a:t>
            </a:r>
            <a:endParaRPr lang="zh-CN" sz="1050" dirty="0">
              <a:solidFill>
                <a:srgbClr val="F59E0B"/>
              </a:solidFill>
              <a:latin typeface="Consolas"/>
              <a:ea typeface="Microsoft YaHei"/>
              <a:cs typeface="Consolas"/>
            </a:endParaRPr>
          </a:p>
        </p:txBody>
      </p:sp>
      <p:sp>
        <p:nvSpPr>
          <p:cNvPr id="66" name="TextBox 66"/>
          <p:cNvSpPr txBox="1"/>
          <p:nvPr/>
        </p:nvSpPr>
        <p:spPr>
          <a:xfrm>
            <a:off x="5377815" y="4649152"/>
            <a:ext cx="46042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B5563"/>
                </a:solidFill>
                <a:latin typeface="Segoe UI"/>
                <a:ea typeface="Microsoft YaHei"/>
                <a:cs typeface="Segoe UI"/>
              </a:rPr>
              <a:t>ToggleRow 内新增「💰 小费」按钮 · router.pushUrl + catch 兜底</a:t>
            </a:r>
            <a:endParaRPr lang="zh-CN" sz="1050" dirty="0">
              <a:solidFill>
                <a:srgbClr val="4B5563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67" name="TextBox 67"/>
          <p:cNvSpPr txBox="1"/>
          <p:nvPr/>
        </p:nvSpPr>
        <p:spPr>
          <a:xfrm>
            <a:off x="5378768" y="4847749"/>
            <a:ext cx="33853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既有按钮 / 历史 / 设置 / 主题路径完全不动 · 零侵入</a:t>
            </a:r>
            <a:endParaRPr lang="zh-CN" sz="975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68" name="Rectangle 68"/>
          <p:cNvSpPr/>
          <p:nvPr/>
        </p:nvSpPr>
        <p:spPr>
          <a:xfrm>
            <a:off x="4857750" y="5162550"/>
            <a:ext cx="6762750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69" name="Rectangle 69"/>
          <p:cNvSpPr/>
          <p:nvPr/>
        </p:nvSpPr>
        <p:spPr>
          <a:xfrm>
            <a:off x="4857750" y="5162550"/>
            <a:ext cx="57150" cy="7620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</p:sp>
      <p:grpSp>
        <p:nvGrpSpPr>
          <p:cNvPr id="72" name="Group 72"/>
          <p:cNvGrpSpPr/>
          <p:nvPr/>
        </p:nvGrpSpPr>
        <p:grpSpPr>
          <a:xfrm>
            <a:off x="5133975" y="5381625"/>
            <a:ext cx="133350" cy="171450"/>
            <a:chOff x="5133975" y="5381625"/>
            <a:chExt cx="133350" cy="171450"/>
          </a:xfrm>
        </p:grpSpPr>
        <p:sp>
          <p:nvSpPr>
            <p:cNvPr id="70" name="Freeform 70"/>
            <p:cNvSpPr/>
            <p:nvPr/>
          </p:nvSpPr>
          <p:spPr>
            <a:xfrm>
              <a:off x="5219700" y="5381625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0" y="0"/>
                  </a:moveTo>
                  <a:lnTo>
                    <a:pt x="0" y="38100"/>
                  </a:lnTo>
                  <a:cubicBezTo>
                    <a:pt x="0" y="43361"/>
                    <a:pt x="4264" y="47625"/>
                    <a:pt x="9525" y="47625"/>
                  </a:cubicBezTo>
                  <a:lnTo>
                    <a:pt x="47625" y="47625"/>
                  </a:lnTo>
                </a:path>
              </a:pathLst>
            </a:custGeom>
            <a:noFill/>
            <a:ln w="19050" cap="rnd">
              <a:solidFill>
                <a:srgbClr val="F59E0B"/>
              </a:solidFill>
              <a:round/>
            </a:ln>
          </p:spPr>
        </p:sp>
        <p:sp>
          <p:nvSpPr>
            <p:cNvPr id="71" name="Freeform 71"/>
            <p:cNvSpPr/>
            <p:nvPr/>
          </p:nvSpPr>
          <p:spPr>
            <a:xfrm>
              <a:off x="5133975" y="5381625"/>
              <a:ext cx="133350" cy="171450"/>
            </a:xfrm>
            <a:custGeom>
              <a:avLst/>
              <a:gdLst/>
              <a:ahLst/>
              <a:cxnLst/>
              <a:rect l="l" t="t" r="r" b="b"/>
              <a:pathLst>
                <a:path w="133350" h="171450">
                  <a:moveTo>
                    <a:pt x="114300" y="171450"/>
                  </a:moveTo>
                  <a:lnTo>
                    <a:pt x="19050" y="171450"/>
                  </a:lnTo>
                  <a:cubicBezTo>
                    <a:pt x="8529" y="171450"/>
                    <a:pt x="0" y="162921"/>
                    <a:pt x="0" y="15240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lnTo>
                    <a:pt x="85725" y="0"/>
                  </a:lnTo>
                  <a:lnTo>
                    <a:pt x="133350" y="47625"/>
                  </a:lnTo>
                  <a:lnTo>
                    <a:pt x="133350" y="152400"/>
                  </a:lnTo>
                  <a:cubicBezTo>
                    <a:pt x="133350" y="162921"/>
                    <a:pt x="124821" y="171450"/>
                    <a:pt x="114300" y="171450"/>
                  </a:cubicBezTo>
                  <a:close/>
                </a:path>
              </a:pathLst>
            </a:custGeom>
            <a:noFill/>
            <a:ln w="19050" cap="rnd">
              <a:solidFill>
                <a:srgbClr val="F59E0B"/>
              </a:solidFill>
              <a:round/>
            </a:ln>
          </p:spPr>
        </p:sp>
      </p:grpSp>
      <p:sp>
        <p:nvSpPr>
          <p:cNvPr id="73" name="TextBox 73"/>
          <p:cNvSpPr txBox="1"/>
          <p:nvPr/>
        </p:nvSpPr>
        <p:spPr>
          <a:xfrm>
            <a:off x="5376862" y="5250656"/>
            <a:ext cx="349625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2937"/>
                </a:solidFill>
                <a:latin typeface="Consolas"/>
                <a:ea typeface="Microsoft YaHei"/>
                <a:cs typeface="Consolas"/>
              </a:rPr>
              <a:t>resources/base/profile/main_pages.json</a:t>
            </a:r>
            <a:endParaRPr lang="zh-CN" sz="1125" b="1" dirty="0">
              <a:solidFill>
                <a:srgbClr val="1F2937"/>
              </a:solidFill>
              <a:latin typeface="Consolas"/>
              <a:ea typeface="Microsoft YaHei"/>
              <a:cs typeface="Consolas"/>
            </a:endParaRPr>
          </a:p>
        </p:txBody>
      </p:sp>
      <p:sp>
        <p:nvSpPr>
          <p:cNvPr id="74" name="Rectangle 74"/>
          <p:cNvSpPr/>
          <p:nvPr/>
        </p:nvSpPr>
        <p:spPr>
          <a:xfrm>
            <a:off x="9048750" y="5238750"/>
            <a:ext cx="571500" cy="2095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75" name="TextBox 75"/>
          <p:cNvSpPr txBox="1"/>
          <p:nvPr/>
        </p:nvSpPr>
        <p:spPr>
          <a:xfrm>
            <a:off x="9185053" y="5284470"/>
            <a:ext cx="298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修改</a:t>
            </a:r>
            <a:endParaRPr lang="zh-CN" sz="900" b="1" dirty="0">
              <a:solidFill>
                <a:srgbClr val="FFFFFF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76" name="TextBox 76"/>
          <p:cNvSpPr txBox="1"/>
          <p:nvPr/>
        </p:nvSpPr>
        <p:spPr>
          <a:xfrm>
            <a:off x="9702165" y="5268278"/>
            <a:ext cx="35637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59E0B"/>
                </a:solidFill>
                <a:latin typeface="Consolas"/>
                <a:ea typeface="Microsoft YaHei"/>
                <a:cs typeface="Consolas"/>
              </a:rPr>
              <a:t>+1 行</a:t>
            </a:r>
            <a:endParaRPr lang="zh-CN" sz="1050" dirty="0">
              <a:solidFill>
                <a:srgbClr val="F59E0B"/>
              </a:solidFill>
              <a:latin typeface="Consolas"/>
              <a:ea typeface="Microsoft YaHei"/>
              <a:cs typeface="Consolas"/>
            </a:endParaRPr>
          </a:p>
        </p:txBody>
      </p:sp>
      <p:sp>
        <p:nvSpPr>
          <p:cNvPr id="77" name="TextBox 77"/>
          <p:cNvSpPr txBox="1"/>
          <p:nvPr/>
        </p:nvSpPr>
        <p:spPr>
          <a:xfrm>
            <a:off x="5377815" y="5525452"/>
            <a:ext cx="43512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B5563"/>
                </a:solidFill>
                <a:latin typeface="Segoe UI"/>
                <a:ea typeface="Microsoft YaHei"/>
                <a:cs typeface="Segoe UI"/>
              </a:rPr>
              <a:t>注册 "pages/TipCalculatorPage" · router.pushUrl 寻址依赖</a:t>
            </a:r>
            <a:endParaRPr lang="zh-CN" sz="1050" dirty="0">
              <a:solidFill>
                <a:srgbClr val="4B5563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78" name="TextBox 78"/>
          <p:cNvSpPr txBox="1"/>
          <p:nvPr/>
        </p:nvSpPr>
        <p:spPr>
          <a:xfrm>
            <a:off x="5378768" y="5724049"/>
            <a:ext cx="32002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漏注册会触发 hilog 'TipNav pushUrl failed' 警告</a:t>
            </a:r>
            <a:endParaRPr lang="zh-CN" sz="975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79" name="Line 79"/>
          <p:cNvSpPr/>
          <p:nvPr/>
        </p:nvSpPr>
        <p:spPr>
          <a:xfrm>
            <a:off x="571500" y="64770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80" name="TextBox 80"/>
          <p:cNvSpPr txBox="1"/>
          <p:nvPr/>
        </p:nvSpPr>
        <p:spPr>
          <a:xfrm>
            <a:off x="561975" y="6586538"/>
            <a:ext cx="219336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OpenCalc HarmonyOS Demo · 客户实验手册</a:t>
            </a:r>
            <a:endParaRPr lang="zh-CN" sz="750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81" name="TextBox 81"/>
          <p:cNvSpPr txBox="1"/>
          <p:nvPr/>
        </p:nvSpPr>
        <p:spPr>
          <a:xfrm>
            <a:off x="11271409" y="6586538"/>
            <a:ext cx="35861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08 / 16</a:t>
            </a:r>
            <a:endParaRPr lang="zh-CN" sz="750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1020" y="598170"/>
            <a:ext cx="4569523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8 用例验证 + P-01 缺陷复盘</a:t>
            </a:r>
            <a:endParaRPr lang="zh-CN" sz="2400" b="1" dirty="0">
              <a:solidFill>
                <a:srgbClr val="1F2937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4" name="Rectangle 4"/>
          <p:cNvSpPr/>
          <p:nvPr/>
        </p:nvSpPr>
        <p:spPr>
          <a:xfrm>
            <a:off x="571500" y="952500"/>
            <a:ext cx="7620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565C0"/>
              </a:gs>
              <a:gs pos="100000">
                <a:srgbClr val="0288D1"/>
              </a:gs>
            </a:gsLst>
            <a:lin ang="0" scaled="1"/>
          </a:gra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165652" y="743902"/>
            <a:ext cx="146818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Demo 2 — 小费计算器</a:t>
            </a:r>
            <a:endParaRPr lang="zh-CN" sz="1050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56260" y="1156335"/>
            <a:ext cx="658520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B5563"/>
                </a:solidFill>
                <a:latin typeface="Segoe UI"/>
                <a:ea typeface="Microsoft YaHei"/>
                <a:cs typeface="Segoe UI"/>
              </a:rPr>
              <a:t>3 组数学验证 100% 命中:100×1.15/4=28.75 · 100×1.18/4=29.50 · 100×1.25/4=31.25</a:t>
            </a:r>
            <a:endParaRPr lang="zh-CN" sz="1200" dirty="0">
              <a:solidFill>
                <a:srgbClr val="4B5563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7" name="Rectangle 7"/>
          <p:cNvSpPr/>
          <p:nvPr/>
        </p:nvSpPr>
        <p:spPr>
          <a:xfrm>
            <a:off x="571500" y="1485900"/>
            <a:ext cx="11049000" cy="342900"/>
          </a:xfrm>
          <a:prstGeom prst="roundRect">
            <a:avLst>
              <a:gd name="adj" fmla="val 16667"/>
            </a:avLst>
          </a:prstGeom>
          <a:solidFill>
            <a:srgbClr val="1565C0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48665" y="1601152"/>
            <a:ext cx="1152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#</a:t>
            </a:r>
            <a:endParaRPr lang="zh-CN" sz="1050" b="1" dirty="0">
              <a:solidFill>
                <a:srgbClr val="FFFFFF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224915" y="1601152"/>
            <a:ext cx="3487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测试</a:t>
            </a:r>
            <a:endParaRPr lang="zh-CN" sz="1050" b="1" dirty="0">
              <a:solidFill>
                <a:srgbClr val="FFFFFF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3034665" y="1601152"/>
            <a:ext cx="85592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操作 / 输入</a:t>
            </a:r>
            <a:endParaRPr lang="zh-CN" sz="1050" b="1" dirty="0">
              <a:solidFill>
                <a:srgbClr val="FFFFFF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6654165" y="1601152"/>
            <a:ext cx="3487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预期</a:t>
            </a:r>
            <a:endParaRPr lang="zh-CN" sz="1050" b="1" dirty="0">
              <a:solidFill>
                <a:srgbClr val="FFFFFF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255395" y="1601152"/>
            <a:ext cx="3487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实测</a:t>
            </a:r>
            <a:endParaRPr lang="zh-CN" sz="1050" b="1" dirty="0">
              <a:solidFill>
                <a:srgbClr val="FFFFFF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303145" y="1601152"/>
            <a:ext cx="3487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结果</a:t>
            </a:r>
            <a:endParaRPr lang="zh-CN" sz="1050" b="1" dirty="0">
              <a:solidFill>
                <a:srgbClr val="FFFFFF"/>
              </a:solidFill>
              <a:latin typeface="Segoe UI"/>
              <a:ea typeface="Microsoft YaHei"/>
              <a:cs typeface="Segoe UI"/>
            </a:endParaRPr>
          </a:p>
        </p:txBody>
      </p:sp>
      <p:grpSp>
        <p:nvGrpSpPr>
          <p:cNvPr id="70" name="Group 70"/>
          <p:cNvGrpSpPr/>
          <p:nvPr/>
        </p:nvGrpSpPr>
        <p:grpSpPr>
          <a:xfrm>
            <a:off x="571500" y="1866900"/>
            <a:ext cx="11049000" cy="3048000"/>
            <a:chOff x="571500" y="1866900"/>
            <a:chExt cx="11049000" cy="3048000"/>
          </a:xfrm>
        </p:grpSpPr>
        <p:sp>
          <p:nvSpPr>
            <p:cNvPr id="14" name="Rectangle 14"/>
            <p:cNvSpPr/>
            <p:nvPr/>
          </p:nvSpPr>
          <p:spPr>
            <a:xfrm>
              <a:off x="571500" y="1866900"/>
              <a:ext cx="11049000" cy="381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49618" y="1999774"/>
              <a:ext cx="6748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1</a:t>
              </a:r>
              <a:endParaRPr lang="zh-CN" sz="975" dirty="0">
                <a:solidFill>
                  <a:srgbClr val="94A3B8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25868" y="1999774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主页入口可见</a:t>
              </a:r>
              <a:endParaRPr lang="zh-CN" sz="975" dirty="0">
                <a:solidFill>
                  <a:srgbClr val="1F2937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035618" y="1999774"/>
              <a:ext cx="5872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B5563"/>
                  </a:solidFill>
                  <a:latin typeface="Segoe UI"/>
                  <a:ea typeface="Microsoft YaHei"/>
                  <a:cs typeface="Segoe UI"/>
                </a:rPr>
                <a:t>启动 App</a:t>
              </a:r>
              <a:endParaRPr lang="zh-CN" sz="975" dirty="0">
                <a:solidFill>
                  <a:srgbClr val="4B5563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55118" y="1999774"/>
              <a:ext cx="216786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B5563"/>
                  </a:solidFill>
                  <a:latin typeface="Segoe UI"/>
                  <a:ea typeface="Microsoft YaHei"/>
                  <a:cs typeface="Segoe UI"/>
                </a:rPr>
                <a:t>「💰 小费」按钮出现在 ToggleRow</a:t>
              </a:r>
              <a:endParaRPr lang="zh-CN" sz="975" dirty="0">
                <a:solidFill>
                  <a:srgbClr val="4B5563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274969" y="1999774"/>
              <a:ext cx="3095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4B5563"/>
                  </a:solidFill>
                  <a:latin typeface="Segoe UI"/>
                  <a:ea typeface="Microsoft YaHei"/>
                  <a:cs typeface="Segoe UI"/>
                </a:rPr>
                <a:t>显示</a:t>
              </a:r>
              <a:endParaRPr lang="zh-CN" sz="975" dirty="0">
                <a:solidFill>
                  <a:srgbClr val="4B5563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237102" y="1999774"/>
              <a:ext cx="4807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0B981"/>
                  </a:solidFill>
                  <a:latin typeface="Segoe UI"/>
                  <a:ea typeface="Microsoft YaHei"/>
                  <a:cs typeface="Segoe UI"/>
                </a:rPr>
                <a:t>✓ PASS</a:t>
              </a:r>
              <a:endParaRPr lang="zh-CN" sz="975" b="1" dirty="0">
                <a:solidFill>
                  <a:srgbClr val="10B981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71500" y="2247900"/>
              <a:ext cx="11049000" cy="381000"/>
            </a:xfrm>
            <a:prstGeom prst="rect">
              <a:avLst/>
            </a:prstGeom>
            <a:solidFill>
              <a:srgbClr val="F7F9FC"/>
            </a:solidFill>
            <a:ln w="9525">
              <a:solidFill>
                <a:srgbClr val="E5E7EB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49618" y="2380774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2</a:t>
              </a:r>
              <a:endParaRPr lang="zh-CN" sz="975" dirty="0">
                <a:solidFill>
                  <a:srgbClr val="94A3B8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225868" y="2380774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入口导航跳转</a:t>
              </a:r>
              <a:endParaRPr lang="zh-CN" sz="975" dirty="0">
                <a:solidFill>
                  <a:srgbClr val="1F2937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035618" y="2380774"/>
              <a:ext cx="100019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B5563"/>
                  </a:solidFill>
                  <a:latin typeface="Segoe UI"/>
                  <a:ea typeface="Microsoft YaHei"/>
                  <a:cs typeface="Segoe UI"/>
                </a:rPr>
                <a:t>点击「💰 小费」</a:t>
              </a:r>
              <a:endParaRPr lang="zh-CN" sz="975" dirty="0">
                <a:solidFill>
                  <a:srgbClr val="4B5563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655118" y="2380774"/>
              <a:ext cx="25309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B5563"/>
                  </a:solidFill>
                  <a:latin typeface="Segoe UI"/>
                  <a:ea typeface="Microsoft YaHei"/>
                  <a:cs typeface="Segoe UI"/>
                </a:rPr>
                <a:t>进入 TipCalculatorPage(Header 可见)</a:t>
              </a:r>
              <a:endParaRPr lang="zh-CN" sz="975" dirty="0">
                <a:solidFill>
                  <a:srgbClr val="4B5563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274969" y="2380774"/>
              <a:ext cx="3095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4B5563"/>
                  </a:solidFill>
                  <a:latin typeface="Segoe UI"/>
                  <a:ea typeface="Microsoft YaHei"/>
                  <a:cs typeface="Segoe UI"/>
                </a:rPr>
                <a:t>跳转</a:t>
              </a:r>
              <a:endParaRPr lang="zh-CN" sz="975" dirty="0">
                <a:solidFill>
                  <a:srgbClr val="4B5563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237102" y="2380774"/>
              <a:ext cx="4807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0B981"/>
                  </a:solidFill>
                  <a:latin typeface="Segoe UI"/>
                  <a:ea typeface="Microsoft YaHei"/>
                  <a:cs typeface="Segoe UI"/>
                </a:rPr>
                <a:t>✓ PASS</a:t>
              </a:r>
              <a:endParaRPr lang="zh-CN" sz="975" b="1" dirty="0">
                <a:solidFill>
                  <a:srgbClr val="10B981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71500" y="2628900"/>
              <a:ext cx="11049000" cy="381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49618" y="2761774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3</a:t>
              </a:r>
              <a:endParaRPr lang="zh-CN" sz="975" dirty="0">
                <a:solidFill>
                  <a:srgbClr val="94A3B8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225868" y="2761774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页面控件齐全</a:t>
              </a:r>
              <a:endParaRPr lang="zh-CN" sz="975" dirty="0">
                <a:solidFill>
                  <a:srgbClr val="1F2937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035618" y="2761774"/>
              <a:ext cx="7367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B5563"/>
                  </a:solidFill>
                  <a:latin typeface="Segoe UI"/>
                  <a:ea typeface="Microsoft YaHei"/>
                  <a:cs typeface="Segoe UI"/>
                </a:rPr>
                <a:t>进入新页面</a:t>
              </a:r>
              <a:endParaRPr lang="zh-CN" sz="975" dirty="0">
                <a:solidFill>
                  <a:srgbClr val="4B5563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655118" y="2761774"/>
              <a:ext cx="243842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B5563"/>
                  </a:solidFill>
                  <a:latin typeface="Segoe UI"/>
                  <a:ea typeface="Microsoft YaHei"/>
                  <a:cs typeface="Segoe UI"/>
                </a:rPr>
                <a:t>金额/人数 + 4 档位 + 自定义 + 「--」</a:t>
              </a:r>
              <a:endParaRPr lang="zh-CN" sz="975" dirty="0">
                <a:solidFill>
                  <a:srgbClr val="4B5563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274969" y="2761774"/>
              <a:ext cx="3095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4B5563"/>
                  </a:solidFill>
                  <a:latin typeface="Segoe UI"/>
                  <a:ea typeface="Microsoft YaHei"/>
                  <a:cs typeface="Segoe UI"/>
                </a:rPr>
                <a:t>齐全</a:t>
              </a:r>
              <a:endParaRPr lang="zh-CN" sz="975" dirty="0">
                <a:solidFill>
                  <a:srgbClr val="4B5563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237102" y="2761774"/>
              <a:ext cx="4807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0B981"/>
                  </a:solidFill>
                  <a:latin typeface="Segoe UI"/>
                  <a:ea typeface="Microsoft YaHei"/>
                  <a:cs typeface="Segoe UI"/>
                </a:rPr>
                <a:t>✓ PASS</a:t>
              </a:r>
              <a:endParaRPr lang="zh-CN" sz="975" b="1" dirty="0">
                <a:solidFill>
                  <a:srgbClr val="10B981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71500" y="3009900"/>
              <a:ext cx="11049000" cy="381000"/>
            </a:xfrm>
            <a:prstGeom prst="rect">
              <a:avLst/>
            </a:prstGeom>
            <a:solidFill>
              <a:srgbClr val="FEF3C7"/>
            </a:solidFill>
            <a:ln w="9525">
              <a:solidFill>
                <a:srgbClr val="F59E0B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49618" y="3142774"/>
              <a:ext cx="23409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59E0B"/>
                  </a:solidFill>
                  <a:latin typeface="Segoe UI"/>
                  <a:ea typeface="Microsoft YaHei"/>
                  <a:cs typeface="Segoe UI"/>
                </a:rPr>
                <a:t>⭐ 4</a:t>
              </a:r>
              <a:endParaRPr lang="zh-CN" sz="975" b="1" dirty="0">
                <a:solidFill>
                  <a:srgbClr val="F59E0B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225868" y="3142774"/>
              <a:ext cx="12209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真实输入触发计算</a:t>
              </a:r>
              <a:endParaRPr lang="zh-CN" sz="975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035618" y="3142774"/>
              <a:ext cx="15128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amount=100, people=4</a:t>
              </a:r>
              <a:endParaRPr lang="zh-CN" sz="975" dirty="0">
                <a:solidFill>
                  <a:srgbClr val="1565C0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55118" y="3142774"/>
              <a:ext cx="16979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B5563"/>
                  </a:solidFill>
                  <a:latin typeface="Segoe UI"/>
                  <a:ea typeface="Microsoft YaHei"/>
                  <a:cs typeface="Segoe UI"/>
                </a:rPr>
                <a:t>人均 = 28.75(100×1.15/4)</a:t>
              </a:r>
              <a:endParaRPr lang="zh-CN" sz="975" dirty="0">
                <a:solidFill>
                  <a:srgbClr val="4B5563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211779" y="3142774"/>
              <a:ext cx="4359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28.75</a:t>
              </a:r>
              <a:endParaRPr lang="zh-CN" sz="975" b="1" dirty="0">
                <a:solidFill>
                  <a:srgbClr val="1565C0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237102" y="3142774"/>
              <a:ext cx="4807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0B981"/>
                  </a:solidFill>
                  <a:latin typeface="Segoe UI"/>
                  <a:ea typeface="Microsoft YaHei"/>
                  <a:cs typeface="Segoe UI"/>
                </a:rPr>
                <a:t>✓ PASS</a:t>
              </a:r>
              <a:endParaRPr lang="zh-CN" sz="975" b="1" dirty="0">
                <a:solidFill>
                  <a:srgbClr val="10B981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71500" y="3390900"/>
              <a:ext cx="11049000" cy="381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49618" y="3523774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5</a:t>
              </a:r>
              <a:endParaRPr lang="zh-CN" sz="975" dirty="0">
                <a:solidFill>
                  <a:srgbClr val="94A3B8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225868" y="3523774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档位切换</a:t>
              </a:r>
              <a:endParaRPr lang="zh-CN" sz="975" dirty="0">
                <a:solidFill>
                  <a:srgbClr val="1F2937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035618" y="3523774"/>
              <a:ext cx="79371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B5563"/>
                  </a:solidFill>
                  <a:latin typeface="Segoe UI"/>
                  <a:ea typeface="Microsoft YaHei"/>
                  <a:cs typeface="Segoe UI"/>
                </a:rPr>
                <a:t>点击「18%」</a:t>
              </a:r>
              <a:endParaRPr lang="zh-CN" sz="975" dirty="0">
                <a:solidFill>
                  <a:srgbClr val="4B5563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655118" y="3523774"/>
              <a:ext cx="14772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B5563"/>
                  </a:solidFill>
                  <a:latin typeface="Segoe UI"/>
                  <a:ea typeface="Microsoft YaHei"/>
                  <a:cs typeface="Segoe UI"/>
                </a:rPr>
                <a:t>高亮切换 + 人均 29.50</a:t>
              </a:r>
              <a:endParaRPr lang="zh-CN" sz="975" dirty="0">
                <a:solidFill>
                  <a:srgbClr val="4B5563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211779" y="3523774"/>
              <a:ext cx="4359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29.50</a:t>
              </a:r>
              <a:endParaRPr lang="zh-CN" sz="975" b="1" dirty="0">
                <a:solidFill>
                  <a:srgbClr val="1565C0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237102" y="3523774"/>
              <a:ext cx="4807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0B981"/>
                  </a:solidFill>
                  <a:latin typeface="Segoe UI"/>
                  <a:ea typeface="Microsoft YaHei"/>
                  <a:cs typeface="Segoe UI"/>
                </a:rPr>
                <a:t>✓ PASS</a:t>
              </a:r>
              <a:endParaRPr lang="zh-CN" sz="975" b="1" dirty="0">
                <a:solidFill>
                  <a:srgbClr val="10B981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71500" y="3771900"/>
              <a:ext cx="11049000" cy="381000"/>
            </a:xfrm>
            <a:prstGeom prst="rect">
              <a:avLst/>
            </a:prstGeom>
            <a:solidFill>
              <a:srgbClr val="F7F9FC"/>
            </a:solidFill>
            <a:ln w="9525">
              <a:solidFill>
                <a:srgbClr val="E5E7EB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49618" y="3904774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6</a:t>
              </a:r>
              <a:endParaRPr lang="zh-CN" sz="975" dirty="0">
                <a:solidFill>
                  <a:srgbClr val="94A3B8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225868" y="3904774"/>
              <a:ext cx="7367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自定义模式</a:t>
              </a:r>
              <a:endParaRPr lang="zh-CN" sz="975" dirty="0">
                <a:solidFill>
                  <a:srgbClr val="1F2937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035618" y="3904774"/>
              <a:ext cx="10215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B5563"/>
                  </a:solidFill>
                  <a:latin typeface="Segoe UI"/>
                  <a:ea typeface="Microsoft YaHei"/>
                  <a:cs typeface="Segoe UI"/>
                </a:rPr>
                <a:t>点击「自定义」</a:t>
              </a:r>
              <a:endParaRPr lang="zh-CN" sz="975" dirty="0">
                <a:solidFill>
                  <a:srgbClr val="4B5563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655118" y="3904774"/>
              <a:ext cx="201834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B5563"/>
                  </a:solidFill>
                  <a:latin typeface="Segoe UI"/>
                  <a:ea typeface="Microsoft YaHei"/>
                  <a:cs typeface="Segoe UI"/>
                </a:rPr>
                <a:t>4 档位退色 · 自定义输入框出现</a:t>
              </a:r>
              <a:endParaRPr lang="zh-CN" sz="975" dirty="0">
                <a:solidFill>
                  <a:srgbClr val="4B5563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274969" y="3904774"/>
              <a:ext cx="3095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4B5563"/>
                  </a:solidFill>
                  <a:latin typeface="Segoe UI"/>
                  <a:ea typeface="Microsoft YaHei"/>
                  <a:cs typeface="Segoe UI"/>
                </a:rPr>
                <a:t>切换</a:t>
              </a:r>
              <a:endParaRPr lang="zh-CN" sz="975" dirty="0">
                <a:solidFill>
                  <a:srgbClr val="4B5563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237102" y="3904774"/>
              <a:ext cx="4807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0B981"/>
                  </a:solidFill>
                  <a:latin typeface="Segoe UI"/>
                  <a:ea typeface="Microsoft YaHei"/>
                  <a:cs typeface="Segoe UI"/>
                </a:rPr>
                <a:t>✓ PASS</a:t>
              </a:r>
              <a:endParaRPr lang="zh-CN" sz="975" b="1" dirty="0">
                <a:solidFill>
                  <a:srgbClr val="10B981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71500" y="4152900"/>
              <a:ext cx="11049000" cy="381000"/>
            </a:xfrm>
            <a:prstGeom prst="rect">
              <a:avLst/>
            </a:prstGeom>
            <a:solidFill>
              <a:srgbClr val="FEF3C7"/>
            </a:solidFill>
            <a:ln w="9525">
              <a:solidFill>
                <a:srgbClr val="F59E0B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49618" y="4285774"/>
              <a:ext cx="23409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59E0B"/>
                  </a:solidFill>
                  <a:latin typeface="Segoe UI"/>
                  <a:ea typeface="Microsoft YaHei"/>
                  <a:cs typeface="Segoe UI"/>
                </a:rPr>
                <a:t>⭐ 7</a:t>
              </a:r>
              <a:endParaRPr lang="zh-CN" sz="975" b="1" dirty="0">
                <a:solidFill>
                  <a:srgbClr val="F59E0B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225868" y="4285774"/>
              <a:ext cx="9218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自定义值计算</a:t>
              </a:r>
              <a:endParaRPr lang="zh-CN" sz="975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3035618" y="4285774"/>
              <a:ext cx="9574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customTip=25</a:t>
              </a:r>
              <a:endParaRPr lang="zh-CN" sz="975" dirty="0">
                <a:solidFill>
                  <a:srgbClr val="1565C0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655118" y="4285774"/>
              <a:ext cx="16979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B5563"/>
                  </a:solidFill>
                  <a:latin typeface="Segoe UI"/>
                  <a:ea typeface="Microsoft YaHei"/>
                  <a:cs typeface="Segoe UI"/>
                </a:rPr>
                <a:t>人均 = 31.25(100×1.25/4)</a:t>
              </a:r>
              <a:endParaRPr lang="zh-CN" sz="975" dirty="0">
                <a:solidFill>
                  <a:srgbClr val="4B5563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230469" y="4285774"/>
              <a:ext cx="3985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31.25</a:t>
              </a:r>
              <a:endParaRPr lang="zh-CN" sz="975" b="1" dirty="0">
                <a:solidFill>
                  <a:srgbClr val="1565C0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237102" y="4285774"/>
              <a:ext cx="4807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0B981"/>
                  </a:solidFill>
                  <a:latin typeface="Segoe UI"/>
                  <a:ea typeface="Microsoft YaHei"/>
                  <a:cs typeface="Segoe UI"/>
                </a:rPr>
                <a:t>✓ PASS</a:t>
              </a:r>
              <a:endParaRPr lang="zh-CN" sz="975" b="1" dirty="0">
                <a:solidFill>
                  <a:srgbClr val="10B981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571500" y="4533900"/>
              <a:ext cx="11049000" cy="381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49618" y="4666774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8</a:t>
              </a:r>
              <a:endParaRPr lang="zh-CN" sz="975" dirty="0">
                <a:solidFill>
                  <a:srgbClr val="94A3B8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225868" y="4666774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返回主页</a:t>
              </a:r>
              <a:endParaRPr lang="zh-CN" sz="975" dirty="0">
                <a:solidFill>
                  <a:srgbClr val="1F2937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3035618" y="4666774"/>
              <a:ext cx="100019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B5563"/>
                  </a:solidFill>
                  <a:latin typeface="Segoe UI"/>
                  <a:ea typeface="Microsoft YaHei"/>
                  <a:cs typeface="Segoe UI"/>
                </a:rPr>
                <a:t>点击「← 返回」</a:t>
              </a:r>
              <a:endParaRPr lang="zh-CN" sz="975" dirty="0">
                <a:solidFill>
                  <a:srgbClr val="4B5563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655118" y="4666774"/>
              <a:ext cx="253810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B5563"/>
                  </a:solidFill>
                  <a:latin typeface="Segoe UI"/>
                  <a:ea typeface="Microsoft YaHei"/>
                  <a:cs typeface="Segoe UI"/>
                </a:rPr>
                <a:t>回到 CalculatorPage · 主键盘完整恢复</a:t>
              </a:r>
              <a:endParaRPr lang="zh-CN" sz="975" dirty="0">
                <a:solidFill>
                  <a:srgbClr val="4B5563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274969" y="4666774"/>
              <a:ext cx="3095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4B5563"/>
                  </a:solidFill>
                  <a:latin typeface="Segoe UI"/>
                  <a:ea typeface="Microsoft YaHei"/>
                  <a:cs typeface="Segoe UI"/>
                </a:rPr>
                <a:t>返回</a:t>
              </a:r>
              <a:endParaRPr lang="zh-CN" sz="975" dirty="0">
                <a:solidFill>
                  <a:srgbClr val="4B5563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237102" y="4666774"/>
              <a:ext cx="4807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0B981"/>
                  </a:solidFill>
                  <a:latin typeface="Segoe UI"/>
                  <a:ea typeface="Microsoft YaHei"/>
                  <a:cs typeface="Segoe UI"/>
                </a:rPr>
                <a:t>✓ PASS</a:t>
              </a:r>
              <a:endParaRPr lang="zh-CN" sz="975" b="1" dirty="0">
                <a:solidFill>
                  <a:srgbClr val="10B981"/>
                </a:solidFill>
                <a:latin typeface="Segoe UI"/>
                <a:ea typeface="Microsoft YaHei"/>
                <a:cs typeface="Segoe UI"/>
              </a:endParaRPr>
            </a:p>
          </p:txBody>
        </p:sp>
      </p:grpSp>
      <p:sp>
        <p:nvSpPr>
          <p:cNvPr id="71" name="Rectangle 71"/>
          <p:cNvSpPr/>
          <p:nvPr/>
        </p:nvSpPr>
        <p:spPr>
          <a:xfrm>
            <a:off x="571500" y="5124450"/>
            <a:ext cx="11049000" cy="1047750"/>
          </a:xfrm>
          <a:prstGeom prst="roundRect">
            <a:avLst>
              <a:gd name="adj" fmla="val 9091"/>
            </a:avLst>
          </a:prstGeom>
          <a:solidFill>
            <a:srgbClr val="FEF3C7"/>
          </a:solidFill>
          <a:ln w="14288">
            <a:solidFill>
              <a:srgbClr val="F59E0B"/>
            </a:solidFill>
          </a:ln>
        </p:spPr>
      </p:sp>
      <p:grpSp>
        <p:nvGrpSpPr>
          <p:cNvPr id="81" name="Group 81"/>
          <p:cNvGrpSpPr/>
          <p:nvPr/>
        </p:nvGrpSpPr>
        <p:grpSpPr>
          <a:xfrm>
            <a:off x="859155" y="5400675"/>
            <a:ext cx="240030" cy="200025"/>
            <a:chOff x="859155" y="5400675"/>
            <a:chExt cx="240030" cy="200025"/>
          </a:xfrm>
        </p:grpSpPr>
        <p:sp>
          <p:nvSpPr>
            <p:cNvPr id="72" name="Freeform 72"/>
            <p:cNvSpPr/>
            <p:nvPr/>
          </p:nvSpPr>
          <p:spPr>
            <a:xfrm>
              <a:off x="939165" y="5400675"/>
              <a:ext cx="80010" cy="53340"/>
            </a:xfrm>
            <a:custGeom>
              <a:avLst/>
              <a:gdLst/>
              <a:ahLst/>
              <a:cxnLst/>
              <a:rect l="l" t="t" r="r" b="b"/>
              <a:pathLst>
                <a:path w="80010" h="53340">
                  <a:moveTo>
                    <a:pt x="0" y="53340"/>
                  </a:moveTo>
                  <a:lnTo>
                    <a:pt x="0" y="40005"/>
                  </a:lnTo>
                  <a:cubicBezTo>
                    <a:pt x="0" y="17911"/>
                    <a:pt x="17911" y="0"/>
                    <a:pt x="40005" y="0"/>
                  </a:cubicBezTo>
                  <a:cubicBezTo>
                    <a:pt x="62099" y="0"/>
                    <a:pt x="80010" y="17911"/>
                    <a:pt x="80010" y="40005"/>
                  </a:cubicBezTo>
                  <a:lnTo>
                    <a:pt x="80010" y="53340"/>
                  </a:lnTo>
                </a:path>
              </a:pathLst>
            </a:custGeom>
            <a:noFill/>
            <a:ln w="19050" cap="rnd">
              <a:solidFill>
                <a:srgbClr val="F59E0B"/>
              </a:solidFill>
              <a:round/>
            </a:ln>
          </p:spPr>
        </p:sp>
        <p:sp>
          <p:nvSpPr>
            <p:cNvPr id="73" name="Freeform 73"/>
            <p:cNvSpPr/>
            <p:nvPr/>
          </p:nvSpPr>
          <p:spPr>
            <a:xfrm>
              <a:off x="912495" y="5454015"/>
              <a:ext cx="133350" cy="146685"/>
            </a:xfrm>
            <a:custGeom>
              <a:avLst/>
              <a:gdLst/>
              <a:ahLst/>
              <a:cxnLst/>
              <a:rect l="l" t="t" r="r" b="b"/>
              <a:pathLst>
                <a:path w="133350" h="146685">
                  <a:moveTo>
                    <a:pt x="13335" y="0"/>
                  </a:moveTo>
                  <a:lnTo>
                    <a:pt x="120015" y="0"/>
                  </a:lnTo>
                  <a:cubicBezTo>
                    <a:pt x="127957" y="11903"/>
                    <a:pt x="132562" y="25717"/>
                    <a:pt x="133350" y="40005"/>
                  </a:cubicBezTo>
                  <a:lnTo>
                    <a:pt x="133350" y="80010"/>
                  </a:lnTo>
                  <a:cubicBezTo>
                    <a:pt x="133350" y="116834"/>
                    <a:pt x="103499" y="146685"/>
                    <a:pt x="66675" y="146685"/>
                  </a:cubicBezTo>
                  <a:cubicBezTo>
                    <a:pt x="29851" y="146685"/>
                    <a:pt x="0" y="116834"/>
                    <a:pt x="0" y="80010"/>
                  </a:cubicBezTo>
                  <a:lnTo>
                    <a:pt x="0" y="40005"/>
                  </a:lnTo>
                  <a:cubicBezTo>
                    <a:pt x="788" y="25717"/>
                    <a:pt x="5393" y="11903"/>
                    <a:pt x="13335" y="0"/>
                  </a:cubicBezTo>
                </a:path>
              </a:pathLst>
            </a:custGeom>
            <a:noFill/>
            <a:ln w="19050" cap="rnd">
              <a:solidFill>
                <a:srgbClr val="F59E0B"/>
              </a:solidFill>
              <a:round/>
            </a:ln>
          </p:spPr>
        </p:sp>
        <p:sp>
          <p:nvSpPr>
            <p:cNvPr id="74" name="Freeform 74"/>
            <p:cNvSpPr/>
            <p:nvPr/>
          </p:nvSpPr>
          <p:spPr>
            <a:xfrm>
              <a:off x="859155" y="5507355"/>
              <a:ext cx="53340" cy="9525"/>
            </a:xfrm>
            <a:custGeom>
              <a:avLst/>
              <a:gdLst/>
              <a:ahLst/>
              <a:cxnLst/>
              <a:rect l="l" t="t" r="r" b="b"/>
              <a:pathLst>
                <a:path w="53340" h="9525">
                  <a:moveTo>
                    <a:pt x="0" y="0"/>
                  </a:moveTo>
                  <a:lnTo>
                    <a:pt x="53340" y="0"/>
                  </a:lnTo>
                </a:path>
              </a:pathLst>
            </a:custGeom>
            <a:noFill/>
            <a:ln w="19050" cap="rnd">
              <a:solidFill>
                <a:srgbClr val="F59E0B"/>
              </a:solidFill>
              <a:round/>
            </a:ln>
          </p:spPr>
        </p:sp>
        <p:sp>
          <p:nvSpPr>
            <p:cNvPr id="75" name="Freeform 75"/>
            <p:cNvSpPr/>
            <p:nvPr/>
          </p:nvSpPr>
          <p:spPr>
            <a:xfrm>
              <a:off x="1045845" y="5507355"/>
              <a:ext cx="53340" cy="9525"/>
            </a:xfrm>
            <a:custGeom>
              <a:avLst/>
              <a:gdLst/>
              <a:ahLst/>
              <a:cxnLst/>
              <a:rect l="l" t="t" r="r" b="b"/>
              <a:pathLst>
                <a:path w="53340" h="9525">
                  <a:moveTo>
                    <a:pt x="0" y="0"/>
                  </a:moveTo>
                  <a:lnTo>
                    <a:pt x="53340" y="0"/>
                  </a:lnTo>
                </a:path>
              </a:pathLst>
            </a:custGeom>
            <a:noFill/>
            <a:ln w="19050" cap="rnd">
              <a:solidFill>
                <a:srgbClr val="F59E0B"/>
              </a:solidFill>
              <a:round/>
            </a:ln>
          </p:spPr>
        </p:sp>
        <p:sp>
          <p:nvSpPr>
            <p:cNvPr id="76" name="Freeform 76"/>
            <p:cNvSpPr/>
            <p:nvPr/>
          </p:nvSpPr>
          <p:spPr>
            <a:xfrm>
              <a:off x="979170" y="5520690"/>
              <a:ext cx="9525" cy="80010"/>
            </a:xfrm>
            <a:custGeom>
              <a:avLst/>
              <a:gdLst/>
              <a:ahLst/>
              <a:cxnLst/>
              <a:rect l="l" t="t" r="r" b="b"/>
              <a:pathLst>
                <a:path w="9525" h="80010">
                  <a:moveTo>
                    <a:pt x="0" y="80010"/>
                  </a:moveTo>
                  <a:lnTo>
                    <a:pt x="0" y="0"/>
                  </a:lnTo>
                </a:path>
              </a:pathLst>
            </a:custGeom>
            <a:noFill/>
            <a:ln w="19050" cap="rnd">
              <a:solidFill>
                <a:srgbClr val="F59E0B"/>
              </a:solidFill>
              <a:round/>
            </a:ln>
          </p:spPr>
        </p:sp>
        <p:sp>
          <p:nvSpPr>
            <p:cNvPr id="77" name="Freeform 77"/>
            <p:cNvSpPr/>
            <p:nvPr/>
          </p:nvSpPr>
          <p:spPr>
            <a:xfrm>
              <a:off x="872490" y="5560695"/>
              <a:ext cx="44672" cy="26670"/>
            </a:xfrm>
            <a:custGeom>
              <a:avLst/>
              <a:gdLst/>
              <a:ahLst/>
              <a:cxnLst/>
              <a:rect l="l" t="t" r="r" b="b"/>
              <a:pathLst>
                <a:path w="44672" h="26670">
                  <a:moveTo>
                    <a:pt x="0" y="26670"/>
                  </a:moveTo>
                  <a:lnTo>
                    <a:pt x="44672" y="0"/>
                  </a:lnTo>
                </a:path>
              </a:pathLst>
            </a:custGeom>
            <a:noFill/>
            <a:ln w="19050" cap="rnd">
              <a:solidFill>
                <a:srgbClr val="F59E0B"/>
              </a:solidFill>
              <a:round/>
            </a:ln>
          </p:spPr>
        </p:sp>
        <p:sp>
          <p:nvSpPr>
            <p:cNvPr id="78" name="Freeform 78"/>
            <p:cNvSpPr/>
            <p:nvPr/>
          </p:nvSpPr>
          <p:spPr>
            <a:xfrm>
              <a:off x="1041178" y="5560695"/>
              <a:ext cx="44672" cy="26670"/>
            </a:xfrm>
            <a:custGeom>
              <a:avLst/>
              <a:gdLst/>
              <a:ahLst/>
              <a:cxnLst/>
              <a:rect l="l" t="t" r="r" b="b"/>
              <a:pathLst>
                <a:path w="44672" h="26670">
                  <a:moveTo>
                    <a:pt x="44672" y="26670"/>
                  </a:moveTo>
                  <a:lnTo>
                    <a:pt x="0" y="0"/>
                  </a:lnTo>
                </a:path>
              </a:pathLst>
            </a:custGeom>
            <a:noFill/>
            <a:ln w="19050" cap="rnd">
              <a:solidFill>
                <a:srgbClr val="F59E0B"/>
              </a:solidFill>
              <a:round/>
            </a:ln>
          </p:spPr>
        </p:sp>
        <p:sp>
          <p:nvSpPr>
            <p:cNvPr id="79" name="Freeform 79"/>
            <p:cNvSpPr/>
            <p:nvPr/>
          </p:nvSpPr>
          <p:spPr>
            <a:xfrm>
              <a:off x="872490" y="5427345"/>
              <a:ext cx="50006" cy="32004"/>
            </a:xfrm>
            <a:custGeom>
              <a:avLst/>
              <a:gdLst/>
              <a:ahLst/>
              <a:cxnLst/>
              <a:rect l="l" t="t" r="r" b="b"/>
              <a:pathLst>
                <a:path w="50006" h="32004">
                  <a:moveTo>
                    <a:pt x="0" y="0"/>
                  </a:moveTo>
                  <a:lnTo>
                    <a:pt x="50006" y="32004"/>
                  </a:lnTo>
                </a:path>
              </a:pathLst>
            </a:custGeom>
            <a:noFill/>
            <a:ln w="19050" cap="rnd">
              <a:solidFill>
                <a:srgbClr val="F59E0B"/>
              </a:solidFill>
              <a:round/>
            </a:ln>
          </p:spPr>
        </p:sp>
        <p:sp>
          <p:nvSpPr>
            <p:cNvPr id="80" name="Freeform 80"/>
            <p:cNvSpPr/>
            <p:nvPr/>
          </p:nvSpPr>
          <p:spPr>
            <a:xfrm>
              <a:off x="1035844" y="5427345"/>
              <a:ext cx="50006" cy="32004"/>
            </a:xfrm>
            <a:custGeom>
              <a:avLst/>
              <a:gdLst/>
              <a:ahLst/>
              <a:cxnLst/>
              <a:rect l="l" t="t" r="r" b="b"/>
              <a:pathLst>
                <a:path w="50006" h="32004">
                  <a:moveTo>
                    <a:pt x="50006" y="0"/>
                  </a:moveTo>
                  <a:lnTo>
                    <a:pt x="0" y="32004"/>
                  </a:lnTo>
                </a:path>
              </a:pathLst>
            </a:custGeom>
            <a:noFill/>
            <a:ln w="19050" cap="rnd">
              <a:solidFill>
                <a:srgbClr val="F59E0B"/>
              </a:solidFill>
              <a:round/>
            </a:ln>
          </p:spPr>
        </p:sp>
      </p:grpSp>
      <p:sp>
        <p:nvSpPr>
          <p:cNvPr id="82" name="TextBox 82"/>
          <p:cNvSpPr txBox="1"/>
          <p:nvPr/>
        </p:nvSpPr>
        <p:spPr>
          <a:xfrm>
            <a:off x="1225868" y="5343049"/>
            <a:ext cx="143451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59E0B"/>
                </a:solidFill>
                <a:latin typeface="Segoe UI"/>
                <a:ea typeface="Microsoft YaHei"/>
                <a:cs typeface="Segoe UI"/>
              </a:rPr>
              <a:t>DEFECT POSTMORTEM</a:t>
            </a:r>
            <a:endParaRPr lang="zh-CN" sz="975" dirty="0">
              <a:solidFill>
                <a:srgbClr val="F59E0B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83" name="TextBox 83"/>
          <p:cNvSpPr txBox="1"/>
          <p:nvPr/>
        </p:nvSpPr>
        <p:spPr>
          <a:xfrm>
            <a:off x="1221105" y="5550218"/>
            <a:ext cx="699035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P-01 · @Component getter 不被 ArkUI @Builder Text() 当作响应式数据源</a:t>
            </a:r>
            <a:endParaRPr lang="zh-CN" sz="1350" b="1" dirty="0">
              <a:solidFill>
                <a:srgbClr val="1F2937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84" name="TextBox 84"/>
          <p:cNvSpPr txBox="1"/>
          <p:nvPr/>
        </p:nvSpPr>
        <p:spPr>
          <a:xfrm>
            <a:off x="1224915" y="5830252"/>
            <a:ext cx="61914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B5563"/>
                </a:solidFill>
                <a:latin typeface="Segoe UI"/>
                <a:ea typeface="Microsoft YaHei"/>
                <a:cs typeface="Segoe UI"/>
              </a:rPr>
              <a:t>首版 HAP 真机输入后人均一直显示 '--' · @State 重渲染时 Text 节点不读 getter 最新值</a:t>
            </a:r>
            <a:endParaRPr lang="zh-CN" sz="1050" dirty="0">
              <a:solidFill>
                <a:srgbClr val="4B5563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85" name="Rectangle 85"/>
          <p:cNvSpPr/>
          <p:nvPr/>
        </p:nvSpPr>
        <p:spPr>
          <a:xfrm>
            <a:off x="8572500" y="5257800"/>
            <a:ext cx="2857500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F59E0B"/>
            </a:solidFill>
          </a:ln>
        </p:spPr>
      </p:sp>
      <p:sp>
        <p:nvSpPr>
          <p:cNvPr id="86" name="TextBox 86"/>
          <p:cNvSpPr txBox="1"/>
          <p:nvPr/>
        </p:nvSpPr>
        <p:spPr>
          <a:xfrm>
            <a:off x="8732520" y="5389245"/>
            <a:ext cx="20688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FIX</a:t>
            </a:r>
            <a:endParaRPr lang="zh-CN" sz="900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87" name="TextBox 87"/>
          <p:cNvSpPr txBox="1"/>
          <p:nvPr/>
        </p:nvSpPr>
        <p:spPr>
          <a:xfrm>
            <a:off x="8729662" y="5593556"/>
            <a:ext cx="246112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2937"/>
                </a:solidFill>
                <a:latin typeface="Consolas"/>
                <a:ea typeface="Microsoft YaHei"/>
                <a:cs typeface="Consolas"/>
              </a:rPr>
              <a:t>private get → private method</a:t>
            </a:r>
            <a:endParaRPr lang="zh-CN" sz="1125" b="1" dirty="0">
              <a:solidFill>
                <a:srgbClr val="1F2937"/>
              </a:solidFill>
              <a:latin typeface="Consolas"/>
              <a:ea typeface="Microsoft YaHei"/>
              <a:cs typeface="Consolas"/>
            </a:endParaRPr>
          </a:p>
        </p:txBody>
      </p:sp>
      <p:sp>
        <p:nvSpPr>
          <p:cNvPr id="88" name="TextBox 88"/>
          <p:cNvSpPr txBox="1"/>
          <p:nvPr/>
        </p:nvSpPr>
        <p:spPr>
          <a:xfrm>
            <a:off x="8731568" y="5819299"/>
            <a:ext cx="228890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0288D1"/>
                </a:solidFill>
                <a:latin typeface="Consolas"/>
                <a:ea typeface="Microsoft YaHei"/>
                <a:cs typeface="Consolas"/>
              </a:rPr>
              <a:t>Text(this.computePerPerson())</a:t>
            </a:r>
            <a:endParaRPr lang="zh-CN" sz="975" dirty="0">
              <a:solidFill>
                <a:srgbClr val="0288D1"/>
              </a:solidFill>
              <a:latin typeface="Consolas"/>
              <a:ea typeface="Microsoft YaHei"/>
              <a:cs typeface="Consolas"/>
            </a:endParaRPr>
          </a:p>
        </p:txBody>
      </p:sp>
      <p:sp>
        <p:nvSpPr>
          <p:cNvPr id="89" name="Line 89"/>
          <p:cNvSpPr/>
          <p:nvPr/>
        </p:nvSpPr>
        <p:spPr>
          <a:xfrm>
            <a:off x="571500" y="64770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90" name="TextBox 90"/>
          <p:cNvSpPr txBox="1"/>
          <p:nvPr/>
        </p:nvSpPr>
        <p:spPr>
          <a:xfrm>
            <a:off x="561975" y="6586538"/>
            <a:ext cx="219336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OpenCalc HarmonyOS Demo · 客户实验手册</a:t>
            </a:r>
            <a:endParaRPr lang="zh-CN" sz="750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91" name="TextBox 91"/>
          <p:cNvSpPr txBox="1"/>
          <p:nvPr/>
        </p:nvSpPr>
        <p:spPr>
          <a:xfrm>
            <a:off x="11271409" y="6586538"/>
            <a:ext cx="35861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09 / 16</a:t>
            </a:r>
            <a:endParaRPr lang="zh-CN" sz="750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1020" y="598170"/>
            <a:ext cx="374142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需求 3 — 函数图像绘制</a:t>
            </a:r>
            <a:endParaRPr lang="zh-CN" sz="2400" b="1" dirty="0">
              <a:solidFill>
                <a:srgbClr val="1F2937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4" name="Rectangle 4"/>
          <p:cNvSpPr/>
          <p:nvPr/>
        </p:nvSpPr>
        <p:spPr>
          <a:xfrm>
            <a:off x="571500" y="952500"/>
            <a:ext cx="7620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565C0"/>
              </a:gs>
              <a:gs pos="100000">
                <a:srgbClr val="0288D1"/>
              </a:gs>
            </a:gsLst>
            <a:lin ang="0" scaled="1"/>
          </a:gra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848070" y="743902"/>
            <a:ext cx="78576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Demo 3 / 3</a:t>
            </a:r>
            <a:endParaRPr lang="zh-CN" sz="1050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54355" y="1140142"/>
            <a:ext cx="585171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6A69A"/>
                </a:solidFill>
                <a:latin typeface="Segoe UI"/>
                <a:ea typeface="Microsoft YaHei"/>
                <a:cs typeface="Segoe UI"/>
              </a:rPr>
              <a:t>复杂度 M · 多文件特性 · Canvas 渲染 · FMEA R-01..R-10 闭环</a:t>
            </a:r>
            <a:endParaRPr lang="zh-CN" sz="1350" b="1" dirty="0">
              <a:solidFill>
                <a:srgbClr val="26A69A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7" name="Rectangle 7"/>
          <p:cNvSpPr/>
          <p:nvPr/>
        </p:nvSpPr>
        <p:spPr>
          <a:xfrm>
            <a:off x="571500" y="1619250"/>
            <a:ext cx="4095750" cy="457200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E5E7EB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748665" y="1867852"/>
            <a:ext cx="89311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COMPLEXITY</a:t>
            </a:r>
            <a:endParaRPr lang="zh-CN" sz="1050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647700" y="1695450"/>
            <a:ext cx="1263729" cy="182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0" b="1" dirty="0">
                <a:gradFill>
                  <a:gsLst>
                    <a:gs pos="0">
                      <a:srgbClr val="F59E0B"/>
                    </a:gs>
                    <a:gs pos="100000">
                      <a:srgbClr val="26A69A"/>
                    </a:gs>
                  </a:gsLst>
                  <a:lin ang="0" scaled="1"/>
                </a:gradFill>
                <a:latin typeface="Segoe UI"/>
                <a:ea typeface="Microsoft YaHei"/>
                <a:cs typeface="Segoe UI"/>
              </a:rPr>
              <a:t>M</a:t>
            </a:r>
            <a:endParaRPr lang="zh-CN" sz="9000" b="1" dirty="0">
              <a:gradFill>
                <a:gsLst>
                  <a:gs pos="0">
                    <a:srgbClr val="F59E0B"/>
                  </a:gs>
                  <a:gs pos="100000">
                    <a:srgbClr val="26A69A"/>
                  </a:gs>
                </a:gsLst>
                <a:lin ang="0" scaled="1"/>
              </a:gradFill>
              <a:latin typeface="Segoe UI"/>
              <a:ea typeface="Microsoft YaHei"/>
              <a:cs typeface="Segoe UI"/>
            </a:endParaRPr>
          </a:p>
        </p:txBody>
      </p:sp>
      <p:sp>
        <p:nvSpPr>
          <p:cNvPr id="10" name="Line 10"/>
          <p:cNvSpPr/>
          <p:nvPr/>
        </p:nvSpPr>
        <p:spPr>
          <a:xfrm>
            <a:off x="762000" y="2838450"/>
            <a:ext cx="952500" cy="9525"/>
          </a:xfrm>
          <a:custGeom>
            <a:avLst/>
            <a:gdLst/>
            <a:ahLst/>
            <a:cxnLst/>
            <a:rect l="l" t="t" r="r" b="b"/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/>
          <a:ln w="19050">
            <a:solidFill>
              <a:srgbClr val="26A69A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748665" y="2972752"/>
            <a:ext cx="149885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B5563"/>
                </a:solidFill>
                <a:latin typeface="Segoe UI"/>
                <a:ea typeface="Microsoft YaHei"/>
                <a:cs typeface="Segoe UI"/>
              </a:rPr>
              <a:t>Medium · 多文件特性</a:t>
            </a:r>
            <a:endParaRPr lang="zh-CN" sz="1050" dirty="0">
              <a:solidFill>
                <a:srgbClr val="4B5563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748665" y="3182302"/>
            <a:ext cx="14758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B5563"/>
                </a:solidFill>
                <a:latin typeface="Segoe UI"/>
                <a:ea typeface="Microsoft YaHei"/>
                <a:cs typeface="Segoe UI"/>
              </a:rPr>
              <a:t>Canvas + 解析器扩展</a:t>
            </a:r>
            <a:endParaRPr lang="zh-CN" sz="1050" dirty="0">
              <a:solidFill>
                <a:srgbClr val="4B5563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13" name="Rectangle 13"/>
          <p:cNvSpPr/>
          <p:nvPr/>
        </p:nvSpPr>
        <p:spPr>
          <a:xfrm>
            <a:off x="762000" y="3581400"/>
            <a:ext cx="37147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749618" y="379999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改动文件</a:t>
            </a:r>
            <a:endParaRPr lang="zh-CN" sz="975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887855" y="3759518"/>
            <a:ext cx="14815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7</a:t>
            </a:r>
            <a:endParaRPr lang="zh-CN" sz="1350" b="1" dirty="0">
              <a:solidFill>
                <a:srgbClr val="1F2937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2197418" y="3799999"/>
            <a:ext cx="100019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B5563"/>
                </a:solidFill>
                <a:latin typeface="Segoe UI"/>
                <a:ea typeface="Microsoft YaHei"/>
                <a:cs typeface="Segoe UI"/>
              </a:rPr>
              <a:t>2 新增 + 5 修改</a:t>
            </a:r>
            <a:endParaRPr lang="zh-CN" sz="975" dirty="0">
              <a:solidFill>
                <a:srgbClr val="4B5563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749618" y="410479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代码行数</a:t>
            </a:r>
            <a:endParaRPr lang="zh-CN" sz="975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887855" y="4064318"/>
            <a:ext cx="48974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+475</a:t>
            </a:r>
            <a:endParaRPr lang="zh-CN" sz="1350" b="1" dirty="0">
              <a:solidFill>
                <a:srgbClr val="1F2937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749618" y="4409599"/>
            <a:ext cx="69403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FMEA 风险</a:t>
            </a:r>
            <a:endParaRPr lang="zh-CN" sz="975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887855" y="4369118"/>
            <a:ext cx="106941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59E0B"/>
                </a:solidFill>
                <a:latin typeface="Segoe UI"/>
                <a:ea typeface="Microsoft YaHei"/>
                <a:cs typeface="Segoe UI"/>
              </a:rPr>
              <a:t>R-01..R-10</a:t>
            </a:r>
            <a:endParaRPr lang="zh-CN" sz="1350" b="1" dirty="0">
              <a:solidFill>
                <a:srgbClr val="F59E0B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749618" y="4714399"/>
            <a:ext cx="7367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高危项闭环</a:t>
            </a:r>
            <a:endParaRPr lang="zh-CN" sz="975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887855" y="4673918"/>
            <a:ext cx="67607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7 / 7 ✓</a:t>
            </a:r>
            <a:endParaRPr lang="zh-CN" sz="1350" b="1" dirty="0">
              <a:solidFill>
                <a:srgbClr val="10B981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749618" y="5019199"/>
            <a:ext cx="79371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P0 验证用例</a:t>
            </a:r>
            <a:endParaRPr lang="zh-CN" sz="975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887855" y="4978718"/>
            <a:ext cx="80028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12 / 12 ✓</a:t>
            </a:r>
            <a:endParaRPr lang="zh-CN" sz="1350" b="1" dirty="0">
              <a:solidFill>
                <a:srgbClr val="10B981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25" name="Rectangle 25"/>
          <p:cNvSpPr/>
          <p:nvPr/>
        </p:nvSpPr>
        <p:spPr>
          <a:xfrm>
            <a:off x="762000" y="5295900"/>
            <a:ext cx="37147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grpSp>
        <p:nvGrpSpPr>
          <p:cNvPr id="28" name="Group 28"/>
          <p:cNvGrpSpPr/>
          <p:nvPr/>
        </p:nvGrpSpPr>
        <p:grpSpPr>
          <a:xfrm>
            <a:off x="845820" y="5650230"/>
            <a:ext cx="335280" cy="281940"/>
            <a:chOff x="845820" y="5650230"/>
            <a:chExt cx="335280" cy="281940"/>
          </a:xfrm>
        </p:grpSpPr>
        <p:sp>
          <p:nvSpPr>
            <p:cNvPr id="26" name="Freeform 26"/>
            <p:cNvSpPr/>
            <p:nvPr/>
          </p:nvSpPr>
          <p:spPr>
            <a:xfrm>
              <a:off x="845820" y="5922645"/>
              <a:ext cx="335280" cy="9525"/>
            </a:xfrm>
            <a:custGeom>
              <a:avLst/>
              <a:gdLst/>
              <a:ahLst/>
              <a:cxnLst/>
              <a:rect l="l" t="t" r="r" b="b"/>
              <a:pathLst>
                <a:path w="335280" h="9525">
                  <a:moveTo>
                    <a:pt x="0" y="0"/>
                  </a:moveTo>
                  <a:lnTo>
                    <a:pt x="335280" y="0"/>
                  </a:lnTo>
                </a:path>
              </a:pathLst>
            </a:custGeom>
            <a:noFill/>
            <a:ln w="19050" cap="rnd">
              <a:solidFill>
                <a:srgbClr val="26A69A"/>
              </a:solidFill>
              <a:round/>
            </a:ln>
          </p:spPr>
        </p:sp>
        <p:sp>
          <p:nvSpPr>
            <p:cNvPr id="27" name="Freeform 27"/>
            <p:cNvSpPr/>
            <p:nvPr/>
          </p:nvSpPr>
          <p:spPr>
            <a:xfrm>
              <a:off x="845820" y="5650230"/>
              <a:ext cx="335280" cy="188595"/>
            </a:xfrm>
            <a:custGeom>
              <a:avLst/>
              <a:gdLst/>
              <a:ahLst/>
              <a:cxnLst/>
              <a:rect l="l" t="t" r="r" b="b"/>
              <a:pathLst>
                <a:path w="335280" h="188595">
                  <a:moveTo>
                    <a:pt x="0" y="188595"/>
                  </a:moveTo>
                  <a:lnTo>
                    <a:pt x="83820" y="62865"/>
                  </a:lnTo>
                  <a:lnTo>
                    <a:pt x="167640" y="104775"/>
                  </a:lnTo>
                  <a:lnTo>
                    <a:pt x="251460" y="0"/>
                  </a:lnTo>
                  <a:lnTo>
                    <a:pt x="335280" y="83820"/>
                  </a:lnTo>
                </a:path>
              </a:pathLst>
            </a:custGeom>
            <a:noFill/>
            <a:ln w="19050" cap="rnd">
              <a:solidFill>
                <a:srgbClr val="26A69A"/>
              </a:solidFill>
              <a:round/>
            </a:ln>
          </p:spPr>
        </p:sp>
      </p:grpSp>
      <p:sp>
        <p:nvSpPr>
          <p:cNvPr id="29" name="TextBox 29"/>
          <p:cNvSpPr txBox="1"/>
          <p:nvPr/>
        </p:nvSpPr>
        <p:spPr>
          <a:xfrm>
            <a:off x="1605915" y="5696902"/>
            <a:ext cx="11231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16 张模拟器截图</a:t>
            </a:r>
            <a:endParaRPr lang="zh-CN" sz="1050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606868" y="5914549"/>
            <a:ext cx="166947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含 sin/x² /1/x/tan/sqrt</a:t>
            </a:r>
            <a:endParaRPr lang="zh-CN" sz="975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4840605" y="1759268"/>
            <a:ext cx="151452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改动了 7 个文件</a:t>
            </a:r>
            <a:endParaRPr lang="zh-CN" sz="1350" b="1" dirty="0">
              <a:solidFill>
                <a:srgbClr val="1F2937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32" name="Line 32"/>
          <p:cNvSpPr/>
          <p:nvPr/>
        </p:nvSpPr>
        <p:spPr>
          <a:xfrm>
            <a:off x="4857750" y="2000250"/>
            <a:ext cx="1333500" cy="9525"/>
          </a:xfrm>
          <a:custGeom>
            <a:avLst/>
            <a:gdLst/>
            <a:ahLst/>
            <a:cxnLst/>
            <a:rect l="l" t="t" r="r" b="b"/>
            <a:pathLst>
              <a:path w="1333500" h="9525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/>
          <a:ln w="19050">
            <a:solidFill>
              <a:srgbClr val="26A69A"/>
            </a:solidFill>
          </a:ln>
        </p:spPr>
      </p:sp>
      <p:sp>
        <p:nvSpPr>
          <p:cNvPr id="33" name="Rectangle 33"/>
          <p:cNvSpPr/>
          <p:nvPr/>
        </p:nvSpPr>
        <p:spPr>
          <a:xfrm>
            <a:off x="4857750" y="2152650"/>
            <a:ext cx="676275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34" name="Rectangle 34"/>
          <p:cNvSpPr/>
          <p:nvPr/>
        </p:nvSpPr>
        <p:spPr>
          <a:xfrm>
            <a:off x="4857750" y="2152650"/>
            <a:ext cx="57150" cy="59055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5073015" y="2286952"/>
            <a:ext cx="96058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Consolas"/>
                <a:ea typeface="Microsoft YaHei"/>
                <a:cs typeface="Consolas"/>
              </a:rPr>
              <a:t>Plotter.ets</a:t>
            </a:r>
            <a:endParaRPr lang="zh-CN" sz="1050" b="1" dirty="0">
              <a:solidFill>
                <a:srgbClr val="1F2937"/>
              </a:solidFill>
              <a:latin typeface="Consolas"/>
              <a:ea typeface="Microsoft YaHei"/>
              <a:cs typeface="Consolas"/>
            </a:endParaRPr>
          </a:p>
        </p:txBody>
      </p:sp>
      <p:sp>
        <p:nvSpPr>
          <p:cNvPr id="36" name="Rectangle 36"/>
          <p:cNvSpPr/>
          <p:nvPr/>
        </p:nvSpPr>
        <p:spPr>
          <a:xfrm>
            <a:off x="6286500" y="2286000"/>
            <a:ext cx="476250" cy="1905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6387632" y="2330291"/>
            <a:ext cx="27398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新增</a:t>
            </a:r>
            <a:endParaRPr lang="zh-CN" sz="825" b="1" dirty="0">
              <a:solidFill>
                <a:srgbClr val="FFFFFF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6845618" y="2314099"/>
            <a:ext cx="52316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0B981"/>
                </a:solidFill>
                <a:latin typeface="Consolas"/>
                <a:ea typeface="Microsoft YaHei"/>
                <a:cs typeface="Consolas"/>
              </a:rPr>
              <a:t>+202 行</a:t>
            </a:r>
            <a:endParaRPr lang="zh-CN" sz="975" dirty="0">
              <a:solidFill>
                <a:srgbClr val="10B981"/>
              </a:solidFill>
              <a:latin typeface="Consolas"/>
              <a:ea typeface="Microsoft YaHei"/>
              <a:cs typeface="Consolas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5074920" y="2531745"/>
            <a:ext cx="462343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B5563"/>
                </a:solidFill>
                <a:latin typeface="Segoe UI"/>
                <a:ea typeface="Microsoft YaHei"/>
                <a:cs typeface="Segoe UI"/>
              </a:rPr>
              <a:t>无状态纯类 · 200ms 软超时 · |Δy|&gt;5×range 断点 · isFinite+|y|≤1e15 三重过滤</a:t>
            </a:r>
            <a:endParaRPr lang="zh-CN" sz="900" dirty="0">
              <a:solidFill>
                <a:srgbClr val="4B5563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40" name="Rectangle 40"/>
          <p:cNvSpPr/>
          <p:nvPr/>
        </p:nvSpPr>
        <p:spPr>
          <a:xfrm>
            <a:off x="4857750" y="2838450"/>
            <a:ext cx="676275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41" name="Rectangle 41"/>
          <p:cNvSpPr/>
          <p:nvPr/>
        </p:nvSpPr>
        <p:spPr>
          <a:xfrm>
            <a:off x="4857750" y="2838450"/>
            <a:ext cx="57150" cy="59055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5073015" y="2972752"/>
            <a:ext cx="117796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Consolas"/>
                <a:ea typeface="Microsoft YaHei"/>
                <a:cs typeface="Consolas"/>
              </a:rPr>
              <a:t>GraphPage.ets</a:t>
            </a:r>
            <a:endParaRPr lang="zh-CN" sz="1050" b="1" dirty="0">
              <a:solidFill>
                <a:srgbClr val="1F2937"/>
              </a:solidFill>
              <a:latin typeface="Consolas"/>
              <a:ea typeface="Microsoft YaHei"/>
              <a:cs typeface="Consolas"/>
            </a:endParaRPr>
          </a:p>
        </p:txBody>
      </p:sp>
      <p:sp>
        <p:nvSpPr>
          <p:cNvPr id="43" name="Rectangle 43"/>
          <p:cNvSpPr/>
          <p:nvPr/>
        </p:nvSpPr>
        <p:spPr>
          <a:xfrm>
            <a:off x="6362700" y="2971800"/>
            <a:ext cx="476250" cy="1905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6463832" y="3016091"/>
            <a:ext cx="27398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新增</a:t>
            </a:r>
            <a:endParaRPr lang="zh-CN" sz="825" b="1" dirty="0">
              <a:solidFill>
                <a:srgbClr val="FFFFFF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6921818" y="2999899"/>
            <a:ext cx="52316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0B981"/>
                </a:solidFill>
                <a:latin typeface="Consolas"/>
                <a:ea typeface="Microsoft YaHei"/>
                <a:cs typeface="Consolas"/>
              </a:rPr>
              <a:t>+207 行</a:t>
            </a:r>
            <a:endParaRPr lang="zh-CN" sz="975" dirty="0">
              <a:solidFill>
                <a:srgbClr val="10B981"/>
              </a:solidFill>
              <a:latin typeface="Consolas"/>
              <a:ea typeface="Microsoft YaHei"/>
              <a:cs typeface="Consolas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5074920" y="3217545"/>
            <a:ext cx="48468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B5563"/>
                </a:solidFill>
                <a:latin typeface="Segoe UI"/>
                <a:ea typeface="Microsoft YaHei"/>
                <a:cs typeface="Segoe UI"/>
              </a:rPr>
              <a:t>@Entry Canvas · 5 @State · 7 主题 getter · 300ms 防抖 · canvasReady 状态机</a:t>
            </a:r>
            <a:endParaRPr lang="zh-CN" sz="900" dirty="0">
              <a:solidFill>
                <a:srgbClr val="4B5563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47" name="Rectangle 47"/>
          <p:cNvSpPr/>
          <p:nvPr/>
        </p:nvSpPr>
        <p:spPr>
          <a:xfrm>
            <a:off x="4857750" y="3524250"/>
            <a:ext cx="676275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48" name="Rectangle 48"/>
          <p:cNvSpPr/>
          <p:nvPr/>
        </p:nvSpPr>
        <p:spPr>
          <a:xfrm>
            <a:off x="4857750" y="3524250"/>
            <a:ext cx="57150" cy="5905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5073015" y="3658552"/>
            <a:ext cx="11860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Consolas"/>
                <a:ea typeface="Microsoft YaHei"/>
                <a:cs typeface="Consolas"/>
              </a:rPr>
              <a:t>Calculator.ets</a:t>
            </a:r>
            <a:endParaRPr lang="zh-CN" sz="1050" b="1" dirty="0">
              <a:solidFill>
                <a:srgbClr val="1F2937"/>
              </a:solidFill>
              <a:latin typeface="Consolas"/>
              <a:ea typeface="Microsoft YaHei"/>
              <a:cs typeface="Consolas"/>
            </a:endParaRPr>
          </a:p>
        </p:txBody>
      </p:sp>
      <p:sp>
        <p:nvSpPr>
          <p:cNvPr id="50" name="Rectangle 50"/>
          <p:cNvSpPr/>
          <p:nvPr/>
        </p:nvSpPr>
        <p:spPr>
          <a:xfrm>
            <a:off x="6229350" y="3657600"/>
            <a:ext cx="476250" cy="1905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6330482" y="3701891"/>
            <a:ext cx="27398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修改</a:t>
            </a:r>
            <a:endParaRPr lang="zh-CN" sz="825" b="1" dirty="0">
              <a:solidFill>
                <a:srgbClr val="FFFFFF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52" name="TextBox 52"/>
          <p:cNvSpPr txBox="1"/>
          <p:nvPr/>
        </p:nvSpPr>
        <p:spPr>
          <a:xfrm>
            <a:off x="6788468" y="3685699"/>
            <a:ext cx="44484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59E0B"/>
                </a:solidFill>
                <a:latin typeface="Consolas"/>
                <a:ea typeface="Microsoft YaHei"/>
                <a:cs typeface="Consolas"/>
              </a:rPr>
              <a:t>+29 行</a:t>
            </a:r>
            <a:endParaRPr lang="zh-CN" sz="975" dirty="0">
              <a:solidFill>
                <a:srgbClr val="F59E0B"/>
              </a:solidFill>
              <a:latin typeface="Consolas"/>
              <a:ea typeface="Microsoft YaHei"/>
              <a:cs typeface="Consolas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5074920" y="3903345"/>
            <a:ext cx="507034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B5563"/>
                </a:solidFill>
                <a:latin typeface="Segoe UI"/>
                <a:ea typeface="Microsoft YaHei"/>
                <a:cs typeface="Segoe UI"/>
              </a:rPr>
              <a:t>currentX + evalAt(eq, x, isDegree) · parseFactor 中 x 变量 / xp 函数名前瞻消歧</a:t>
            </a:r>
            <a:endParaRPr lang="zh-CN" sz="900" dirty="0">
              <a:solidFill>
                <a:srgbClr val="4B5563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54" name="Rectangle 54"/>
          <p:cNvSpPr/>
          <p:nvPr/>
        </p:nvSpPr>
        <p:spPr>
          <a:xfrm>
            <a:off x="4857750" y="4210050"/>
            <a:ext cx="676275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55" name="Rectangle 55"/>
          <p:cNvSpPr/>
          <p:nvPr/>
        </p:nvSpPr>
        <p:spPr>
          <a:xfrm>
            <a:off x="4857750" y="4210050"/>
            <a:ext cx="57150" cy="5905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5073015" y="4344352"/>
            <a:ext cx="9042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Consolas"/>
                <a:ea typeface="Microsoft YaHei"/>
                <a:cs typeface="Consolas"/>
              </a:rPr>
              <a:t>Models.ets</a:t>
            </a:r>
            <a:endParaRPr lang="zh-CN" sz="1050" b="1" dirty="0">
              <a:solidFill>
                <a:srgbClr val="1F2937"/>
              </a:solidFill>
              <a:latin typeface="Consolas"/>
              <a:ea typeface="Microsoft YaHei"/>
              <a:cs typeface="Consolas"/>
            </a:endParaRPr>
          </a:p>
        </p:txBody>
      </p:sp>
      <p:sp>
        <p:nvSpPr>
          <p:cNvPr id="57" name="Rectangle 57"/>
          <p:cNvSpPr/>
          <p:nvPr/>
        </p:nvSpPr>
        <p:spPr>
          <a:xfrm>
            <a:off x="5943600" y="4343400"/>
            <a:ext cx="476250" cy="1905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58" name="TextBox 58"/>
          <p:cNvSpPr txBox="1"/>
          <p:nvPr/>
        </p:nvSpPr>
        <p:spPr>
          <a:xfrm>
            <a:off x="6044732" y="4387691"/>
            <a:ext cx="27398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修改</a:t>
            </a:r>
            <a:endParaRPr lang="zh-CN" sz="825" b="1" dirty="0">
              <a:solidFill>
                <a:srgbClr val="FFFFFF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59" name="TextBox 59"/>
          <p:cNvSpPr txBox="1"/>
          <p:nvPr/>
        </p:nvSpPr>
        <p:spPr>
          <a:xfrm>
            <a:off x="6502718" y="4371499"/>
            <a:ext cx="44484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59E0B"/>
                </a:solidFill>
                <a:latin typeface="Consolas"/>
                <a:ea typeface="Microsoft YaHei"/>
                <a:cs typeface="Consolas"/>
              </a:rPr>
              <a:t>+25 行</a:t>
            </a:r>
            <a:endParaRPr lang="zh-CN" sz="975" dirty="0">
              <a:solidFill>
                <a:srgbClr val="F59E0B"/>
              </a:solidFill>
              <a:latin typeface="Consolas"/>
              <a:ea typeface="Microsoft YaHei"/>
              <a:cs typeface="Consolas"/>
            </a:endParaRPr>
          </a:p>
        </p:txBody>
      </p:sp>
      <p:sp>
        <p:nvSpPr>
          <p:cNvPr id="60" name="TextBox 60"/>
          <p:cNvSpPr txBox="1"/>
          <p:nvPr/>
        </p:nvSpPr>
        <p:spPr>
          <a:xfrm>
            <a:off x="5074920" y="4589145"/>
            <a:ext cx="33812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B5563"/>
                </a:solidFill>
                <a:latin typeface="Segoe UI"/>
                <a:ea typeface="Microsoft YaHei"/>
                <a:cs typeface="Segoe UI"/>
              </a:rPr>
              <a:t>3 个 interface · GraphConfig / PlotPoint / PlotResult</a:t>
            </a:r>
            <a:endParaRPr lang="zh-CN" sz="900" dirty="0">
              <a:solidFill>
                <a:srgbClr val="4B5563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61" name="Rectangle 61"/>
          <p:cNvSpPr/>
          <p:nvPr/>
        </p:nvSpPr>
        <p:spPr>
          <a:xfrm>
            <a:off x="4857750" y="4895850"/>
            <a:ext cx="676275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62" name="Rectangle 62"/>
          <p:cNvSpPr/>
          <p:nvPr/>
        </p:nvSpPr>
        <p:spPr>
          <a:xfrm>
            <a:off x="4857750" y="4895850"/>
            <a:ext cx="57150" cy="5905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63" name="TextBox 63"/>
          <p:cNvSpPr txBox="1"/>
          <p:nvPr/>
        </p:nvSpPr>
        <p:spPr>
          <a:xfrm>
            <a:off x="5073015" y="5030152"/>
            <a:ext cx="408437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F2937"/>
                </a:solidFill>
                <a:latin typeface="Consolas"/>
                <a:ea typeface="Microsoft YaHei"/>
                <a:cs typeface="Consolas"/>
              </a:rPr>
              <a:t>CalculatorPage.ets + string.json + main_pages.json</a:t>
            </a:r>
            <a:endParaRPr lang="zh-CN" sz="1050" b="1" dirty="0">
              <a:solidFill>
                <a:srgbClr val="1F2937"/>
              </a:solidFill>
              <a:latin typeface="Consolas"/>
              <a:ea typeface="Microsoft YaHei"/>
              <a:cs typeface="Consolas"/>
            </a:endParaRPr>
          </a:p>
        </p:txBody>
      </p:sp>
      <p:sp>
        <p:nvSpPr>
          <p:cNvPr id="64" name="TextBox 64"/>
          <p:cNvSpPr txBox="1"/>
          <p:nvPr/>
        </p:nvSpPr>
        <p:spPr>
          <a:xfrm>
            <a:off x="5074920" y="5274945"/>
            <a:ext cx="252031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B5563"/>
                </a:solidFill>
                <a:latin typeface="Segoe UI"/>
                <a:ea typeface="Microsoft YaHei"/>
                <a:cs typeface="Segoe UI"/>
              </a:rPr>
              <a:t>主页 +4 行入口 · 6 条字符串资源 · 路由 +1</a:t>
            </a:r>
            <a:endParaRPr lang="zh-CN" sz="900" dirty="0">
              <a:solidFill>
                <a:srgbClr val="4B5563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65" name="Rectangle 65"/>
          <p:cNvSpPr/>
          <p:nvPr/>
        </p:nvSpPr>
        <p:spPr>
          <a:xfrm>
            <a:off x="4857750" y="5581650"/>
            <a:ext cx="6762750" cy="590550"/>
          </a:xfrm>
          <a:prstGeom prst="roundRect">
            <a:avLst>
              <a:gd name="adj" fmla="val 12903"/>
            </a:avLst>
          </a:prstGeom>
          <a:solidFill>
            <a:srgbClr val="FEF3C7"/>
          </a:solidFill>
          <a:ln w="9525">
            <a:solidFill>
              <a:srgbClr val="F59E0B"/>
            </a:solidFill>
          </a:ln>
        </p:spPr>
      </p:sp>
      <p:grpSp>
        <p:nvGrpSpPr>
          <p:cNvPr id="68" name="Group 68"/>
          <p:cNvGrpSpPr/>
          <p:nvPr/>
        </p:nvGrpSpPr>
        <p:grpSpPr>
          <a:xfrm>
            <a:off x="5075838" y="5800423"/>
            <a:ext cx="173280" cy="152702"/>
            <a:chOff x="5075838" y="5800423"/>
            <a:chExt cx="173280" cy="152702"/>
          </a:xfrm>
        </p:grpSpPr>
        <p:sp>
          <p:nvSpPr>
            <p:cNvPr id="66" name="Freeform 66"/>
            <p:cNvSpPr/>
            <p:nvPr/>
          </p:nvSpPr>
          <p:spPr>
            <a:xfrm>
              <a:off x="5162550" y="5857875"/>
              <a:ext cx="9525" cy="57245"/>
            </a:xfrm>
            <a:custGeom>
              <a:avLst/>
              <a:gdLst/>
              <a:ahLst/>
              <a:cxnLst/>
              <a:rect l="l" t="t" r="r" b="b"/>
              <a:pathLst>
                <a:path w="9525" h="57245">
                  <a:moveTo>
                    <a:pt x="0" y="0"/>
                  </a:moveTo>
                  <a:lnTo>
                    <a:pt x="0" y="19050"/>
                  </a:lnTo>
                  <a:moveTo>
                    <a:pt x="0" y="57150"/>
                  </a:moveTo>
                  <a:lnTo>
                    <a:pt x="0" y="57245"/>
                  </a:lnTo>
                </a:path>
              </a:pathLst>
            </a:custGeom>
            <a:noFill/>
            <a:ln w="19050" cap="rnd">
              <a:solidFill>
                <a:srgbClr val="F59E0B"/>
              </a:solidFill>
              <a:round/>
            </a:ln>
          </p:spPr>
        </p:sp>
        <p:sp>
          <p:nvSpPr>
            <p:cNvPr id="67" name="Freeform 67"/>
            <p:cNvSpPr/>
            <p:nvPr/>
          </p:nvSpPr>
          <p:spPr>
            <a:xfrm>
              <a:off x="5075838" y="5800423"/>
              <a:ext cx="173280" cy="152702"/>
            </a:xfrm>
            <a:custGeom>
              <a:avLst/>
              <a:gdLst/>
              <a:ahLst/>
              <a:cxnLst/>
              <a:rect l="l" t="t" r="r" b="b"/>
              <a:pathLst>
                <a:path w="173280" h="152702">
                  <a:moveTo>
                    <a:pt x="20037" y="152702"/>
                  </a:moveTo>
                  <a:lnTo>
                    <a:pt x="153387" y="152702"/>
                  </a:lnTo>
                  <a:cubicBezTo>
                    <a:pt x="159697" y="152658"/>
                    <a:pt x="165577" y="149492"/>
                    <a:pt x="169086" y="144247"/>
                  </a:cubicBezTo>
                  <a:cubicBezTo>
                    <a:pt x="172595" y="139001"/>
                    <a:pt x="173280" y="132359"/>
                    <a:pt x="170913" y="126509"/>
                  </a:cubicBezTo>
                  <a:lnTo>
                    <a:pt x="103285" y="9827"/>
                  </a:lnTo>
                  <a:cubicBezTo>
                    <a:pt x="99930" y="3764"/>
                    <a:pt x="93547" y="0"/>
                    <a:pt x="86617" y="0"/>
                  </a:cubicBezTo>
                  <a:cubicBezTo>
                    <a:pt x="79686" y="0"/>
                    <a:pt x="73303" y="3764"/>
                    <a:pt x="69948" y="9827"/>
                  </a:cubicBezTo>
                  <a:lnTo>
                    <a:pt x="2320" y="126509"/>
                  </a:lnTo>
                  <a:cubicBezTo>
                    <a:pt x="0" y="132221"/>
                    <a:pt x="588" y="138703"/>
                    <a:pt x="3898" y="143905"/>
                  </a:cubicBezTo>
                  <a:cubicBezTo>
                    <a:pt x="7208" y="149107"/>
                    <a:pt x="12832" y="152385"/>
                    <a:pt x="18989" y="152702"/>
                  </a:cubicBezTo>
                </a:path>
              </a:pathLst>
            </a:custGeom>
            <a:noFill/>
            <a:ln w="19050" cap="rnd">
              <a:solidFill>
                <a:srgbClr val="F59E0B"/>
              </a:solidFill>
              <a:round/>
            </a:ln>
          </p:spPr>
        </p:sp>
      </p:grpSp>
      <p:sp>
        <p:nvSpPr>
          <p:cNvPr id="69" name="TextBox 69"/>
          <p:cNvSpPr txBox="1"/>
          <p:nvPr/>
        </p:nvSpPr>
        <p:spPr>
          <a:xfrm>
            <a:off x="5377815" y="5744528"/>
            <a:ext cx="289282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59E0B"/>
                </a:solidFill>
                <a:latin typeface="Segoe UI"/>
                <a:ea typeface="Microsoft YaHei"/>
                <a:cs typeface="Segoe UI"/>
              </a:rPr>
              <a:t>独家携带:scripts/fix-deveco-sdk.sh</a:t>
            </a:r>
            <a:endParaRPr lang="zh-CN" sz="1050" b="1" dirty="0">
              <a:solidFill>
                <a:srgbClr val="F59E0B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70" name="TextBox 70"/>
          <p:cNvSpPr txBox="1"/>
          <p:nvPr/>
        </p:nvSpPr>
        <p:spPr>
          <a:xfrm>
            <a:off x="5379720" y="5960745"/>
            <a:ext cx="46825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B5563"/>
                </a:solidFill>
                <a:latin typeface="Segoe UI"/>
                <a:ea typeface="Microsoft YaHei"/>
                <a:cs typeface="Segoe UI"/>
              </a:rPr>
              <a:t>解决 hvigor 6.0.2 SDK 00303168 component missing(嵌套 SDK 布局符号链接)</a:t>
            </a:r>
            <a:endParaRPr lang="zh-CN" sz="900" dirty="0">
              <a:solidFill>
                <a:srgbClr val="4B5563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71" name="Line 71"/>
          <p:cNvSpPr/>
          <p:nvPr/>
        </p:nvSpPr>
        <p:spPr>
          <a:xfrm>
            <a:off x="571500" y="64770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72" name="TextBox 72"/>
          <p:cNvSpPr txBox="1"/>
          <p:nvPr/>
        </p:nvSpPr>
        <p:spPr>
          <a:xfrm>
            <a:off x="561975" y="6586538"/>
            <a:ext cx="219336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OpenCalc HarmonyOS Demo · 客户实验手册</a:t>
            </a:r>
            <a:endParaRPr lang="zh-CN" sz="750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73" name="TextBox 73"/>
          <p:cNvSpPr txBox="1"/>
          <p:nvPr/>
        </p:nvSpPr>
        <p:spPr>
          <a:xfrm>
            <a:off x="11298793" y="6586538"/>
            <a:ext cx="33123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10 / 16</a:t>
            </a:r>
            <a:endParaRPr lang="zh-CN" sz="750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1020" y="598170"/>
            <a:ext cx="226923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两段关键代码</a:t>
            </a:r>
            <a:endParaRPr lang="zh-CN" sz="2400" b="1" dirty="0">
              <a:solidFill>
                <a:srgbClr val="1F2937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4" name="Rectangle 4"/>
          <p:cNvSpPr/>
          <p:nvPr/>
        </p:nvSpPr>
        <p:spPr>
          <a:xfrm>
            <a:off x="571500" y="952500"/>
            <a:ext cx="7620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565C0"/>
              </a:gs>
              <a:gs pos="100000">
                <a:srgbClr val="0288D1"/>
              </a:gs>
            </a:gsLst>
            <a:lin ang="0" scaled="1"/>
          </a:gra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012299" y="743902"/>
            <a:ext cx="162153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Demo 3 — 函数图像绘制</a:t>
            </a:r>
            <a:endParaRPr lang="zh-CN" sz="1050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56260" y="1156335"/>
            <a:ext cx="73388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B5563"/>
                </a:solidFill>
                <a:latin typeface="Segoe UI"/>
                <a:ea typeface="Microsoft YaHei"/>
                <a:cs typeface="Segoe UI"/>
              </a:rPr>
              <a:t>左:parseFactor 中 x 变量识别(ASCII 120 + nextC 前瞻消歧) · 右:Plotter.sample 采样循环</a:t>
            </a:r>
            <a:endParaRPr lang="zh-CN" sz="1200" dirty="0">
              <a:solidFill>
                <a:srgbClr val="4B5563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7" name="Rectangle 7"/>
          <p:cNvSpPr/>
          <p:nvPr/>
        </p:nvSpPr>
        <p:spPr>
          <a:xfrm>
            <a:off x="571500" y="1524000"/>
            <a:ext cx="5448300" cy="4667250"/>
          </a:xfrm>
          <a:prstGeom prst="roundRect">
            <a:avLst>
              <a:gd name="adj" fmla="val 2041"/>
            </a:avLst>
          </a:prstGeom>
          <a:solidFill>
            <a:srgbClr val="0F172A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524000"/>
            <a:ext cx="5448300" cy="381000"/>
          </a:xfrm>
          <a:prstGeom prst="roundRect">
            <a:avLst>
              <a:gd name="adj" fmla="val 25000"/>
            </a:avLst>
          </a:prstGeom>
          <a:solidFill>
            <a:srgbClr val="1F2937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571500" y="1809750"/>
            <a:ext cx="5448300" cy="95250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49618" y="1656874"/>
            <a:ext cx="207530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Consolas"/>
                <a:ea typeface="Microsoft YaHei"/>
                <a:cs typeface="Consolas"/>
              </a:rPr>
              <a:t>Calculator.ets · parseFactor</a:t>
            </a:r>
            <a:endParaRPr lang="zh-CN" sz="975" dirty="0">
              <a:solidFill>
                <a:srgbClr val="94A3B8"/>
              </a:solidFill>
              <a:latin typeface="Consolas"/>
              <a:ea typeface="Microsoft YaHei"/>
              <a:cs typeface="Consolas"/>
            </a:endParaRPr>
          </a:p>
        </p:txBody>
      </p:sp>
      <p:sp>
        <p:nvSpPr>
          <p:cNvPr id="11" name="Rectangle 11"/>
          <p:cNvSpPr/>
          <p:nvPr/>
        </p:nvSpPr>
        <p:spPr>
          <a:xfrm>
            <a:off x="5143500" y="1638300"/>
            <a:ext cx="762000" cy="190500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5229362" y="1682591"/>
            <a:ext cx="59027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R-03 闭环</a:t>
            </a:r>
            <a:endParaRPr lang="zh-CN" sz="825" b="1" dirty="0">
              <a:solidFill>
                <a:srgbClr val="FFFFFF"/>
              </a:solidFill>
              <a:latin typeface="Segoe UI"/>
              <a:ea typeface="Microsoft YaHei"/>
              <a:cs typeface="Segoe UI"/>
            </a:endParaRPr>
          </a:p>
        </p:txBody>
      </p:sp>
      <p:grpSp>
        <p:nvGrpSpPr>
          <p:cNvPr id="60" name="Group 60"/>
          <p:cNvGrpSpPr/>
          <p:nvPr/>
        </p:nvGrpSpPr>
        <p:grpSpPr>
          <a:xfrm>
            <a:off x="749618" y="2104549"/>
            <a:ext cx="3649742" cy="2865120"/>
            <a:chOff x="749618" y="2104549"/>
            <a:chExt cx="3649742" cy="2865120"/>
          </a:xfrm>
        </p:grpSpPr>
        <p:sp>
          <p:nvSpPr>
            <p:cNvPr id="13" name="TextBox 13"/>
            <p:cNvSpPr txBox="1"/>
            <p:nvPr/>
          </p:nvSpPr>
          <p:spPr>
            <a:xfrm>
              <a:off x="749618" y="210454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75569"/>
                  </a:solidFill>
                  <a:latin typeface="Consolas"/>
                  <a:ea typeface="Microsoft YaHei"/>
                  <a:cs typeface="Consolas"/>
                </a:rPr>
                <a:t>82</a:t>
              </a:r>
              <a:endParaRPr lang="zh-CN" sz="975" dirty="0">
                <a:solidFill>
                  <a:srgbClr val="475569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54418" y="2104549"/>
              <a:ext cx="20112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// 在函数名扫描分支之前插入:</a:t>
              </a:r>
              <a:endParaRPr lang="zh-CN" sz="975" dirty="0">
                <a:solidFill>
                  <a:srgbClr val="94A3B8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9618" y="229504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75569"/>
                  </a:solidFill>
                  <a:latin typeface="Consolas"/>
                  <a:ea typeface="Microsoft YaHei"/>
                  <a:cs typeface="Consolas"/>
                </a:rPr>
                <a:t>83</a:t>
              </a:r>
              <a:endParaRPr lang="zh-CN" sz="975" dirty="0">
                <a:solidFill>
                  <a:srgbClr val="475569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54418" y="2295049"/>
              <a:ext cx="4662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4B5FD"/>
                  </a:solidFill>
                  <a:latin typeface="Consolas"/>
                  <a:ea typeface="Microsoft YaHei"/>
                  <a:cs typeface="Consolas"/>
                </a:rPr>
                <a:t>else if</a:t>
              </a:r>
              <a:endParaRPr lang="zh-CN" sz="975" dirty="0">
                <a:solidFill>
                  <a:srgbClr val="C4B5FD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02118" y="229504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(</a:t>
              </a:r>
              <a:endParaRPr lang="zh-CN" sz="975" dirty="0">
                <a:solidFill>
                  <a:srgbClr val="FFFFFF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835468" y="2295049"/>
              <a:ext cx="97883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BBF24"/>
                  </a:solidFill>
                  <a:latin typeface="Consolas"/>
                  <a:ea typeface="Microsoft YaHei"/>
                  <a:cs typeface="Consolas"/>
                </a:rPr>
                <a:t>this.c === 120</a:t>
              </a:r>
              <a:endParaRPr lang="zh-CN" sz="975" dirty="0">
                <a:solidFill>
                  <a:srgbClr val="FBBF24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883218" y="2295049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) {</a:t>
              </a:r>
              <a:endParaRPr lang="zh-CN" sz="975" dirty="0">
                <a:solidFill>
                  <a:srgbClr val="FFFFFF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321368" y="2295049"/>
              <a:ext cx="82219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// ASCII 'x'</a:t>
              </a:r>
              <a:endParaRPr lang="zh-CN" sz="975" dirty="0">
                <a:solidFill>
                  <a:srgbClr val="94A3B8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49618" y="248554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75569"/>
                  </a:solidFill>
                  <a:latin typeface="Consolas"/>
                  <a:ea typeface="Microsoft YaHei"/>
                  <a:cs typeface="Consolas"/>
                </a:rPr>
                <a:t>84</a:t>
              </a:r>
              <a:endParaRPr lang="zh-CN" sz="975" dirty="0">
                <a:solidFill>
                  <a:srgbClr val="475569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244918" y="2485549"/>
              <a:ext cx="4163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4B5FD"/>
                  </a:solidFill>
                  <a:latin typeface="Consolas"/>
                  <a:ea typeface="Microsoft YaHei"/>
                  <a:cs typeface="Consolas"/>
                </a:rPr>
                <a:t>const</a:t>
              </a:r>
              <a:endParaRPr lang="zh-CN" sz="975" dirty="0">
                <a:solidFill>
                  <a:srgbClr val="C4B5FD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702118" y="2485549"/>
              <a:ext cx="4946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nextC:</a:t>
              </a:r>
              <a:endParaRPr lang="zh-CN" sz="975" dirty="0">
                <a:solidFill>
                  <a:srgbClr val="FFFFFF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311718" y="2485549"/>
              <a:ext cx="52316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DD3FC"/>
                  </a:solidFill>
                  <a:latin typeface="Consolas"/>
                  <a:ea typeface="Microsoft YaHei"/>
                  <a:cs typeface="Consolas"/>
                </a:rPr>
                <a:t>number</a:t>
              </a:r>
              <a:endParaRPr lang="zh-CN" sz="975" dirty="0">
                <a:solidFill>
                  <a:srgbClr val="7DD3FC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787968" y="248554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=</a:t>
              </a:r>
              <a:endParaRPr lang="zh-CN" sz="975" dirty="0">
                <a:solidFill>
                  <a:srgbClr val="FFFFFF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997518" y="2485549"/>
              <a:ext cx="94323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this.p+1 &lt; len</a:t>
              </a:r>
              <a:endParaRPr lang="zh-CN" sz="975" dirty="0">
                <a:solidFill>
                  <a:srgbClr val="FFFFFF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49618" y="267604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75569"/>
                  </a:solidFill>
                  <a:latin typeface="Consolas"/>
                  <a:ea typeface="Microsoft YaHei"/>
                  <a:cs typeface="Consolas"/>
                </a:rPr>
                <a:t>85</a:t>
              </a:r>
              <a:endParaRPr lang="zh-CN" sz="975" dirty="0">
                <a:solidFill>
                  <a:srgbClr val="475569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511618" y="2676049"/>
              <a:ext cx="235298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? this.eq.charCodeAt(this.p+1) :</a:t>
              </a:r>
              <a:endParaRPr lang="zh-CN" sz="975" dirty="0">
                <a:solidFill>
                  <a:srgbClr val="FFFFFF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950018" y="2676049"/>
              <a:ext cx="1458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BBF24"/>
                  </a:solidFill>
                  <a:latin typeface="Consolas"/>
                  <a:ea typeface="Microsoft YaHei"/>
                  <a:cs typeface="Consolas"/>
                </a:rPr>
                <a:t>-1</a:t>
              </a:r>
              <a:endParaRPr lang="zh-CN" sz="975" dirty="0">
                <a:solidFill>
                  <a:srgbClr val="FBBF24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49618" y="286654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75569"/>
                  </a:solidFill>
                  <a:latin typeface="Consolas"/>
                  <a:ea typeface="Microsoft YaHei"/>
                  <a:cs typeface="Consolas"/>
                </a:rPr>
                <a:t>86</a:t>
              </a:r>
              <a:endParaRPr lang="zh-CN" sz="975" dirty="0">
                <a:solidFill>
                  <a:srgbClr val="475569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244918" y="2866549"/>
              <a:ext cx="4163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4B5FD"/>
                  </a:solidFill>
                  <a:latin typeface="Consolas"/>
                  <a:ea typeface="Microsoft YaHei"/>
                  <a:cs typeface="Consolas"/>
                </a:rPr>
                <a:t>const</a:t>
              </a:r>
              <a:endParaRPr lang="zh-CN" sz="975" dirty="0">
                <a:solidFill>
                  <a:srgbClr val="C4B5FD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702118" y="2866549"/>
              <a:ext cx="7225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isFnName:</a:t>
              </a:r>
              <a:endParaRPr lang="zh-CN" sz="975" dirty="0">
                <a:solidFill>
                  <a:srgbClr val="FFFFFF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559368" y="2866549"/>
              <a:ext cx="5374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DD3FC"/>
                  </a:solidFill>
                  <a:latin typeface="Consolas"/>
                  <a:ea typeface="Microsoft YaHei"/>
                  <a:cs typeface="Consolas"/>
                </a:rPr>
                <a:t>boolean</a:t>
              </a:r>
              <a:endParaRPr lang="zh-CN" sz="975" dirty="0">
                <a:solidFill>
                  <a:srgbClr val="7DD3FC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111818" y="286654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=</a:t>
              </a:r>
              <a:endParaRPr lang="zh-CN" sz="975" dirty="0">
                <a:solidFill>
                  <a:srgbClr val="FFFFFF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49618" y="305704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75569"/>
                  </a:solidFill>
                  <a:latin typeface="Consolas"/>
                  <a:ea typeface="Microsoft YaHei"/>
                  <a:cs typeface="Consolas"/>
                </a:rPr>
                <a:t>87</a:t>
              </a:r>
              <a:endParaRPr lang="zh-CN" sz="975" dirty="0">
                <a:solidFill>
                  <a:srgbClr val="475569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511618" y="3057049"/>
              <a:ext cx="204682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BBF24"/>
                  </a:solidFill>
                  <a:latin typeface="Consolas"/>
                  <a:ea typeface="Microsoft YaHei"/>
                  <a:cs typeface="Consolas"/>
                </a:rPr>
                <a:t>(nextC &gt;= 97 &amp;&amp; nextC &lt;= 122)</a:t>
              </a:r>
              <a:endParaRPr lang="zh-CN" sz="975" dirty="0">
                <a:solidFill>
                  <a:srgbClr val="FBBF24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49618" y="324754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75569"/>
                  </a:solidFill>
                  <a:latin typeface="Consolas"/>
                  <a:ea typeface="Microsoft YaHei"/>
                  <a:cs typeface="Consolas"/>
                </a:rPr>
                <a:t>88</a:t>
              </a:r>
              <a:endParaRPr lang="zh-CN" sz="975" dirty="0">
                <a:solidFill>
                  <a:srgbClr val="475569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54418" y="3247549"/>
              <a:ext cx="325721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// 后接小写字母 → xp/xyz 等函数名,继续走原分支</a:t>
              </a:r>
              <a:endParaRPr lang="zh-CN" sz="975" dirty="0">
                <a:solidFill>
                  <a:srgbClr val="94A3B8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49618" y="343804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75569"/>
                  </a:solidFill>
                  <a:latin typeface="Consolas"/>
                  <a:ea typeface="Microsoft YaHei"/>
                  <a:cs typeface="Consolas"/>
                </a:rPr>
                <a:t>89</a:t>
              </a:r>
              <a:endParaRPr lang="zh-CN" sz="975" dirty="0">
                <a:solidFill>
                  <a:srgbClr val="475569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244918" y="3438049"/>
              <a:ext cx="1458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4B5FD"/>
                  </a:solidFill>
                  <a:latin typeface="Consolas"/>
                  <a:ea typeface="Microsoft YaHei"/>
                  <a:cs typeface="Consolas"/>
                </a:rPr>
                <a:t>if</a:t>
              </a:r>
              <a:endParaRPr lang="zh-CN" sz="975" dirty="0">
                <a:solidFill>
                  <a:srgbClr val="C4B5FD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473518" y="3438049"/>
              <a:ext cx="9645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(!isFnName) {</a:t>
              </a:r>
              <a:endParaRPr lang="zh-CN" sz="975" dirty="0">
                <a:solidFill>
                  <a:srgbClr val="FFFFFF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49618" y="362854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75569"/>
                  </a:solidFill>
                  <a:latin typeface="Consolas"/>
                  <a:ea typeface="Microsoft YaHei"/>
                  <a:cs typeface="Consolas"/>
                </a:rPr>
                <a:t>90</a:t>
              </a:r>
              <a:endParaRPr lang="zh-CN" sz="975" dirty="0">
                <a:solidFill>
                  <a:srgbClr val="475569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511618" y="3628549"/>
              <a:ext cx="69403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this.nx()</a:t>
              </a:r>
              <a:endParaRPr lang="zh-CN" sz="975" dirty="0">
                <a:solidFill>
                  <a:srgbClr val="FFFFFF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49618" y="3819049"/>
              <a:ext cx="1458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75569"/>
                  </a:solidFill>
                  <a:latin typeface="Consolas"/>
                  <a:ea typeface="Microsoft YaHei"/>
                  <a:cs typeface="Consolas"/>
                </a:rPr>
                <a:t>91</a:t>
              </a:r>
              <a:endParaRPr lang="zh-CN" sz="975" dirty="0">
                <a:solidFill>
                  <a:srgbClr val="475569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511618" y="3819049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x =</a:t>
              </a:r>
              <a:endParaRPr lang="zh-CN" sz="975" dirty="0">
                <a:solidFill>
                  <a:srgbClr val="FFFFFF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816418" y="3819049"/>
              <a:ext cx="10073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BBF24"/>
                  </a:solidFill>
                  <a:latin typeface="Consolas"/>
                  <a:ea typeface="Microsoft YaHei"/>
                  <a:cs typeface="Consolas"/>
                </a:rPr>
                <a:t>this.currentX</a:t>
              </a:r>
              <a:endParaRPr lang="zh-CN" sz="975" dirty="0">
                <a:solidFill>
                  <a:srgbClr val="FBBF24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959418" y="3819049"/>
              <a:ext cx="10571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// 用当前采样 x</a:t>
              </a:r>
              <a:endParaRPr lang="zh-CN" sz="975" dirty="0">
                <a:solidFill>
                  <a:srgbClr val="94A3B8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49618" y="400954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75569"/>
                  </a:solidFill>
                  <a:latin typeface="Consolas"/>
                  <a:ea typeface="Microsoft YaHei"/>
                  <a:cs typeface="Consolas"/>
                </a:rPr>
                <a:t>92</a:t>
              </a:r>
              <a:endParaRPr lang="zh-CN" sz="975" dirty="0">
                <a:solidFill>
                  <a:srgbClr val="475569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511618" y="4009549"/>
              <a:ext cx="1458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4B5FD"/>
                  </a:solidFill>
                  <a:latin typeface="Consolas"/>
                  <a:ea typeface="Microsoft YaHei"/>
                  <a:cs typeface="Consolas"/>
                </a:rPr>
                <a:t>if</a:t>
              </a:r>
              <a:endParaRPr lang="zh-CN" sz="975" dirty="0">
                <a:solidFill>
                  <a:srgbClr val="C4B5FD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740218" y="4009549"/>
              <a:ext cx="26591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(this.eat(94)) x = this.powx(x, ...)</a:t>
              </a:r>
              <a:endParaRPr lang="zh-CN" sz="975" dirty="0">
                <a:solidFill>
                  <a:srgbClr val="FFFFFF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49618" y="420004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75569"/>
                  </a:solidFill>
                  <a:latin typeface="Consolas"/>
                  <a:ea typeface="Microsoft YaHei"/>
                  <a:cs typeface="Consolas"/>
                </a:rPr>
                <a:t>93</a:t>
              </a:r>
              <a:endParaRPr lang="zh-CN" sz="975" dirty="0">
                <a:solidFill>
                  <a:srgbClr val="475569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511618" y="4200049"/>
              <a:ext cx="4946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4B5FD"/>
                  </a:solidFill>
                  <a:latin typeface="Consolas"/>
                  <a:ea typeface="Microsoft YaHei"/>
                  <a:cs typeface="Consolas"/>
                </a:rPr>
                <a:t>return</a:t>
              </a:r>
              <a:endParaRPr lang="zh-CN" sz="975" dirty="0">
                <a:solidFill>
                  <a:srgbClr val="C4B5FD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2045018" y="420004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x</a:t>
              </a:r>
              <a:endParaRPr lang="zh-CN" sz="975" dirty="0">
                <a:solidFill>
                  <a:srgbClr val="FFFFFF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49618" y="439054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75569"/>
                  </a:solidFill>
                  <a:latin typeface="Consolas"/>
                  <a:ea typeface="Microsoft YaHei"/>
                  <a:cs typeface="Consolas"/>
                </a:rPr>
                <a:t>94</a:t>
              </a:r>
              <a:endParaRPr lang="zh-CN" sz="975" dirty="0">
                <a:solidFill>
                  <a:srgbClr val="475569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244918" y="439054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}</a:t>
              </a:r>
              <a:endParaRPr lang="zh-CN" sz="975" dirty="0">
                <a:solidFill>
                  <a:srgbClr val="FFFFFF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49618" y="458104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75569"/>
                  </a:solidFill>
                  <a:latin typeface="Consolas"/>
                  <a:ea typeface="Microsoft YaHei"/>
                  <a:cs typeface="Consolas"/>
                </a:rPr>
                <a:t>95</a:t>
              </a:r>
              <a:endParaRPr lang="zh-CN" sz="975" dirty="0">
                <a:solidFill>
                  <a:srgbClr val="475569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54418" y="4581049"/>
              <a:ext cx="301513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// 否则继续走函数名扫描 → 保留 xp(...) 语义</a:t>
              </a:r>
              <a:endParaRPr lang="zh-CN" sz="975" dirty="0">
                <a:solidFill>
                  <a:srgbClr val="94A3B8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49618" y="477154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75569"/>
                  </a:solidFill>
                  <a:latin typeface="Consolas"/>
                  <a:ea typeface="Microsoft YaHei"/>
                  <a:cs typeface="Consolas"/>
                </a:rPr>
                <a:t>96</a:t>
              </a:r>
              <a:endParaRPr lang="zh-CN" sz="975" dirty="0">
                <a:solidFill>
                  <a:srgbClr val="475569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54418" y="477154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}</a:t>
              </a:r>
              <a:endParaRPr lang="zh-CN" sz="975" dirty="0">
                <a:solidFill>
                  <a:srgbClr val="FFFFFF"/>
                </a:solidFill>
                <a:latin typeface="Consolas"/>
                <a:ea typeface="Microsoft YaHei"/>
                <a:cs typeface="Consolas"/>
              </a:endParaRPr>
            </a:p>
          </p:txBody>
        </p:sp>
      </p:grpSp>
      <p:sp>
        <p:nvSpPr>
          <p:cNvPr id="61" name="Rectangle 61"/>
          <p:cNvSpPr/>
          <p:nvPr/>
        </p:nvSpPr>
        <p:spPr>
          <a:xfrm>
            <a:off x="762000" y="5143500"/>
            <a:ext cx="5067300" cy="857250"/>
          </a:xfrm>
          <a:prstGeom prst="roundRect">
            <a:avLst>
              <a:gd name="adj" fmla="val 6667"/>
            </a:avLst>
          </a:prstGeom>
          <a:solidFill>
            <a:srgbClr val="1F2937"/>
          </a:solidFill>
          <a:ln>
            <a:noFill/>
          </a:ln>
        </p:spPr>
      </p:sp>
      <p:sp>
        <p:nvSpPr>
          <p:cNvPr id="62" name="TextBox 62"/>
          <p:cNvSpPr txBox="1"/>
          <p:nvPr/>
        </p:nvSpPr>
        <p:spPr>
          <a:xfrm>
            <a:off x="941070" y="5284470"/>
            <a:ext cx="9429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为什么需要前瞻</a:t>
            </a:r>
            <a:endParaRPr lang="zh-CN" sz="900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63" name="TextBox 63"/>
          <p:cNvSpPr txBox="1"/>
          <p:nvPr/>
        </p:nvSpPr>
        <p:spPr>
          <a:xfrm>
            <a:off x="940118" y="5485924"/>
            <a:ext cx="28442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既有 xp(...) 函数(e 的指数)首字母也是 x,</a:t>
            </a:r>
            <a:endParaRPr lang="zh-CN" sz="975" dirty="0">
              <a:solidFill>
                <a:srgbClr val="FFFFFF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64" name="TextBox 64"/>
          <p:cNvSpPr txBox="1"/>
          <p:nvPr/>
        </p:nvSpPr>
        <p:spPr>
          <a:xfrm>
            <a:off x="940118" y="5676424"/>
            <a:ext cx="272322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不做前瞻会被切成 x + p,识别为未定义 p。</a:t>
            </a:r>
            <a:endParaRPr lang="zh-CN" sz="975" dirty="0">
              <a:solidFill>
                <a:srgbClr val="FFFFFF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65" name="TextBox 65"/>
          <p:cNvSpPr txBox="1"/>
          <p:nvPr/>
        </p:nvSpPr>
        <p:spPr>
          <a:xfrm>
            <a:off x="942022" y="5854541"/>
            <a:ext cx="205123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26A69A"/>
                </a:solidFill>
                <a:latin typeface="Segoe UI"/>
                <a:ea typeface="Microsoft YaHei"/>
                <a:cs typeface="Segoe UI"/>
              </a:rPr>
              <a:t>→ 同时保留 sin(x) 和 xp(2) 两种语义</a:t>
            </a:r>
            <a:endParaRPr lang="zh-CN" sz="825" dirty="0">
              <a:solidFill>
                <a:srgbClr val="26A69A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66" name="Rectangle 66"/>
          <p:cNvSpPr/>
          <p:nvPr/>
        </p:nvSpPr>
        <p:spPr>
          <a:xfrm>
            <a:off x="6172200" y="1524000"/>
            <a:ext cx="5448300" cy="4667250"/>
          </a:xfrm>
          <a:prstGeom prst="roundRect">
            <a:avLst>
              <a:gd name="adj" fmla="val 2041"/>
            </a:avLst>
          </a:prstGeom>
          <a:solidFill>
            <a:srgbClr val="0F172A"/>
          </a:solidFill>
          <a:ln>
            <a:noFill/>
          </a:ln>
        </p:spPr>
      </p:sp>
      <p:sp>
        <p:nvSpPr>
          <p:cNvPr id="67" name="Rectangle 67"/>
          <p:cNvSpPr/>
          <p:nvPr/>
        </p:nvSpPr>
        <p:spPr>
          <a:xfrm>
            <a:off x="6172200" y="1524000"/>
            <a:ext cx="5448300" cy="381000"/>
          </a:xfrm>
          <a:prstGeom prst="roundRect">
            <a:avLst>
              <a:gd name="adj" fmla="val 25000"/>
            </a:avLst>
          </a:prstGeom>
          <a:solidFill>
            <a:srgbClr val="1F2937"/>
          </a:solidFill>
          <a:ln>
            <a:noFill/>
          </a:ln>
        </p:spPr>
      </p:sp>
      <p:sp>
        <p:nvSpPr>
          <p:cNvPr id="68" name="Rectangle 68"/>
          <p:cNvSpPr/>
          <p:nvPr/>
        </p:nvSpPr>
        <p:spPr>
          <a:xfrm>
            <a:off x="6172200" y="1809750"/>
            <a:ext cx="5448300" cy="95250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69" name="TextBox 69"/>
          <p:cNvSpPr txBox="1"/>
          <p:nvPr/>
        </p:nvSpPr>
        <p:spPr>
          <a:xfrm>
            <a:off x="6350318" y="1656874"/>
            <a:ext cx="163387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Consolas"/>
                <a:ea typeface="Microsoft YaHei"/>
                <a:cs typeface="Consolas"/>
              </a:rPr>
              <a:t>Plotter.ets · sample()</a:t>
            </a:r>
            <a:endParaRPr lang="zh-CN" sz="975" dirty="0">
              <a:solidFill>
                <a:srgbClr val="94A3B8"/>
              </a:solidFill>
              <a:latin typeface="Consolas"/>
              <a:ea typeface="Microsoft YaHei"/>
              <a:cs typeface="Consolas"/>
            </a:endParaRPr>
          </a:p>
        </p:txBody>
      </p:sp>
      <p:sp>
        <p:nvSpPr>
          <p:cNvPr id="70" name="Rectangle 70"/>
          <p:cNvSpPr/>
          <p:nvPr/>
        </p:nvSpPr>
        <p:spPr>
          <a:xfrm>
            <a:off x="10553700" y="1638300"/>
            <a:ext cx="952500" cy="190500"/>
          </a:xfrm>
          <a:prstGeom prst="roundRect">
            <a:avLst>
              <a:gd name="adj" fmla="val 50000"/>
            </a:avLst>
          </a:prstGeom>
          <a:solidFill>
            <a:srgbClr val="0288D1"/>
          </a:solidFill>
          <a:ln>
            <a:noFill/>
          </a:ln>
        </p:spPr>
      </p:sp>
      <p:sp>
        <p:nvSpPr>
          <p:cNvPr id="71" name="TextBox 71"/>
          <p:cNvSpPr txBox="1"/>
          <p:nvPr/>
        </p:nvSpPr>
        <p:spPr>
          <a:xfrm>
            <a:off x="10526061" y="1682591"/>
            <a:ext cx="100777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R-02/04/07 闭环</a:t>
            </a:r>
            <a:endParaRPr lang="zh-CN" sz="825" b="1" dirty="0">
              <a:solidFill>
                <a:srgbClr val="FFFFFF"/>
              </a:solidFill>
              <a:latin typeface="Segoe UI"/>
              <a:ea typeface="Microsoft YaHei"/>
              <a:cs typeface="Segoe UI"/>
            </a:endParaRPr>
          </a:p>
        </p:txBody>
      </p:sp>
      <p:grpSp>
        <p:nvGrpSpPr>
          <p:cNvPr id="121" name="Group 121"/>
          <p:cNvGrpSpPr/>
          <p:nvPr/>
        </p:nvGrpSpPr>
        <p:grpSpPr>
          <a:xfrm>
            <a:off x="6350318" y="2104549"/>
            <a:ext cx="3864412" cy="2865120"/>
            <a:chOff x="6350318" y="2104549"/>
            <a:chExt cx="3864412" cy="2865120"/>
          </a:xfrm>
        </p:grpSpPr>
        <p:sp>
          <p:nvSpPr>
            <p:cNvPr id="72" name="TextBox 72"/>
            <p:cNvSpPr txBox="1"/>
            <p:nvPr/>
          </p:nvSpPr>
          <p:spPr>
            <a:xfrm>
              <a:off x="6350318" y="2104549"/>
              <a:ext cx="1458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75569"/>
                  </a:solidFill>
                  <a:latin typeface="Consolas"/>
                  <a:ea typeface="Microsoft YaHei"/>
                  <a:cs typeface="Consolas"/>
                </a:rPr>
                <a:t>41</a:t>
              </a:r>
              <a:endParaRPr lang="zh-CN" sz="975" dirty="0">
                <a:solidFill>
                  <a:srgbClr val="475569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655118" y="2104549"/>
              <a:ext cx="4163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4B5FD"/>
                  </a:solidFill>
                  <a:latin typeface="Consolas"/>
                  <a:ea typeface="Microsoft YaHei"/>
                  <a:cs typeface="Consolas"/>
                </a:rPr>
                <a:t>const</a:t>
              </a:r>
              <a:endParaRPr lang="zh-CN" sz="975" dirty="0">
                <a:solidFill>
                  <a:srgbClr val="C4B5FD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112318" y="2104549"/>
              <a:ext cx="651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startTs:</a:t>
              </a:r>
              <a:endParaRPr lang="zh-CN" sz="975" dirty="0">
                <a:solidFill>
                  <a:srgbClr val="FFFFFF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874318" y="2104549"/>
              <a:ext cx="52316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DD3FC"/>
                  </a:solidFill>
                  <a:latin typeface="Consolas"/>
                  <a:ea typeface="Microsoft YaHei"/>
                  <a:cs typeface="Consolas"/>
                </a:rPr>
                <a:t>number</a:t>
              </a:r>
              <a:endParaRPr lang="zh-CN" sz="975" dirty="0">
                <a:solidFill>
                  <a:srgbClr val="7DD3FC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350568" y="210454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=</a:t>
              </a:r>
              <a:endParaRPr lang="zh-CN" sz="975" dirty="0">
                <a:solidFill>
                  <a:srgbClr val="FFFFFF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8560118" y="2104549"/>
              <a:ext cx="83643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BBF24"/>
                  </a:solidFill>
                  <a:latin typeface="Consolas"/>
                  <a:ea typeface="Microsoft YaHei"/>
                  <a:cs typeface="Consolas"/>
                </a:rPr>
                <a:t>Date.now()</a:t>
              </a:r>
              <a:endParaRPr lang="zh-CN" sz="975" dirty="0">
                <a:solidFill>
                  <a:srgbClr val="FBBF24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6350318" y="229504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75569"/>
                  </a:solidFill>
                  <a:latin typeface="Consolas"/>
                  <a:ea typeface="Microsoft YaHei"/>
                  <a:cs typeface="Consolas"/>
                </a:rPr>
                <a:t>42</a:t>
              </a:r>
              <a:endParaRPr lang="zh-CN" sz="975" dirty="0">
                <a:solidFill>
                  <a:srgbClr val="475569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655118" y="2295049"/>
              <a:ext cx="2597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4B5FD"/>
                  </a:solidFill>
                  <a:latin typeface="Consolas"/>
                  <a:ea typeface="Microsoft YaHei"/>
                  <a:cs typeface="Consolas"/>
                </a:rPr>
                <a:t>for</a:t>
              </a:r>
              <a:endParaRPr lang="zh-CN" sz="975" dirty="0">
                <a:solidFill>
                  <a:srgbClr val="C4B5FD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6940868" y="229504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(</a:t>
              </a:r>
              <a:endParaRPr lang="zh-CN" sz="975" dirty="0">
                <a:solidFill>
                  <a:srgbClr val="FFFFFF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055168" y="2295049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4B5FD"/>
                  </a:solidFill>
                  <a:latin typeface="Consolas"/>
                  <a:ea typeface="Microsoft YaHei"/>
                  <a:cs typeface="Consolas"/>
                </a:rPr>
                <a:t>let</a:t>
              </a:r>
              <a:endParaRPr lang="zh-CN" sz="975" dirty="0">
                <a:solidFill>
                  <a:srgbClr val="C4B5FD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7340918" y="2295049"/>
              <a:ext cx="215362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i=0; i&lt;cfg.sampleCount; i++) {</a:t>
              </a:r>
              <a:endParaRPr lang="zh-CN" sz="975" dirty="0">
                <a:solidFill>
                  <a:srgbClr val="FFFFFF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6350318" y="248554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75569"/>
                  </a:solidFill>
                  <a:latin typeface="Consolas"/>
                  <a:ea typeface="Microsoft YaHei"/>
                  <a:cs typeface="Consolas"/>
                </a:rPr>
                <a:t>43</a:t>
              </a:r>
              <a:endParaRPr lang="zh-CN" sz="975" dirty="0">
                <a:solidFill>
                  <a:srgbClr val="475569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6845618" y="2485549"/>
              <a:ext cx="1458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4B5FD"/>
                  </a:solidFill>
                  <a:latin typeface="Consolas"/>
                  <a:ea typeface="Microsoft YaHei"/>
                  <a:cs typeface="Consolas"/>
                </a:rPr>
                <a:t>if</a:t>
              </a:r>
              <a:endParaRPr lang="zh-CN" sz="975" dirty="0">
                <a:solidFill>
                  <a:srgbClr val="C4B5FD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7074218" y="2485549"/>
              <a:ext cx="93611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(i%100===0 &amp;&amp;</a:t>
              </a:r>
              <a:endParaRPr lang="zh-CN" sz="975" dirty="0">
                <a:solidFill>
                  <a:srgbClr val="FFFFFF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6350318" y="267604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75569"/>
                  </a:solidFill>
                  <a:latin typeface="Consolas"/>
                  <a:ea typeface="Microsoft YaHei"/>
                  <a:cs typeface="Consolas"/>
                </a:rPr>
                <a:t>44</a:t>
              </a:r>
              <a:endParaRPr lang="zh-CN" sz="975" dirty="0">
                <a:solidFill>
                  <a:srgbClr val="475569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6845618" y="2676049"/>
              <a:ext cx="194714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BBF24"/>
                  </a:solidFill>
                  <a:latin typeface="Consolas"/>
                  <a:ea typeface="Microsoft YaHei"/>
                  <a:cs typeface="Consolas"/>
                </a:rPr>
                <a:t>Date.now() - startTs &gt; 200</a:t>
              </a:r>
              <a:endParaRPr lang="zh-CN" sz="975" dirty="0">
                <a:solidFill>
                  <a:srgbClr val="FBBF24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9607868" y="267604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)</a:t>
              </a:r>
              <a:endParaRPr lang="zh-CN" sz="975" dirty="0">
                <a:solidFill>
                  <a:srgbClr val="FFFFFF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9798368" y="2676049"/>
              <a:ext cx="4163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4B5FD"/>
                  </a:solidFill>
                  <a:latin typeface="Consolas"/>
                  <a:ea typeface="Microsoft YaHei"/>
                  <a:cs typeface="Consolas"/>
                </a:rPr>
                <a:t>break</a:t>
              </a:r>
              <a:endParaRPr lang="zh-CN" sz="975" dirty="0">
                <a:solidFill>
                  <a:srgbClr val="C4B5FD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6350318" y="286654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75569"/>
                  </a:solidFill>
                  <a:latin typeface="Consolas"/>
                  <a:ea typeface="Microsoft YaHei"/>
                  <a:cs typeface="Consolas"/>
                </a:rPr>
                <a:t>45</a:t>
              </a:r>
              <a:endParaRPr lang="zh-CN" sz="975" dirty="0">
                <a:solidFill>
                  <a:srgbClr val="475569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6655118" y="2866549"/>
              <a:ext cx="198986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// ↑ 200ms 软超时兜底(R-04)</a:t>
              </a:r>
              <a:endParaRPr lang="zh-CN" sz="975" dirty="0">
                <a:solidFill>
                  <a:srgbClr val="94A3B8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6350318" y="305704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75569"/>
                  </a:solidFill>
                  <a:latin typeface="Consolas"/>
                  <a:ea typeface="Microsoft YaHei"/>
                  <a:cs typeface="Consolas"/>
                </a:rPr>
                <a:t>46</a:t>
              </a:r>
              <a:endParaRPr lang="zh-CN" sz="975" dirty="0">
                <a:solidFill>
                  <a:srgbClr val="475569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6845618" y="3057049"/>
              <a:ext cx="4163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4B5FD"/>
                  </a:solidFill>
                  <a:latin typeface="Consolas"/>
                  <a:ea typeface="Microsoft YaHei"/>
                  <a:cs typeface="Consolas"/>
                </a:rPr>
                <a:t>const</a:t>
              </a:r>
              <a:endParaRPr lang="zh-CN" sz="975" dirty="0">
                <a:solidFill>
                  <a:srgbClr val="C4B5FD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7302818" y="3057049"/>
              <a:ext cx="205394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x = xMin + (xMax-xMin)*i/...</a:t>
              </a:r>
              <a:endParaRPr lang="zh-CN" sz="975" dirty="0">
                <a:solidFill>
                  <a:srgbClr val="FFFFFF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6350318" y="324754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75569"/>
                  </a:solidFill>
                  <a:latin typeface="Consolas"/>
                  <a:ea typeface="Microsoft YaHei"/>
                  <a:cs typeface="Consolas"/>
                </a:rPr>
                <a:t>47</a:t>
              </a:r>
              <a:endParaRPr lang="zh-CN" sz="975" dirty="0">
                <a:solidFill>
                  <a:srgbClr val="475569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6845618" y="3247549"/>
              <a:ext cx="139891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BBF24"/>
                  </a:solidFill>
                  <a:latin typeface="Consolas"/>
                  <a:ea typeface="Microsoft YaHei"/>
                  <a:cs typeface="Consolas"/>
                </a:rPr>
                <a:t>ErrorFlags.reset()</a:t>
              </a:r>
              <a:endParaRPr lang="zh-CN" sz="975" dirty="0">
                <a:solidFill>
                  <a:srgbClr val="FBBF24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8407718" y="3247549"/>
              <a:ext cx="12422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// ↑ 全局态(R-02)</a:t>
              </a:r>
              <a:endParaRPr lang="zh-CN" sz="975" dirty="0">
                <a:solidFill>
                  <a:srgbClr val="94A3B8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6350318" y="343804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75569"/>
                  </a:solidFill>
                  <a:latin typeface="Consolas"/>
                  <a:ea typeface="Microsoft YaHei"/>
                  <a:cs typeface="Consolas"/>
                </a:rPr>
                <a:t>48</a:t>
              </a:r>
              <a:endParaRPr lang="zh-CN" sz="975" dirty="0">
                <a:solidFill>
                  <a:srgbClr val="475569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6845618" y="3438049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4B5FD"/>
                  </a:solidFill>
                  <a:latin typeface="Consolas"/>
                  <a:ea typeface="Microsoft YaHei"/>
                  <a:cs typeface="Consolas"/>
                </a:rPr>
                <a:t>let</a:t>
              </a:r>
              <a:endParaRPr lang="zh-CN" sz="975" dirty="0">
                <a:solidFill>
                  <a:srgbClr val="C4B5FD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7131368" y="3438049"/>
              <a:ext cx="11283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y=NaN, defined=</a:t>
              </a:r>
              <a:endParaRPr lang="zh-CN" sz="975" dirty="0">
                <a:solidFill>
                  <a:srgbClr val="FFFFFF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8483918" y="3438049"/>
              <a:ext cx="3807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59E0B"/>
                  </a:solidFill>
                  <a:latin typeface="Consolas"/>
                  <a:ea typeface="Microsoft YaHei"/>
                  <a:cs typeface="Consolas"/>
                </a:rPr>
                <a:t>false</a:t>
              </a:r>
              <a:endParaRPr lang="zh-CN" sz="975" dirty="0">
                <a:solidFill>
                  <a:srgbClr val="F59E0B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6350318" y="362854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75569"/>
                  </a:solidFill>
                  <a:latin typeface="Consolas"/>
                  <a:ea typeface="Microsoft YaHei"/>
                  <a:cs typeface="Consolas"/>
                </a:rPr>
                <a:t>49</a:t>
              </a:r>
              <a:endParaRPr lang="zh-CN" sz="975" dirty="0">
                <a:solidFill>
                  <a:srgbClr val="475569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6845618" y="3628549"/>
              <a:ext cx="2597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4B5FD"/>
                  </a:solidFill>
                  <a:latin typeface="Consolas"/>
                  <a:ea typeface="Microsoft YaHei"/>
                  <a:cs typeface="Consolas"/>
                </a:rPr>
                <a:t>try</a:t>
              </a:r>
              <a:endParaRPr lang="zh-CN" sz="975" dirty="0">
                <a:solidFill>
                  <a:srgbClr val="C4B5FD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7131368" y="362854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{</a:t>
              </a:r>
              <a:endParaRPr lang="zh-CN" sz="975" dirty="0">
                <a:solidFill>
                  <a:srgbClr val="FFFFFF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6350318" y="381904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75569"/>
                  </a:solidFill>
                  <a:latin typeface="Consolas"/>
                  <a:ea typeface="Microsoft YaHei"/>
                  <a:cs typeface="Consolas"/>
                </a:rPr>
                <a:t>50</a:t>
              </a:r>
              <a:endParaRPr lang="zh-CN" sz="975" dirty="0">
                <a:solidFill>
                  <a:srgbClr val="475569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7074218" y="3819049"/>
              <a:ext cx="267338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y = engine.evalAt(prepared, x, isDeg)</a:t>
              </a:r>
              <a:endParaRPr lang="zh-CN" sz="975" dirty="0">
                <a:solidFill>
                  <a:srgbClr val="FFFFFF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6350318" y="4009549"/>
              <a:ext cx="1458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75569"/>
                  </a:solidFill>
                  <a:latin typeface="Consolas"/>
                  <a:ea typeface="Microsoft YaHei"/>
                  <a:cs typeface="Consolas"/>
                </a:rPr>
                <a:t>51</a:t>
              </a:r>
              <a:endParaRPr lang="zh-CN" sz="975" dirty="0">
                <a:solidFill>
                  <a:srgbClr val="475569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7074218" y="4009549"/>
              <a:ext cx="250250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defined = !ErrorFlags.domain_error</a:t>
              </a:r>
              <a:endParaRPr lang="zh-CN" sz="975" dirty="0">
                <a:solidFill>
                  <a:srgbClr val="FFFFFF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6350318" y="420004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75569"/>
                  </a:solidFill>
                  <a:latin typeface="Consolas"/>
                  <a:ea typeface="Microsoft YaHei"/>
                  <a:cs typeface="Consolas"/>
                </a:rPr>
                <a:t>52</a:t>
              </a:r>
              <a:endParaRPr lang="zh-CN" sz="975" dirty="0">
                <a:solidFill>
                  <a:srgbClr val="475569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7302818" y="4200049"/>
              <a:ext cx="203258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&amp;&amp; !ErrorFlags.syntax_error</a:t>
              </a:r>
              <a:endParaRPr lang="zh-CN" sz="975" dirty="0">
                <a:solidFill>
                  <a:srgbClr val="FFFFFF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6350318" y="439054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75569"/>
                  </a:solidFill>
                  <a:latin typeface="Consolas"/>
                  <a:ea typeface="Microsoft YaHei"/>
                  <a:cs typeface="Consolas"/>
                </a:rPr>
                <a:t>53</a:t>
              </a:r>
              <a:endParaRPr lang="zh-CN" sz="975" dirty="0">
                <a:solidFill>
                  <a:srgbClr val="475569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7302818" y="4390549"/>
              <a:ext cx="186882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BBF24"/>
                  </a:solidFill>
                  <a:latin typeface="Consolas"/>
                  <a:ea typeface="Microsoft YaHei"/>
                  <a:cs typeface="Consolas"/>
                </a:rPr>
                <a:t>&amp;&amp; isFinite(y) &amp;&amp; |y| &lt;= 1e15</a:t>
              </a:r>
              <a:endParaRPr lang="zh-CN" sz="975" dirty="0">
                <a:solidFill>
                  <a:srgbClr val="FBBF24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6350318" y="458104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75569"/>
                  </a:solidFill>
                  <a:latin typeface="Consolas"/>
                  <a:ea typeface="Microsoft YaHei"/>
                  <a:cs typeface="Consolas"/>
                </a:rPr>
                <a:t>54</a:t>
              </a:r>
              <a:endParaRPr lang="zh-CN" sz="975" dirty="0">
                <a:solidFill>
                  <a:srgbClr val="475569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6845618" y="458104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}</a:t>
              </a:r>
              <a:endParaRPr lang="zh-CN" sz="975" dirty="0">
                <a:solidFill>
                  <a:srgbClr val="FFFFFF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7074218" y="4581049"/>
              <a:ext cx="4163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4B5FD"/>
                  </a:solidFill>
                  <a:latin typeface="Consolas"/>
                  <a:ea typeface="Microsoft YaHei"/>
                  <a:cs typeface="Consolas"/>
                </a:rPr>
                <a:t>catch</a:t>
              </a:r>
              <a:endParaRPr lang="zh-CN" sz="975" dirty="0">
                <a:solidFill>
                  <a:srgbClr val="C4B5FD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7493318" y="4581049"/>
              <a:ext cx="77947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{ defined =</a:t>
              </a:r>
              <a:endParaRPr lang="zh-CN" sz="975" dirty="0">
                <a:solidFill>
                  <a:srgbClr val="FFFFFF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8407718" y="4581049"/>
              <a:ext cx="3807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59E0B"/>
                  </a:solidFill>
                  <a:latin typeface="Consolas"/>
                  <a:ea typeface="Microsoft YaHei"/>
                  <a:cs typeface="Consolas"/>
                </a:rPr>
                <a:t>false</a:t>
              </a:r>
              <a:endParaRPr lang="zh-CN" sz="975" dirty="0">
                <a:solidFill>
                  <a:srgbClr val="F59E0B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8712518" y="458104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}</a:t>
              </a:r>
              <a:endParaRPr lang="zh-CN" sz="975" dirty="0">
                <a:solidFill>
                  <a:srgbClr val="FFFFFF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6350318" y="477154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75569"/>
                  </a:solidFill>
                  <a:latin typeface="Consolas"/>
                  <a:ea typeface="Microsoft YaHei"/>
                  <a:cs typeface="Consolas"/>
                </a:rPr>
                <a:t>55</a:t>
              </a:r>
              <a:endParaRPr lang="zh-CN" sz="975" dirty="0">
                <a:solidFill>
                  <a:srgbClr val="475569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6845618" y="4771549"/>
              <a:ext cx="21607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points.push({ x, y, defined })</a:t>
              </a:r>
              <a:endParaRPr lang="zh-CN" sz="975" dirty="0">
                <a:solidFill>
                  <a:srgbClr val="FFFFFF"/>
                </a:solidFill>
                <a:latin typeface="Consolas"/>
                <a:ea typeface="Microsoft YaHei"/>
                <a:cs typeface="Consolas"/>
              </a:endParaRPr>
            </a:p>
          </p:txBody>
        </p:sp>
      </p:grpSp>
      <p:sp>
        <p:nvSpPr>
          <p:cNvPr id="122" name="Rectangle 122"/>
          <p:cNvSpPr/>
          <p:nvPr/>
        </p:nvSpPr>
        <p:spPr>
          <a:xfrm>
            <a:off x="6362700" y="5143500"/>
            <a:ext cx="5067300" cy="857250"/>
          </a:xfrm>
          <a:prstGeom prst="roundRect">
            <a:avLst>
              <a:gd name="adj" fmla="val 6667"/>
            </a:avLst>
          </a:prstGeom>
          <a:solidFill>
            <a:srgbClr val="1F2937"/>
          </a:solidFill>
          <a:ln>
            <a:noFill/>
          </a:ln>
        </p:spPr>
      </p:sp>
      <p:sp>
        <p:nvSpPr>
          <p:cNvPr id="123" name="TextBox 123"/>
          <p:cNvSpPr txBox="1"/>
          <p:nvPr/>
        </p:nvSpPr>
        <p:spPr>
          <a:xfrm>
            <a:off x="6541770" y="5284470"/>
            <a:ext cx="98240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三重过滤(R-07)</a:t>
            </a:r>
            <a:endParaRPr lang="zh-CN" sz="900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124" name="TextBox 124"/>
          <p:cNvSpPr txBox="1"/>
          <p:nvPr/>
        </p:nvSpPr>
        <p:spPr>
          <a:xfrm>
            <a:off x="6540818" y="5485924"/>
            <a:ext cx="253810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!ErrorFlags.* + isFinite(y) + |y|≤1e15</a:t>
            </a:r>
            <a:endParaRPr lang="zh-CN" sz="975" dirty="0">
              <a:solidFill>
                <a:srgbClr val="FFFFFF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125" name="TextBox 125"/>
          <p:cNvSpPr txBox="1"/>
          <p:nvPr/>
        </p:nvSpPr>
        <p:spPr>
          <a:xfrm>
            <a:off x="6540818" y="5685949"/>
            <a:ext cx="253810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→ 与 drawTo 的 |Δy|&gt;5×range 协同断点</a:t>
            </a:r>
            <a:endParaRPr lang="zh-CN" sz="975" dirty="0">
              <a:solidFill>
                <a:srgbClr val="FFFFFF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126" name="TextBox 126"/>
          <p:cNvSpPr txBox="1"/>
          <p:nvPr/>
        </p:nvSpPr>
        <p:spPr>
          <a:xfrm>
            <a:off x="6542722" y="5854541"/>
            <a:ext cx="234041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26A69A"/>
                </a:solidFill>
                <a:latin typeface="Segoe UI"/>
                <a:ea typeface="Microsoft YaHei"/>
                <a:cs typeface="Segoe UI"/>
              </a:rPr>
              <a:t>→ tan(x) 不出现穿屏直线 · 1/x x=0 自动断</a:t>
            </a:r>
            <a:endParaRPr lang="zh-CN" sz="825" dirty="0">
              <a:solidFill>
                <a:srgbClr val="26A69A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127" name="Line 127"/>
          <p:cNvSpPr/>
          <p:nvPr/>
        </p:nvSpPr>
        <p:spPr>
          <a:xfrm>
            <a:off x="571500" y="64770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128" name="TextBox 128"/>
          <p:cNvSpPr txBox="1"/>
          <p:nvPr/>
        </p:nvSpPr>
        <p:spPr>
          <a:xfrm>
            <a:off x="561975" y="6586538"/>
            <a:ext cx="219336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OpenCalc HarmonyOS Demo · 客户实验手册</a:t>
            </a:r>
            <a:endParaRPr lang="zh-CN" sz="750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129" name="TextBox 129"/>
          <p:cNvSpPr txBox="1"/>
          <p:nvPr/>
        </p:nvSpPr>
        <p:spPr>
          <a:xfrm>
            <a:off x="11326178" y="6586538"/>
            <a:ext cx="30384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11 / 16</a:t>
            </a:r>
            <a:endParaRPr lang="zh-CN" sz="750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1020" y="598170"/>
            <a:ext cx="4164673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12 个 P0 用例 + 16 张截图</a:t>
            </a:r>
            <a:endParaRPr lang="zh-CN" sz="2400" b="1" dirty="0">
              <a:solidFill>
                <a:srgbClr val="1F2937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4" name="Rectangle 4"/>
          <p:cNvSpPr/>
          <p:nvPr/>
        </p:nvSpPr>
        <p:spPr>
          <a:xfrm>
            <a:off x="571500" y="952500"/>
            <a:ext cx="7620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565C0"/>
              </a:gs>
              <a:gs pos="100000">
                <a:srgbClr val="0288D1"/>
              </a:gs>
            </a:gsLst>
            <a:lin ang="0" scaled="1"/>
          </a:gra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012299" y="743902"/>
            <a:ext cx="162153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Demo 3 — 函数图像绘制</a:t>
            </a:r>
            <a:endParaRPr lang="zh-CN" sz="1050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56260" y="1156335"/>
            <a:ext cx="806615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B5563"/>
                </a:solidFill>
                <a:latin typeface="Segoe UI"/>
                <a:ea typeface="Microsoft YaHei"/>
                <a:cs typeface="Segoe UI"/>
              </a:rPr>
              <a:t>Pura 80 模拟器(HarmonyOS 6.0.2 / 1256×2760 / API 22) · x ∈ [-10, 10] · 数据自适配 + 10% padding</a:t>
            </a:r>
            <a:endParaRPr lang="zh-CN" sz="1200" dirty="0">
              <a:solidFill>
                <a:srgbClr val="4B5563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7" name="Rectangle 7"/>
          <p:cNvSpPr/>
          <p:nvPr/>
        </p:nvSpPr>
        <p:spPr>
          <a:xfrm>
            <a:off x="571500" y="1485900"/>
            <a:ext cx="11049000" cy="304800"/>
          </a:xfrm>
          <a:prstGeom prst="roundRect">
            <a:avLst>
              <a:gd name="adj" fmla="val 18750"/>
            </a:avLst>
          </a:prstGeom>
          <a:solidFill>
            <a:srgbClr val="1565C0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49618" y="1590199"/>
            <a:ext cx="10700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#</a:t>
            </a:r>
            <a:endParaRPr lang="zh-CN" sz="975" b="1" dirty="0">
              <a:solidFill>
                <a:srgbClr val="FFFFFF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225868" y="1590199"/>
            <a:ext cx="32380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测试</a:t>
            </a:r>
            <a:endParaRPr lang="zh-CN" sz="975" b="1" dirty="0">
              <a:solidFill>
                <a:srgbClr val="FFFFFF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940368" y="1590199"/>
            <a:ext cx="32380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输入</a:t>
            </a:r>
            <a:endParaRPr lang="zh-CN" sz="975" b="1" dirty="0">
              <a:solidFill>
                <a:srgbClr val="FFFFFF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4845368" y="1590199"/>
            <a:ext cx="32380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预期</a:t>
            </a:r>
            <a:endParaRPr lang="zh-CN" sz="975" b="1" dirty="0">
              <a:solidFill>
                <a:srgbClr val="FFFFFF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934599" y="1590199"/>
            <a:ext cx="32380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实测</a:t>
            </a:r>
            <a:endParaRPr lang="zh-CN" sz="975" b="1" dirty="0">
              <a:solidFill>
                <a:srgbClr val="FFFFFF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1077599" y="1590199"/>
            <a:ext cx="32380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截图</a:t>
            </a:r>
            <a:endParaRPr lang="zh-CN" sz="975" b="1" dirty="0">
              <a:solidFill>
                <a:srgbClr val="FFFFFF"/>
              </a:solidFill>
              <a:latin typeface="Segoe UI"/>
              <a:ea typeface="Microsoft YaHei"/>
              <a:cs typeface="Segoe UI"/>
            </a:endParaRPr>
          </a:p>
        </p:txBody>
      </p:sp>
      <p:grpSp>
        <p:nvGrpSpPr>
          <p:cNvPr id="98" name="Group 98"/>
          <p:cNvGrpSpPr/>
          <p:nvPr/>
        </p:nvGrpSpPr>
        <p:grpSpPr>
          <a:xfrm>
            <a:off x="571500" y="1828800"/>
            <a:ext cx="11049000" cy="4114800"/>
            <a:chOff x="571500" y="1828800"/>
            <a:chExt cx="11049000" cy="4114800"/>
          </a:xfrm>
        </p:grpSpPr>
        <p:sp>
          <p:nvSpPr>
            <p:cNvPr id="14" name="Rectangle 14"/>
            <p:cNvSpPr/>
            <p:nvPr/>
          </p:nvSpPr>
          <p:spPr>
            <a:xfrm>
              <a:off x="571500" y="1828800"/>
              <a:ext cx="11049000" cy="3429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49618" y="1942624"/>
              <a:ext cx="6748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1</a:t>
              </a:r>
              <a:endParaRPr lang="zh-CN" sz="975" dirty="0">
                <a:solidFill>
                  <a:srgbClr val="94A3B8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25868" y="1942624"/>
              <a:ext cx="7367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主界面入口</a:t>
              </a:r>
              <a:endParaRPr lang="zh-CN" sz="975" dirty="0">
                <a:solidFill>
                  <a:srgbClr val="1F2937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940368" y="1942624"/>
              <a:ext cx="5872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B5563"/>
                  </a:solidFill>
                  <a:latin typeface="Segoe UI"/>
                  <a:ea typeface="Microsoft YaHei"/>
                  <a:cs typeface="Segoe UI"/>
                </a:rPr>
                <a:t>启动 App</a:t>
              </a:r>
              <a:endParaRPr lang="zh-CN" sz="975" dirty="0">
                <a:solidFill>
                  <a:srgbClr val="4B5563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845368" y="1942624"/>
              <a:ext cx="21607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B5563"/>
                  </a:solidFill>
                  <a:latin typeface="Segoe UI"/>
                  <a:ea typeface="Microsoft YaHei"/>
                  <a:cs typeface="Segoe UI"/>
                </a:rPr>
                <a:t>「绘图」按钮位于 Sci 与历史之间</a:t>
              </a:r>
              <a:endParaRPr lang="zh-CN" sz="975" dirty="0">
                <a:solidFill>
                  <a:srgbClr val="4B5563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043000" y="1942624"/>
              <a:ext cx="1070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0B981"/>
                  </a:solidFill>
                  <a:latin typeface="Segoe UI"/>
                  <a:ea typeface="Microsoft YaHei"/>
                  <a:cs typeface="Segoe UI"/>
                </a:rPr>
                <a:t>✓</a:t>
              </a:r>
              <a:endParaRPr lang="zh-CN" sz="975" b="1" dirty="0">
                <a:solidFill>
                  <a:srgbClr val="10B981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166598" y="1942624"/>
              <a:ext cx="1458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0288D1"/>
                  </a:solidFill>
                  <a:latin typeface="Consolas"/>
                  <a:ea typeface="Microsoft YaHei"/>
                  <a:cs typeface="Consolas"/>
                </a:rPr>
                <a:t>01</a:t>
              </a:r>
              <a:endParaRPr lang="zh-CN" sz="975" dirty="0">
                <a:solidFill>
                  <a:srgbClr val="0288D1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71500" y="2171700"/>
              <a:ext cx="11049000" cy="342900"/>
            </a:xfrm>
            <a:prstGeom prst="rect">
              <a:avLst/>
            </a:prstGeom>
            <a:solidFill>
              <a:srgbClr val="F7F9FC"/>
            </a:solidFill>
            <a:ln w="9525">
              <a:solidFill>
                <a:srgbClr val="E5E7EB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49618" y="2285524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2</a:t>
              </a:r>
              <a:endParaRPr lang="zh-CN" sz="975" dirty="0">
                <a:solidFill>
                  <a:srgbClr val="94A3B8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225868" y="2285524"/>
              <a:ext cx="134195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GraphPage 初次进入</a:t>
              </a:r>
              <a:endParaRPr lang="zh-CN" sz="975" dirty="0">
                <a:solidFill>
                  <a:srgbClr val="1F2937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940368" y="2285524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B5563"/>
                  </a:solidFill>
                  <a:latin typeface="Segoe UI"/>
                  <a:ea typeface="Microsoft YaHei"/>
                  <a:cs typeface="Segoe UI"/>
                </a:rPr>
                <a:t>点击「绘图」</a:t>
              </a:r>
              <a:endParaRPr lang="zh-CN" sz="975" dirty="0">
                <a:solidFill>
                  <a:srgbClr val="4B5563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845368" y="2285524"/>
              <a:ext cx="290122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B5563"/>
                  </a:solidFill>
                  <a:latin typeface="Segoe UI"/>
                  <a:ea typeface="Microsoft YaHei"/>
                  <a:cs typeface="Segoe UI"/>
                </a:rPr>
                <a:t>标题/返回/输入框/x 键/绘图按钮/空 Canvas</a:t>
              </a:r>
              <a:endParaRPr lang="zh-CN" sz="975" dirty="0">
                <a:solidFill>
                  <a:srgbClr val="4B5563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043000" y="2285524"/>
              <a:ext cx="1070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0B981"/>
                  </a:solidFill>
                  <a:latin typeface="Segoe UI"/>
                  <a:ea typeface="Microsoft YaHei"/>
                  <a:cs typeface="Segoe UI"/>
                </a:rPr>
                <a:t>✓</a:t>
              </a:r>
              <a:endParaRPr lang="zh-CN" sz="975" b="1" dirty="0">
                <a:solidFill>
                  <a:srgbClr val="10B981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148798" y="2285524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0288D1"/>
                  </a:solidFill>
                  <a:latin typeface="Consolas"/>
                  <a:ea typeface="Microsoft YaHei"/>
                  <a:cs typeface="Consolas"/>
                </a:rPr>
                <a:t>02</a:t>
              </a:r>
              <a:endParaRPr lang="zh-CN" sz="975" dirty="0">
                <a:solidFill>
                  <a:srgbClr val="0288D1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71500" y="2514600"/>
              <a:ext cx="11049000" cy="3429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49618" y="2628424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3</a:t>
              </a:r>
              <a:endParaRPr lang="zh-CN" sz="975" dirty="0">
                <a:solidFill>
                  <a:srgbClr val="94A3B8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225868" y="2628424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正弦曲线</a:t>
              </a:r>
              <a:endParaRPr lang="zh-CN" sz="975" dirty="0">
                <a:solidFill>
                  <a:srgbClr val="1F2937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940368" y="2628424"/>
              <a:ext cx="4590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sin(x)</a:t>
              </a:r>
              <a:endParaRPr lang="zh-CN" sz="975" dirty="0">
                <a:solidFill>
                  <a:srgbClr val="1565C0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845368" y="2628424"/>
              <a:ext cx="211090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B5563"/>
                  </a:solidFill>
                  <a:latin typeface="Segoe UI"/>
                  <a:ea typeface="Microsoft YaHei"/>
                  <a:cs typeface="Segoe UI"/>
                </a:rPr>
                <a:t>≈3 周期 · X/Y 轴可见 · 原点居中</a:t>
              </a:r>
              <a:endParaRPr lang="zh-CN" sz="975" dirty="0">
                <a:solidFill>
                  <a:srgbClr val="4B5563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043000" y="2628424"/>
              <a:ext cx="1070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0B981"/>
                  </a:solidFill>
                  <a:latin typeface="Segoe UI"/>
                  <a:ea typeface="Microsoft YaHei"/>
                  <a:cs typeface="Segoe UI"/>
                </a:rPr>
                <a:t>✓</a:t>
              </a:r>
              <a:endParaRPr lang="zh-CN" sz="975" b="1" dirty="0">
                <a:solidFill>
                  <a:srgbClr val="10B981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148798" y="2628424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0288D1"/>
                  </a:solidFill>
                  <a:latin typeface="Consolas"/>
                  <a:ea typeface="Microsoft YaHei"/>
                  <a:cs typeface="Consolas"/>
                </a:rPr>
                <a:t>07</a:t>
              </a:r>
              <a:endParaRPr lang="zh-CN" sz="975" dirty="0">
                <a:solidFill>
                  <a:srgbClr val="0288D1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71500" y="2857500"/>
              <a:ext cx="11049000" cy="342900"/>
            </a:xfrm>
            <a:prstGeom prst="rect">
              <a:avLst/>
            </a:prstGeom>
            <a:solidFill>
              <a:srgbClr val="F7F9FC"/>
            </a:solidFill>
            <a:ln w="9525">
              <a:solidFill>
                <a:srgbClr val="E5E7EB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49618" y="2971324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4</a:t>
              </a:r>
              <a:endParaRPr lang="zh-CN" sz="975" dirty="0">
                <a:solidFill>
                  <a:srgbClr val="94A3B8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225868" y="2971324"/>
              <a:ext cx="45196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抛物线</a:t>
              </a:r>
              <a:endParaRPr lang="zh-CN" sz="975" dirty="0">
                <a:solidFill>
                  <a:srgbClr val="1F2937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940368" y="2971324"/>
              <a:ext cx="2597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x^2</a:t>
              </a:r>
              <a:endParaRPr lang="zh-CN" sz="975" dirty="0">
                <a:solidFill>
                  <a:srgbClr val="1565C0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845368" y="2971324"/>
              <a:ext cx="14060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B5563"/>
                  </a:solidFill>
                  <a:latin typeface="Segoe UI"/>
                  <a:ea typeface="Microsoft YaHei"/>
                  <a:cs typeface="Segoe UI"/>
                </a:rPr>
                <a:t>开口向上 · 顶点≈原点</a:t>
              </a:r>
              <a:endParaRPr lang="zh-CN" sz="975" dirty="0">
                <a:solidFill>
                  <a:srgbClr val="4B5563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043000" y="2971324"/>
              <a:ext cx="1070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0B981"/>
                  </a:solidFill>
                  <a:latin typeface="Segoe UI"/>
                  <a:ea typeface="Microsoft YaHei"/>
                  <a:cs typeface="Segoe UI"/>
                </a:rPr>
                <a:t>✓</a:t>
              </a:r>
              <a:endParaRPr lang="zh-CN" sz="975" b="1" dirty="0">
                <a:solidFill>
                  <a:srgbClr val="10B981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148798" y="2971324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0288D1"/>
                  </a:solidFill>
                  <a:latin typeface="Consolas"/>
                  <a:ea typeface="Microsoft YaHei"/>
                  <a:cs typeface="Consolas"/>
                </a:rPr>
                <a:t>08</a:t>
              </a:r>
              <a:endParaRPr lang="zh-CN" sz="975" dirty="0">
                <a:solidFill>
                  <a:srgbClr val="0288D1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71500" y="3200400"/>
              <a:ext cx="11049000" cy="3429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49618" y="3314224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5</a:t>
              </a:r>
              <a:endParaRPr lang="zh-CN" sz="975" dirty="0">
                <a:solidFill>
                  <a:srgbClr val="94A3B8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225868" y="3314224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一次函数</a:t>
              </a:r>
              <a:endParaRPr lang="zh-CN" sz="975" dirty="0">
                <a:solidFill>
                  <a:srgbClr val="1F2937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940368" y="3314224"/>
              <a:ext cx="3807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2*x+1</a:t>
              </a:r>
              <a:endParaRPr lang="zh-CN" sz="975" dirty="0">
                <a:solidFill>
                  <a:srgbClr val="1565C0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845368" y="3314224"/>
              <a:ext cx="142739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B5563"/>
                  </a:solidFill>
                  <a:latin typeface="Segoe UI"/>
                  <a:ea typeface="Microsoft YaHei"/>
                  <a:cs typeface="Segoe UI"/>
                </a:rPr>
                <a:t>直线 · 过 y=1 · 斜率 2</a:t>
              </a:r>
              <a:endParaRPr lang="zh-CN" sz="975" dirty="0">
                <a:solidFill>
                  <a:srgbClr val="4B5563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043000" y="3314224"/>
              <a:ext cx="1070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0B981"/>
                  </a:solidFill>
                  <a:latin typeface="Segoe UI"/>
                  <a:ea typeface="Microsoft YaHei"/>
                  <a:cs typeface="Segoe UI"/>
                </a:rPr>
                <a:t>✓</a:t>
              </a:r>
              <a:endParaRPr lang="zh-CN" sz="975" b="1" dirty="0">
                <a:solidFill>
                  <a:srgbClr val="10B981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148798" y="3314224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0288D1"/>
                  </a:solidFill>
                  <a:latin typeface="Consolas"/>
                  <a:ea typeface="Microsoft YaHei"/>
                  <a:cs typeface="Consolas"/>
                </a:rPr>
                <a:t>09</a:t>
              </a:r>
              <a:endParaRPr lang="zh-CN" sz="975" dirty="0">
                <a:solidFill>
                  <a:srgbClr val="0288D1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71500" y="3543300"/>
              <a:ext cx="11049000" cy="342900"/>
            </a:xfrm>
            <a:prstGeom prst="rect">
              <a:avLst/>
            </a:prstGeom>
            <a:solidFill>
              <a:srgbClr val="F7F9FC"/>
            </a:solidFill>
            <a:ln w="9525">
              <a:solidFill>
                <a:srgbClr val="E5E7EB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49618" y="3657124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6</a:t>
              </a:r>
              <a:endParaRPr lang="zh-CN" sz="975" dirty="0">
                <a:solidFill>
                  <a:srgbClr val="94A3B8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225868" y="3657124"/>
              <a:ext cx="8933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双曲线(断点)</a:t>
              </a:r>
              <a:endParaRPr lang="zh-CN" sz="975" dirty="0">
                <a:solidFill>
                  <a:srgbClr val="1F2937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940368" y="3657124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1/x</a:t>
              </a:r>
              <a:endParaRPr lang="zh-CN" sz="975" dirty="0">
                <a:solidFill>
                  <a:srgbClr val="1565C0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845368" y="3657124"/>
              <a:ext cx="146299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B5563"/>
                  </a:solidFill>
                  <a:latin typeface="Segoe UI"/>
                  <a:ea typeface="Microsoft YaHei"/>
                  <a:cs typeface="Segoe UI"/>
                </a:rPr>
                <a:t>x=0 自动断开 · 两分支</a:t>
              </a:r>
              <a:endParaRPr lang="zh-CN" sz="975" dirty="0">
                <a:solidFill>
                  <a:srgbClr val="4B5563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043000" y="3657124"/>
              <a:ext cx="1070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0B981"/>
                  </a:solidFill>
                  <a:latin typeface="Segoe UI"/>
                  <a:ea typeface="Microsoft YaHei"/>
                  <a:cs typeface="Segoe UI"/>
                </a:rPr>
                <a:t>✓</a:t>
              </a:r>
              <a:endParaRPr lang="zh-CN" sz="975" b="1" dirty="0">
                <a:solidFill>
                  <a:srgbClr val="10B981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166598" y="3657124"/>
              <a:ext cx="1458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0288D1"/>
                  </a:solidFill>
                  <a:latin typeface="Consolas"/>
                  <a:ea typeface="Microsoft YaHei"/>
                  <a:cs typeface="Consolas"/>
                </a:rPr>
                <a:t>10</a:t>
              </a:r>
              <a:endParaRPr lang="zh-CN" sz="975" dirty="0">
                <a:solidFill>
                  <a:srgbClr val="0288D1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71500" y="3886200"/>
              <a:ext cx="11049000" cy="342900"/>
            </a:xfrm>
            <a:prstGeom prst="rect">
              <a:avLst/>
            </a:prstGeom>
            <a:solidFill>
              <a:srgbClr val="FEF3C7"/>
            </a:solidFill>
            <a:ln w="9525">
              <a:solidFill>
                <a:srgbClr val="F59E0B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49618" y="4000024"/>
              <a:ext cx="23409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59E0B"/>
                  </a:solidFill>
                  <a:latin typeface="Segoe UI"/>
                  <a:ea typeface="Microsoft YaHei"/>
                  <a:cs typeface="Segoe UI"/>
                </a:rPr>
                <a:t>⭐ 7</a:t>
              </a:r>
              <a:endParaRPr lang="zh-CN" sz="975" b="1" dirty="0">
                <a:solidFill>
                  <a:srgbClr val="F59E0B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225868" y="4000024"/>
              <a:ext cx="93682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渐近线(断点)</a:t>
              </a:r>
              <a:endParaRPr lang="zh-CN" sz="975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2940368" y="4000024"/>
              <a:ext cx="4946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tan(x)</a:t>
              </a:r>
              <a:endParaRPr lang="zh-CN" sz="975" dirty="0">
                <a:solidFill>
                  <a:srgbClr val="1565C0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4845368" y="4000024"/>
              <a:ext cx="22604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B5563"/>
                  </a:solidFill>
                  <a:latin typeface="Segoe UI"/>
                  <a:ea typeface="Microsoft YaHei"/>
                  <a:cs typeface="Segoe UI"/>
                </a:rPr>
                <a:t>≈6 段折线 · 渐近线处断开 · 不穿屏</a:t>
              </a:r>
              <a:endParaRPr lang="zh-CN" sz="975" dirty="0">
                <a:solidFill>
                  <a:srgbClr val="4B5563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043000" y="4000024"/>
              <a:ext cx="1070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0B981"/>
                  </a:solidFill>
                  <a:latin typeface="Segoe UI"/>
                  <a:ea typeface="Microsoft YaHei"/>
                  <a:cs typeface="Segoe UI"/>
                </a:rPr>
                <a:t>✓</a:t>
              </a:r>
              <a:endParaRPr lang="zh-CN" sz="975" b="1" dirty="0">
                <a:solidFill>
                  <a:srgbClr val="10B981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184398" y="4000024"/>
              <a:ext cx="1102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0288D1"/>
                  </a:solidFill>
                  <a:latin typeface="Consolas"/>
                  <a:ea typeface="Microsoft YaHei"/>
                  <a:cs typeface="Consolas"/>
                </a:rPr>
                <a:t>11</a:t>
              </a:r>
              <a:endParaRPr lang="zh-CN" sz="975" dirty="0">
                <a:solidFill>
                  <a:srgbClr val="0288D1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571500" y="4229100"/>
              <a:ext cx="11049000" cy="3429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49618" y="4342924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8</a:t>
              </a:r>
              <a:endParaRPr lang="zh-CN" sz="975" dirty="0">
                <a:solidFill>
                  <a:srgbClr val="94A3B8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225868" y="4342924"/>
              <a:ext cx="7367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定义域受限</a:t>
              </a:r>
              <a:endParaRPr lang="zh-CN" sz="975" dirty="0">
                <a:solidFill>
                  <a:srgbClr val="1F2937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2940368" y="4342924"/>
              <a:ext cx="5730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sqrt(x)</a:t>
              </a:r>
              <a:endParaRPr lang="zh-CN" sz="975" dirty="0">
                <a:solidFill>
                  <a:srgbClr val="1565C0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4845368" y="4342924"/>
              <a:ext cx="192578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B5563"/>
                  </a:solidFill>
                  <a:latin typeface="Segoe UI"/>
                  <a:ea typeface="Microsoft YaHei"/>
                  <a:cs typeface="Segoe UI"/>
                </a:rPr>
                <a:t>仅 x≥0 部分绘出 · x&lt;0 无曲线</a:t>
              </a:r>
              <a:endParaRPr lang="zh-CN" sz="975" dirty="0">
                <a:solidFill>
                  <a:srgbClr val="4B5563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043000" y="4342924"/>
              <a:ext cx="1070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0B981"/>
                  </a:solidFill>
                  <a:latin typeface="Segoe UI"/>
                  <a:ea typeface="Microsoft YaHei"/>
                  <a:cs typeface="Segoe UI"/>
                </a:rPr>
                <a:t>✓</a:t>
              </a:r>
              <a:endParaRPr lang="zh-CN" sz="975" b="1" dirty="0">
                <a:solidFill>
                  <a:srgbClr val="10B981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166598" y="4342924"/>
              <a:ext cx="1458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0288D1"/>
                  </a:solidFill>
                  <a:latin typeface="Consolas"/>
                  <a:ea typeface="Microsoft YaHei"/>
                  <a:cs typeface="Consolas"/>
                </a:rPr>
                <a:t>12</a:t>
              </a:r>
              <a:endParaRPr lang="zh-CN" sz="975" dirty="0">
                <a:solidFill>
                  <a:srgbClr val="0288D1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571500" y="4572000"/>
              <a:ext cx="11049000" cy="342900"/>
            </a:xfrm>
            <a:prstGeom prst="rect">
              <a:avLst/>
            </a:prstGeom>
            <a:solidFill>
              <a:srgbClr val="F7F9FC"/>
            </a:solidFill>
            <a:ln w="9525">
              <a:solidFill>
                <a:srgbClr val="E5E7EB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49618" y="4685824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9</a:t>
              </a:r>
              <a:endParaRPr lang="zh-CN" sz="975" dirty="0">
                <a:solidFill>
                  <a:srgbClr val="94A3B8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225868" y="4685824"/>
              <a:ext cx="7367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空输入错误</a:t>
              </a:r>
              <a:endParaRPr lang="zh-CN" sz="975" dirty="0">
                <a:solidFill>
                  <a:srgbClr val="1F2937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2940368" y="4685824"/>
              <a:ext cx="32380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(空)</a:t>
              </a:r>
              <a:endParaRPr lang="zh-CN" sz="975" dirty="0">
                <a:solidFill>
                  <a:srgbClr val="94A3B8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4845368" y="4685824"/>
              <a:ext cx="14487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B5563"/>
                  </a:solidFill>
                  <a:latin typeface="Segoe UI"/>
                  <a:ea typeface="Microsoft YaHei"/>
                  <a:cs typeface="Segoe UI"/>
                </a:rPr>
                <a:t>红字「请输入表达式」</a:t>
              </a:r>
              <a:endParaRPr lang="zh-CN" sz="975" dirty="0">
                <a:solidFill>
                  <a:srgbClr val="4B5563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043000" y="4685824"/>
              <a:ext cx="1070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0B981"/>
                  </a:solidFill>
                  <a:latin typeface="Segoe UI"/>
                  <a:ea typeface="Microsoft YaHei"/>
                  <a:cs typeface="Segoe UI"/>
                </a:rPr>
                <a:t>✓</a:t>
              </a:r>
              <a:endParaRPr lang="zh-CN" sz="975" b="1" dirty="0">
                <a:solidFill>
                  <a:srgbClr val="10B981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166598" y="4685824"/>
              <a:ext cx="1458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0288D1"/>
                  </a:solidFill>
                  <a:latin typeface="Consolas"/>
                  <a:ea typeface="Microsoft YaHei"/>
                  <a:cs typeface="Consolas"/>
                </a:rPr>
                <a:t>13</a:t>
              </a:r>
              <a:endParaRPr lang="zh-CN" sz="975" dirty="0">
                <a:solidFill>
                  <a:srgbClr val="0288D1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571500" y="4914900"/>
              <a:ext cx="11049000" cy="3429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749618" y="5028724"/>
              <a:ext cx="1458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10</a:t>
              </a:r>
              <a:endParaRPr lang="zh-CN" sz="975" dirty="0">
                <a:solidFill>
                  <a:srgbClr val="94A3B8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225868" y="5028724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语法错误</a:t>
              </a:r>
              <a:endParaRPr lang="zh-CN" sz="975" dirty="0">
                <a:solidFill>
                  <a:srgbClr val="1F2937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2940368" y="5028724"/>
              <a:ext cx="11283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sin( →IME→ sin()</a:t>
              </a:r>
              <a:endParaRPr lang="zh-CN" sz="975" dirty="0">
                <a:solidFill>
                  <a:srgbClr val="1565C0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4845368" y="5028724"/>
              <a:ext cx="18759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B5563"/>
                  </a:solidFill>
                  <a:latin typeface="Segoe UI"/>
                  <a:ea typeface="Microsoft YaHei"/>
                  <a:cs typeface="Segoe UI"/>
                </a:rPr>
                <a:t>红字「函数在该区间未定义」</a:t>
              </a:r>
              <a:endParaRPr lang="zh-CN" sz="975" dirty="0">
                <a:solidFill>
                  <a:srgbClr val="4B5563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0043000" y="5028724"/>
              <a:ext cx="1070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0B981"/>
                  </a:solidFill>
                  <a:latin typeface="Segoe UI"/>
                  <a:ea typeface="Microsoft YaHei"/>
                  <a:cs typeface="Segoe UI"/>
                </a:rPr>
                <a:t>✓</a:t>
              </a:r>
              <a:endParaRPr lang="zh-CN" sz="975" b="1" dirty="0">
                <a:solidFill>
                  <a:srgbClr val="10B981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1166598" y="5028724"/>
              <a:ext cx="1458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0288D1"/>
                  </a:solidFill>
                  <a:latin typeface="Consolas"/>
                  <a:ea typeface="Microsoft YaHei"/>
                  <a:cs typeface="Consolas"/>
                </a:rPr>
                <a:t>14</a:t>
              </a:r>
              <a:endParaRPr lang="zh-CN" sz="975" dirty="0">
                <a:solidFill>
                  <a:srgbClr val="0288D1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571500" y="5257800"/>
              <a:ext cx="11049000" cy="342900"/>
            </a:xfrm>
            <a:prstGeom prst="rect">
              <a:avLst/>
            </a:prstGeom>
            <a:solidFill>
              <a:srgbClr val="FEF3C7"/>
            </a:solidFill>
            <a:ln w="9525">
              <a:solidFill>
                <a:srgbClr val="F59E0B"/>
              </a:solidFill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749618" y="5371624"/>
              <a:ext cx="2415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59E0B"/>
                  </a:solidFill>
                  <a:latin typeface="Segoe UI"/>
                  <a:ea typeface="Microsoft YaHei"/>
                  <a:cs typeface="Segoe UI"/>
                </a:rPr>
                <a:t>⭐ 11</a:t>
              </a:r>
              <a:endParaRPr lang="zh-CN" sz="975" b="1" dirty="0">
                <a:solidFill>
                  <a:srgbClr val="F59E0B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225868" y="5371624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错误恢复</a:t>
              </a:r>
              <a:endParaRPr lang="zh-CN" sz="975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2940368" y="5371624"/>
              <a:ext cx="9645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错误后 cos(x)</a:t>
              </a:r>
              <a:endParaRPr lang="zh-CN" sz="975" dirty="0">
                <a:solidFill>
                  <a:srgbClr val="1565C0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4845368" y="5371624"/>
              <a:ext cx="16125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B5563"/>
                  </a:solidFill>
                  <a:latin typeface="Segoe UI"/>
                  <a:ea typeface="Microsoft YaHei"/>
                  <a:cs typeface="Segoe UI"/>
                </a:rPr>
                <a:t>错误消失 · 正常绘出余弦</a:t>
              </a:r>
              <a:endParaRPr lang="zh-CN" sz="975" dirty="0">
                <a:solidFill>
                  <a:srgbClr val="4B5563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0043000" y="5371624"/>
              <a:ext cx="1070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0B981"/>
                  </a:solidFill>
                  <a:latin typeface="Segoe UI"/>
                  <a:ea typeface="Microsoft YaHei"/>
                  <a:cs typeface="Segoe UI"/>
                </a:rPr>
                <a:t>✓</a:t>
              </a:r>
              <a:endParaRPr lang="zh-CN" sz="975" b="1" dirty="0">
                <a:solidFill>
                  <a:srgbClr val="10B981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1166598" y="5371624"/>
              <a:ext cx="1458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0288D1"/>
                  </a:solidFill>
                  <a:latin typeface="Consolas"/>
                  <a:ea typeface="Microsoft YaHei"/>
                  <a:cs typeface="Consolas"/>
                </a:rPr>
                <a:t>15</a:t>
              </a:r>
              <a:endParaRPr lang="zh-CN" sz="975" dirty="0">
                <a:solidFill>
                  <a:srgbClr val="0288D1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571500" y="5600700"/>
              <a:ext cx="11049000" cy="3429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749618" y="5714524"/>
              <a:ext cx="1458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12</a:t>
              </a:r>
              <a:endParaRPr lang="zh-CN" sz="975" dirty="0">
                <a:solidFill>
                  <a:srgbClr val="94A3B8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225868" y="5714524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返回主页</a:t>
              </a:r>
              <a:endParaRPr lang="zh-CN" sz="975" dirty="0">
                <a:solidFill>
                  <a:srgbClr val="1F2937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2940368" y="5714524"/>
              <a:ext cx="4306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B5563"/>
                  </a:solidFill>
                  <a:latin typeface="Segoe UI"/>
                  <a:ea typeface="Microsoft YaHei"/>
                  <a:cs typeface="Segoe UI"/>
                </a:rPr>
                <a:t>点击 ←</a:t>
              </a:r>
              <a:endParaRPr lang="zh-CN" sz="975" dirty="0">
                <a:solidFill>
                  <a:srgbClr val="4B5563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4845368" y="5714524"/>
              <a:ext cx="23957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B5563"/>
                  </a:solidFill>
                  <a:latin typeface="Segoe UI"/>
                  <a:ea typeface="Microsoft YaHei"/>
                  <a:cs typeface="Segoe UI"/>
                </a:rPr>
                <a:t>回到 CalculatorPage · 主界面态保持</a:t>
              </a:r>
              <a:endParaRPr lang="zh-CN" sz="975" dirty="0">
                <a:solidFill>
                  <a:srgbClr val="4B5563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10043000" y="5714524"/>
              <a:ext cx="1070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0B981"/>
                  </a:solidFill>
                  <a:latin typeface="Segoe UI"/>
                  <a:ea typeface="Microsoft YaHei"/>
                  <a:cs typeface="Segoe UI"/>
                </a:rPr>
                <a:t>✓</a:t>
              </a:r>
              <a:endParaRPr lang="zh-CN" sz="975" b="1" dirty="0">
                <a:solidFill>
                  <a:srgbClr val="10B981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11166598" y="5714524"/>
              <a:ext cx="1458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0288D1"/>
                  </a:solidFill>
                  <a:latin typeface="Consolas"/>
                  <a:ea typeface="Microsoft YaHei"/>
                  <a:cs typeface="Consolas"/>
                </a:rPr>
                <a:t>16</a:t>
              </a:r>
              <a:endParaRPr lang="zh-CN" sz="975" dirty="0">
                <a:solidFill>
                  <a:srgbClr val="0288D1"/>
                </a:solidFill>
                <a:latin typeface="Consolas"/>
                <a:ea typeface="Microsoft YaHei"/>
                <a:cs typeface="Consolas"/>
              </a:endParaRPr>
            </a:p>
          </p:txBody>
        </p:sp>
      </p:grpSp>
      <p:sp>
        <p:nvSpPr>
          <p:cNvPr id="99" name="Rectangle 99"/>
          <p:cNvSpPr/>
          <p:nvPr/>
        </p:nvSpPr>
        <p:spPr>
          <a:xfrm>
            <a:off x="571500" y="6057900"/>
            <a:ext cx="11049000" cy="304800"/>
          </a:xfrm>
          <a:prstGeom prst="roundRect">
            <a:avLst>
              <a:gd name="adj" fmla="val 18750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100" name="TextBox 100"/>
          <p:cNvSpPr txBox="1"/>
          <p:nvPr/>
        </p:nvSpPr>
        <p:spPr>
          <a:xfrm>
            <a:off x="939165" y="6144578"/>
            <a:ext cx="6224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12 / 12 ✓</a:t>
            </a:r>
            <a:endParaRPr lang="zh-CN" sz="1050" b="1" dirty="0">
              <a:solidFill>
                <a:srgbClr val="FFFFFF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101" name="TextBox 101"/>
          <p:cNvSpPr txBox="1"/>
          <p:nvPr/>
        </p:nvSpPr>
        <p:spPr>
          <a:xfrm>
            <a:off x="2083118" y="6152674"/>
            <a:ext cx="650390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所有 P0 用例通过 · 16 张截图归档于 specs/changes/20260519-...-function-graph/screenshots/</a:t>
            </a:r>
            <a:endParaRPr lang="zh-CN" sz="975" dirty="0">
              <a:solidFill>
                <a:srgbClr val="FFFFFF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102" name="TextBox 102"/>
          <p:cNvSpPr txBox="1"/>
          <p:nvPr/>
        </p:nvSpPr>
        <p:spPr>
          <a:xfrm>
            <a:off x="10280166" y="6152674"/>
            <a:ext cx="97171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FMEA 7/7 闭环</a:t>
            </a:r>
            <a:endParaRPr lang="zh-CN" sz="975" dirty="0">
              <a:solidFill>
                <a:srgbClr val="FFFFFF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103" name="Line 103"/>
          <p:cNvSpPr/>
          <p:nvPr/>
        </p:nvSpPr>
        <p:spPr>
          <a:xfrm>
            <a:off x="571500" y="64960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104" name="TextBox 104"/>
          <p:cNvSpPr txBox="1"/>
          <p:nvPr/>
        </p:nvSpPr>
        <p:spPr>
          <a:xfrm>
            <a:off x="561975" y="6586538"/>
            <a:ext cx="219336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OpenCalc HarmonyOS Demo · 客户实验手册</a:t>
            </a:r>
            <a:endParaRPr lang="zh-CN" sz="750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105" name="TextBox 105"/>
          <p:cNvSpPr txBox="1"/>
          <p:nvPr/>
        </p:nvSpPr>
        <p:spPr>
          <a:xfrm>
            <a:off x="11298793" y="6586538"/>
            <a:ext cx="33123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12 / 16</a:t>
            </a:r>
            <a:endParaRPr lang="zh-CN" sz="750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1020" y="598170"/>
            <a:ext cx="3115742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编译 + 安装 + 启动</a:t>
            </a:r>
            <a:endParaRPr lang="zh-CN" sz="2400" b="1" dirty="0">
              <a:solidFill>
                <a:srgbClr val="1F2937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4" name="Rectangle 4"/>
          <p:cNvSpPr/>
          <p:nvPr/>
        </p:nvSpPr>
        <p:spPr>
          <a:xfrm>
            <a:off x="571500" y="952500"/>
            <a:ext cx="7620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565C0"/>
              </a:gs>
              <a:gs pos="100000">
                <a:srgbClr val="0288D1"/>
              </a:gs>
            </a:gsLst>
            <a:lin ang="0" scaled="1"/>
          </a:gra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743932" y="743902"/>
            <a:ext cx="188990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三步指南 · 任一 demo 通用</a:t>
            </a:r>
            <a:endParaRPr lang="zh-CN" sz="1050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56260" y="1156335"/>
            <a:ext cx="716356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B5563"/>
                </a:solidFill>
                <a:latin typeface="Segoe UI"/>
                <a:ea typeface="Microsoft YaHei"/>
                <a:cs typeface="Segoe UI"/>
              </a:rPr>
              <a:t>前提:DevEco Studio 6.0.2+ · HarmonyOS SDK API 22 已下载 · Pura 80 模拟器或真机连接</a:t>
            </a:r>
            <a:endParaRPr lang="zh-CN" sz="1200" dirty="0">
              <a:solidFill>
                <a:srgbClr val="4B5563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7" name="Line 7"/>
          <p:cNvSpPr/>
          <p:nvPr/>
        </p:nvSpPr>
        <p:spPr>
          <a:xfrm>
            <a:off x="1905000" y="2762250"/>
            <a:ext cx="8382000" cy="9525"/>
          </a:xfrm>
          <a:custGeom>
            <a:avLst/>
            <a:gdLst/>
            <a:ahLst/>
            <a:cxnLst/>
            <a:rect l="l" t="t" r="r" b="b"/>
            <a:pathLst>
              <a:path w="8382000" h="9525">
                <a:moveTo>
                  <a:pt x="0" y="0"/>
                </a:moveTo>
                <a:lnTo>
                  <a:pt x="8382000" y="0"/>
                </a:lnTo>
              </a:path>
            </a:pathLst>
          </a:custGeom>
          <a:noFill/>
          <a:ln w="19050">
            <a:solidFill>
              <a:srgbClr val="E5E7EB"/>
            </a:solidFill>
            <a:custDash>
              <a:ds d="300000" sp="200000"/>
            </a:custDash>
          </a:ln>
        </p:spPr>
      </p:sp>
      <p:grpSp>
        <p:nvGrpSpPr>
          <p:cNvPr id="11" name="Group 11"/>
          <p:cNvGrpSpPr/>
          <p:nvPr/>
        </p:nvGrpSpPr>
        <p:grpSpPr>
          <a:xfrm>
            <a:off x="1943100" y="2228850"/>
            <a:ext cx="1066800" cy="1066800"/>
            <a:chOff x="1943100" y="2228850"/>
            <a:chExt cx="1066800" cy="1066800"/>
          </a:xfrm>
        </p:grpSpPr>
        <p:sp>
          <p:nvSpPr>
            <p:cNvPr id="8" name="Ellipse 8"/>
            <p:cNvSpPr/>
            <p:nvPr/>
          </p:nvSpPr>
          <p:spPr>
            <a:xfrm>
              <a:off x="1943100" y="2228850"/>
              <a:ext cx="1066800" cy="106680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369391" y="2400300"/>
              <a:ext cx="214217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1</a:t>
              </a:r>
              <a:endParaRPr lang="zh-CN" sz="30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315408" y="2920841"/>
              <a:ext cx="32218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BUILD</a:t>
              </a:r>
              <a:endParaRPr lang="zh-CN" sz="825" dirty="0">
                <a:solidFill>
                  <a:srgbClr val="FFFFFF"/>
                </a:solidFill>
                <a:latin typeface="Segoe UI"/>
                <a:ea typeface="Microsoft YaHei"/>
                <a:cs typeface="Segoe UI"/>
              </a:endParaRP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227421" y="1743075"/>
            <a:ext cx="4981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565C0"/>
                </a:solidFill>
                <a:latin typeface="Segoe UI"/>
                <a:ea typeface="Microsoft YaHei"/>
                <a:cs typeface="Segoe UI"/>
              </a:rPr>
              <a:t>编译</a:t>
            </a:r>
            <a:endParaRPr lang="zh-CN" sz="1500" b="1" dirty="0">
              <a:solidFill>
                <a:srgbClr val="1565C0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987082" y="2009299"/>
            <a:ext cx="97883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IDE 或 CLI 任选</a:t>
            </a:r>
            <a:endParaRPr lang="zh-CN" sz="975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grpSp>
        <p:nvGrpSpPr>
          <p:cNvPr id="20" name="Group 20"/>
          <p:cNvGrpSpPr/>
          <p:nvPr/>
        </p:nvGrpSpPr>
        <p:grpSpPr>
          <a:xfrm>
            <a:off x="2364105" y="2267461"/>
            <a:ext cx="241424" cy="241424"/>
            <a:chOff x="2364105" y="2267461"/>
            <a:chExt cx="241424" cy="241424"/>
          </a:xfrm>
        </p:grpSpPr>
        <p:sp>
          <p:nvSpPr>
            <p:cNvPr id="14" name="Freeform 14"/>
            <p:cNvSpPr/>
            <p:nvPr/>
          </p:nvSpPr>
          <p:spPr>
            <a:xfrm>
              <a:off x="2364105" y="2267461"/>
              <a:ext cx="241424" cy="241424"/>
            </a:xfrm>
            <a:custGeom>
              <a:avLst/>
              <a:gdLst/>
              <a:ahLst/>
              <a:cxnLst/>
              <a:rect l="l" t="t" r="r" b="b"/>
              <a:pathLst>
                <a:path w="241424" h="241424">
                  <a:moveTo>
                    <a:pt x="0" y="241424"/>
                  </a:moveTo>
                  <a:lnTo>
                    <a:pt x="53340" y="241424"/>
                  </a:lnTo>
                  <a:lnTo>
                    <a:pt x="226695" y="68069"/>
                  </a:lnTo>
                  <a:cubicBezTo>
                    <a:pt x="241424" y="53340"/>
                    <a:pt x="241424" y="29459"/>
                    <a:pt x="226695" y="14729"/>
                  </a:cubicBezTo>
                  <a:cubicBezTo>
                    <a:pt x="211966" y="0"/>
                    <a:pt x="188084" y="0"/>
                    <a:pt x="173355" y="14729"/>
                  </a:cubicBezTo>
                  <a:lnTo>
                    <a:pt x="0" y="188084"/>
                  </a:lnTo>
                  <a:lnTo>
                    <a:pt x="0" y="241424"/>
                  </a:lnTo>
                </a:path>
              </a:pathLst>
            </a:custGeom>
            <a:noFill/>
            <a:ln w="19050" cap="rnd">
              <a:solidFill>
                <a:srgbClr val="1565C0"/>
              </a:solidFill>
              <a:round/>
            </a:ln>
          </p:spPr>
        </p:sp>
        <p:sp>
          <p:nvSpPr>
            <p:cNvPr id="15" name="Freeform 15"/>
            <p:cNvSpPr/>
            <p:nvPr/>
          </p:nvSpPr>
          <p:spPr>
            <a:xfrm>
              <a:off x="2517458" y="2302192"/>
              <a:ext cx="53340" cy="53340"/>
            </a:xfrm>
            <a:custGeom>
              <a:avLst/>
              <a:gdLst/>
              <a:ahLst/>
              <a:cxnLst/>
              <a:rect l="l" t="t" r="r" b="b"/>
              <a:pathLst>
                <a:path w="53340" h="53340">
                  <a:moveTo>
                    <a:pt x="0" y="0"/>
                  </a:moveTo>
                  <a:lnTo>
                    <a:pt x="53340" y="53340"/>
                  </a:lnTo>
                </a:path>
              </a:pathLst>
            </a:custGeom>
            <a:noFill/>
            <a:ln w="19050" cap="rnd">
              <a:solidFill>
                <a:srgbClr val="1565C0"/>
              </a:solidFill>
              <a:round/>
            </a:ln>
          </p:spPr>
        </p:sp>
        <p:sp>
          <p:nvSpPr>
            <p:cNvPr id="16" name="Freeform 16"/>
            <p:cNvSpPr/>
            <p:nvPr/>
          </p:nvSpPr>
          <p:spPr>
            <a:xfrm>
              <a:off x="2364105" y="2268855"/>
              <a:ext cx="120015" cy="120015"/>
            </a:xfrm>
            <a:custGeom>
              <a:avLst/>
              <a:gdLst/>
              <a:ahLst/>
              <a:cxnLst/>
              <a:rect l="l" t="t" r="r" b="b"/>
              <a:pathLst>
                <a:path w="120015" h="120015">
                  <a:moveTo>
                    <a:pt x="120015" y="66675"/>
                  </a:moveTo>
                  <a:lnTo>
                    <a:pt x="53340" y="0"/>
                  </a:lnTo>
                  <a:lnTo>
                    <a:pt x="0" y="53340"/>
                  </a:lnTo>
                  <a:lnTo>
                    <a:pt x="66675" y="120015"/>
                  </a:lnTo>
                </a:path>
              </a:pathLst>
            </a:custGeom>
            <a:noFill/>
            <a:ln w="19050" cap="rnd">
              <a:solidFill>
                <a:srgbClr val="1565C0"/>
              </a:solidFill>
              <a:round/>
            </a:ln>
          </p:spPr>
        </p:sp>
        <p:sp>
          <p:nvSpPr>
            <p:cNvPr id="17" name="Freeform 17"/>
            <p:cNvSpPr/>
            <p:nvPr/>
          </p:nvSpPr>
          <p:spPr>
            <a:xfrm>
              <a:off x="2397442" y="2335530"/>
              <a:ext cx="20003" cy="20003"/>
            </a:xfrm>
            <a:custGeom>
              <a:avLst/>
              <a:gdLst/>
              <a:ahLst/>
              <a:cxnLst/>
              <a:rect l="l" t="t" r="r" b="b"/>
              <a:pathLst>
                <a:path w="20003" h="20003">
                  <a:moveTo>
                    <a:pt x="20003" y="0"/>
                  </a:moveTo>
                  <a:lnTo>
                    <a:pt x="0" y="20003"/>
                  </a:lnTo>
                </a:path>
              </a:pathLst>
            </a:custGeom>
            <a:noFill/>
            <a:ln w="19050" cap="rnd">
              <a:solidFill>
                <a:srgbClr val="1565C0"/>
              </a:solidFill>
              <a:round/>
            </a:ln>
          </p:spPr>
        </p:sp>
        <p:sp>
          <p:nvSpPr>
            <p:cNvPr id="18" name="Freeform 18"/>
            <p:cNvSpPr/>
            <p:nvPr/>
          </p:nvSpPr>
          <p:spPr>
            <a:xfrm>
              <a:off x="2484120" y="2388870"/>
              <a:ext cx="120015" cy="120015"/>
            </a:xfrm>
            <a:custGeom>
              <a:avLst/>
              <a:gdLst/>
              <a:ahLst/>
              <a:cxnLst/>
              <a:rect l="l" t="t" r="r" b="b"/>
              <a:pathLst>
                <a:path w="120015" h="120015">
                  <a:moveTo>
                    <a:pt x="53340" y="0"/>
                  </a:moveTo>
                  <a:lnTo>
                    <a:pt x="120015" y="66675"/>
                  </a:lnTo>
                  <a:lnTo>
                    <a:pt x="66675" y="120015"/>
                  </a:lnTo>
                  <a:lnTo>
                    <a:pt x="0" y="53340"/>
                  </a:lnTo>
                </a:path>
              </a:pathLst>
            </a:custGeom>
            <a:noFill/>
            <a:ln w="19050" cap="rnd">
              <a:solidFill>
                <a:srgbClr val="1565C0"/>
              </a:solidFill>
              <a:round/>
            </a:ln>
          </p:spPr>
        </p:sp>
        <p:sp>
          <p:nvSpPr>
            <p:cNvPr id="19" name="Freeform 19"/>
            <p:cNvSpPr/>
            <p:nvPr/>
          </p:nvSpPr>
          <p:spPr>
            <a:xfrm>
              <a:off x="2517458" y="2455545"/>
              <a:ext cx="20002" cy="20002"/>
            </a:xfrm>
            <a:custGeom>
              <a:avLst/>
              <a:gdLst/>
              <a:ahLst/>
              <a:cxnLst/>
              <a:rect l="l" t="t" r="r" b="b"/>
              <a:pathLst>
                <a:path w="20002" h="20002">
                  <a:moveTo>
                    <a:pt x="20002" y="0"/>
                  </a:moveTo>
                  <a:lnTo>
                    <a:pt x="0" y="20002"/>
                  </a:lnTo>
                </a:path>
              </a:pathLst>
            </a:custGeom>
            <a:noFill/>
            <a:ln w="19050" cap="rnd">
              <a:solidFill>
                <a:srgbClr val="1565C0"/>
              </a:solidFill>
              <a:round/>
            </a:ln>
          </p:spPr>
        </p:sp>
      </p:grpSp>
      <p:sp>
        <p:nvSpPr>
          <p:cNvPr id="21" name="Rectangle 21"/>
          <p:cNvSpPr/>
          <p:nvPr/>
        </p:nvSpPr>
        <p:spPr>
          <a:xfrm>
            <a:off x="762000" y="3524250"/>
            <a:ext cx="3429000" cy="2533650"/>
          </a:xfrm>
          <a:prstGeom prst="roundRect">
            <a:avLst>
              <a:gd name="adj" fmla="val 3759"/>
            </a:avLst>
          </a:prstGeom>
          <a:solidFill>
            <a:srgbClr val="0F172A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940118" y="3666649"/>
            <a:ext cx="169795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Consolas"/>
                <a:ea typeface="Microsoft YaHei"/>
                <a:cs typeface="Consolas"/>
              </a:rPr>
              <a:t># 推荐:DevEco Studio IDE</a:t>
            </a:r>
            <a:endParaRPr lang="zh-CN" sz="975" dirty="0">
              <a:solidFill>
                <a:srgbClr val="94A3B8"/>
              </a:solidFill>
              <a:latin typeface="Consolas"/>
              <a:ea typeface="Microsoft YaHei"/>
              <a:cs typeface="Consola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940118" y="3876199"/>
            <a:ext cx="14060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/>
                </a:solidFill>
                <a:latin typeface="Consolas"/>
                <a:ea typeface="Microsoft YaHei"/>
                <a:cs typeface="Consolas"/>
              </a:rPr>
              <a:t>Build → Make Project</a:t>
            </a:r>
            <a:endParaRPr lang="zh-CN" sz="975" dirty="0">
              <a:solidFill>
                <a:srgbClr val="FFFFFF"/>
              </a:solidFill>
              <a:latin typeface="Consolas"/>
              <a:ea typeface="Microsoft YaHei"/>
              <a:cs typeface="Consolas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940118" y="4066699"/>
            <a:ext cx="97171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/>
                </a:solidFill>
                <a:latin typeface="Consolas"/>
                <a:ea typeface="Microsoft YaHei"/>
                <a:cs typeface="Consolas"/>
              </a:rPr>
              <a:t>→ Run 'entry'</a:t>
            </a:r>
            <a:endParaRPr lang="zh-CN" sz="975" dirty="0">
              <a:solidFill>
                <a:srgbClr val="FFFFFF"/>
              </a:solidFill>
              <a:latin typeface="Consolas"/>
              <a:ea typeface="Microsoft YaHei"/>
              <a:cs typeface="Consolas"/>
            </a:endParaRPr>
          </a:p>
        </p:txBody>
      </p:sp>
      <p:sp>
        <p:nvSpPr>
          <p:cNvPr id="25" name="Line 25"/>
          <p:cNvSpPr/>
          <p:nvPr/>
        </p:nvSpPr>
        <p:spPr>
          <a:xfrm>
            <a:off x="952500" y="4343400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9525">
            <a:solidFill>
              <a:srgbClr val="1F2937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940118" y="4447699"/>
            <a:ext cx="60860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Consolas"/>
                <a:ea typeface="Microsoft YaHei"/>
                <a:cs typeface="Consolas"/>
              </a:rPr>
              <a:t># 或 CLI:</a:t>
            </a:r>
            <a:endParaRPr lang="zh-CN" sz="975" dirty="0">
              <a:solidFill>
                <a:srgbClr val="94A3B8"/>
              </a:solidFill>
              <a:latin typeface="Consolas"/>
              <a:ea typeface="Microsoft YaHei"/>
              <a:cs typeface="Consolas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940118" y="4657249"/>
            <a:ext cx="108563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DD3FC"/>
                </a:solidFill>
                <a:latin typeface="Consolas"/>
                <a:ea typeface="Microsoft YaHei"/>
                <a:cs typeface="Consolas"/>
              </a:rPr>
              <a:t>$ hvigorw clean</a:t>
            </a:r>
            <a:endParaRPr lang="zh-CN" sz="975" dirty="0">
              <a:solidFill>
                <a:srgbClr val="7DD3FC"/>
              </a:solidFill>
              <a:latin typeface="Consolas"/>
              <a:ea typeface="Microsoft YaHei"/>
              <a:cs typeface="Consolas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940118" y="4866799"/>
            <a:ext cx="170507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DD3FC"/>
                </a:solidFill>
                <a:latin typeface="Consolas"/>
                <a:ea typeface="Microsoft YaHei"/>
                <a:cs typeface="Consolas"/>
              </a:rPr>
              <a:t>$ hvigorw assembleApp \</a:t>
            </a:r>
            <a:endParaRPr lang="zh-CN" sz="975" dirty="0">
              <a:solidFill>
                <a:srgbClr val="7DD3FC"/>
              </a:solidFill>
              <a:latin typeface="Consolas"/>
              <a:ea typeface="Microsoft YaHei"/>
              <a:cs typeface="Consola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940118" y="5076349"/>
            <a:ext cx="165523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DD3FC"/>
                </a:solidFill>
                <a:latin typeface="Consolas"/>
                <a:ea typeface="Microsoft YaHei"/>
                <a:cs typeface="Consolas"/>
              </a:rPr>
              <a:t>--mode debug --daemon</a:t>
            </a:r>
            <a:endParaRPr lang="zh-CN" sz="975" dirty="0">
              <a:solidFill>
                <a:srgbClr val="7DD3FC"/>
              </a:solidFill>
              <a:latin typeface="Consolas"/>
              <a:ea typeface="Microsoft YaHei"/>
              <a:cs typeface="Consolas"/>
            </a:endParaRPr>
          </a:p>
        </p:txBody>
      </p:sp>
      <p:sp>
        <p:nvSpPr>
          <p:cNvPr id="30" name="Line 30"/>
          <p:cNvSpPr/>
          <p:nvPr/>
        </p:nvSpPr>
        <p:spPr>
          <a:xfrm>
            <a:off x="952500" y="5334000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9525">
            <a:solidFill>
              <a:srgbClr val="1F2937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941070" y="5465445"/>
            <a:ext cx="125187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BBF24"/>
                </a:solidFill>
                <a:latin typeface="Segoe UI"/>
                <a:ea typeface="Microsoft YaHei"/>
                <a:cs typeface="Segoe UI"/>
              </a:rPr>
              <a:t>⚠ demo3 CLI 首次需:</a:t>
            </a:r>
            <a:endParaRPr lang="zh-CN" sz="900" dirty="0">
              <a:solidFill>
                <a:srgbClr val="FBBF24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941070" y="5655945"/>
            <a:ext cx="13373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BBF24"/>
                </a:solidFill>
                <a:latin typeface="Consolas"/>
                <a:ea typeface="Microsoft YaHei"/>
                <a:cs typeface="Consolas"/>
              </a:rPr>
              <a:t>$ sudo bash scripts/</a:t>
            </a:r>
            <a:endParaRPr lang="zh-CN" sz="900" dirty="0">
              <a:solidFill>
                <a:srgbClr val="FBBF24"/>
              </a:solidFill>
              <a:latin typeface="Consolas"/>
              <a:ea typeface="Microsoft YaHei"/>
              <a:cs typeface="Consolas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941070" y="5827395"/>
            <a:ext cx="121900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BBF24"/>
                </a:solidFill>
                <a:latin typeface="Consolas"/>
                <a:ea typeface="Microsoft YaHei"/>
                <a:cs typeface="Consolas"/>
              </a:rPr>
              <a:t>fix-deveco-sdk.sh</a:t>
            </a:r>
            <a:endParaRPr lang="zh-CN" sz="900" dirty="0">
              <a:solidFill>
                <a:srgbClr val="FBBF24"/>
              </a:solidFill>
              <a:latin typeface="Consolas"/>
              <a:ea typeface="Microsoft YaHei"/>
              <a:cs typeface="Consolas"/>
            </a:endParaRPr>
          </a:p>
        </p:txBody>
      </p:sp>
      <p:grpSp>
        <p:nvGrpSpPr>
          <p:cNvPr id="36" name="Group 36"/>
          <p:cNvGrpSpPr/>
          <p:nvPr/>
        </p:nvGrpSpPr>
        <p:grpSpPr>
          <a:xfrm>
            <a:off x="3762375" y="2686050"/>
            <a:ext cx="1047750" cy="152400"/>
            <a:chOff x="3762375" y="2686050"/>
            <a:chExt cx="1047750" cy="152400"/>
          </a:xfrm>
        </p:grpSpPr>
        <p:sp>
          <p:nvSpPr>
            <p:cNvPr id="34" name="Freeform 34"/>
            <p:cNvSpPr/>
            <p:nvPr/>
          </p:nvSpPr>
          <p:spPr>
            <a:xfrm>
              <a:off x="3762375" y="2762250"/>
              <a:ext cx="1047750" cy="9525"/>
            </a:xfrm>
            <a:custGeom>
              <a:avLst/>
              <a:gdLst/>
              <a:ahLst/>
              <a:cxnLst/>
              <a:rect l="l" t="t" r="r" b="b"/>
              <a:pathLst>
                <a:path w="1047750" h="9525">
                  <a:moveTo>
                    <a:pt x="0" y="0"/>
                  </a:moveTo>
                  <a:lnTo>
                    <a:pt x="1047750" y="0"/>
                  </a:lnTo>
                </a:path>
              </a:pathLst>
            </a:custGeom>
            <a:noFill/>
            <a:ln w="19050" cap="rnd">
              <a:solidFill>
                <a:srgbClr val="94A3B8"/>
              </a:solidFill>
              <a:round/>
            </a:ln>
          </p:spPr>
        </p:sp>
        <p:sp>
          <p:nvSpPr>
            <p:cNvPr id="35" name="Freeform 35"/>
            <p:cNvSpPr/>
            <p:nvPr/>
          </p:nvSpPr>
          <p:spPr>
            <a:xfrm>
              <a:off x="4714875" y="2686050"/>
              <a:ext cx="95250" cy="152400"/>
            </a:xfrm>
            <a:custGeom>
              <a:avLst/>
              <a:gdLst/>
              <a:ahLst/>
              <a:cxnLst/>
              <a:rect l="l" t="t" r="r" b="b"/>
              <a:pathLst>
                <a:path w="95250" h="152400">
                  <a:moveTo>
                    <a:pt x="0" y="0"/>
                  </a:moveTo>
                  <a:lnTo>
                    <a:pt x="95250" y="76200"/>
                  </a:lnTo>
                  <a:lnTo>
                    <a:pt x="0" y="152400"/>
                  </a:lnTo>
                </a:path>
              </a:pathLst>
            </a:custGeom>
            <a:noFill/>
            <a:ln w="19050" cap="rnd">
              <a:solidFill>
                <a:srgbClr val="94A3B8"/>
              </a:solidFill>
              <a:round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5562600" y="2228850"/>
            <a:ext cx="1066800" cy="1066800"/>
            <a:chOff x="5562600" y="2228850"/>
            <a:chExt cx="1066800" cy="1066800"/>
          </a:xfrm>
        </p:grpSpPr>
        <p:sp>
          <p:nvSpPr>
            <p:cNvPr id="37" name="Ellipse 37"/>
            <p:cNvSpPr/>
            <p:nvPr/>
          </p:nvSpPr>
          <p:spPr>
            <a:xfrm>
              <a:off x="5562600" y="2228850"/>
              <a:ext cx="1066800" cy="1066800"/>
            </a:xfrm>
            <a:prstGeom prst="ellipse">
              <a:avLst/>
            </a:prstGeom>
            <a:solidFill>
              <a:srgbClr val="0288D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931384" y="2400300"/>
              <a:ext cx="329232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2</a:t>
              </a:r>
              <a:endParaRPr lang="zh-CN" sz="30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868638" y="2920841"/>
              <a:ext cx="4547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INSTALL</a:t>
              </a:r>
              <a:endParaRPr lang="zh-CN" sz="825" dirty="0">
                <a:solidFill>
                  <a:srgbClr val="FFFFFF"/>
                </a:solidFill>
                <a:latin typeface="Segoe UI"/>
                <a:ea typeface="Microsoft YaHei"/>
                <a:cs typeface="Segoe UI"/>
              </a:endParaRP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5846921" y="1743075"/>
            <a:ext cx="4981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0288D1"/>
                </a:solidFill>
                <a:latin typeface="Segoe UI"/>
                <a:ea typeface="Microsoft YaHei"/>
                <a:cs typeface="Segoe UI"/>
              </a:rPr>
              <a:t>安装</a:t>
            </a:r>
            <a:endParaRPr lang="zh-CN" sz="1500" b="1" dirty="0">
              <a:solidFill>
                <a:srgbClr val="0288D1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5663541" y="2009299"/>
            <a:ext cx="86491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hdc 推送 HAP</a:t>
            </a:r>
            <a:endParaRPr lang="zh-CN" sz="975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grpSp>
        <p:nvGrpSpPr>
          <p:cNvPr id="46" name="Group 46"/>
          <p:cNvGrpSpPr/>
          <p:nvPr/>
        </p:nvGrpSpPr>
        <p:grpSpPr>
          <a:xfrm>
            <a:off x="6023610" y="2268855"/>
            <a:ext cx="160020" cy="240030"/>
            <a:chOff x="6023610" y="2268855"/>
            <a:chExt cx="160020" cy="240030"/>
          </a:xfrm>
        </p:grpSpPr>
        <p:sp>
          <p:nvSpPr>
            <p:cNvPr id="43" name="Freeform 43"/>
            <p:cNvSpPr/>
            <p:nvPr/>
          </p:nvSpPr>
          <p:spPr>
            <a:xfrm>
              <a:off x="6023610" y="2268855"/>
              <a:ext cx="160020" cy="240030"/>
            </a:xfrm>
            <a:custGeom>
              <a:avLst/>
              <a:gdLst/>
              <a:ahLst/>
              <a:cxnLst/>
              <a:rect l="l" t="t" r="r" b="b"/>
              <a:pathLst>
                <a:path w="160020" h="240030">
                  <a:moveTo>
                    <a:pt x="0" y="26670"/>
                  </a:moveTo>
                  <a:cubicBezTo>
                    <a:pt x="0" y="11941"/>
                    <a:pt x="11941" y="0"/>
                    <a:pt x="26670" y="0"/>
                  </a:cubicBezTo>
                  <a:lnTo>
                    <a:pt x="133350" y="0"/>
                  </a:lnTo>
                  <a:cubicBezTo>
                    <a:pt x="148079" y="0"/>
                    <a:pt x="160020" y="11941"/>
                    <a:pt x="160020" y="26670"/>
                  </a:cubicBezTo>
                  <a:lnTo>
                    <a:pt x="160020" y="213360"/>
                  </a:lnTo>
                  <a:cubicBezTo>
                    <a:pt x="160020" y="228089"/>
                    <a:pt x="148079" y="240030"/>
                    <a:pt x="133350" y="240030"/>
                  </a:cubicBezTo>
                  <a:lnTo>
                    <a:pt x="26670" y="240030"/>
                  </a:lnTo>
                  <a:cubicBezTo>
                    <a:pt x="11941" y="240030"/>
                    <a:pt x="0" y="228089"/>
                    <a:pt x="0" y="213360"/>
                  </a:cubicBezTo>
                  <a:close/>
                </a:path>
              </a:pathLst>
            </a:custGeom>
            <a:noFill/>
            <a:ln w="19050" cap="rnd">
              <a:solidFill>
                <a:srgbClr val="0288D1"/>
              </a:solidFill>
              <a:round/>
            </a:ln>
          </p:spPr>
        </p:sp>
        <p:sp>
          <p:nvSpPr>
            <p:cNvPr id="44" name="Freeform 44"/>
            <p:cNvSpPr/>
            <p:nvPr/>
          </p:nvSpPr>
          <p:spPr>
            <a:xfrm>
              <a:off x="6090285" y="2282190"/>
              <a:ext cx="26670" cy="9525"/>
            </a:xfrm>
            <a:custGeom>
              <a:avLst/>
              <a:gdLst/>
              <a:ahLst/>
              <a:cxnLst/>
              <a:rect l="l" t="t" r="r" b="b"/>
              <a:pathLst>
                <a:path w="26670" h="9525">
                  <a:moveTo>
                    <a:pt x="0" y="0"/>
                  </a:moveTo>
                  <a:lnTo>
                    <a:pt x="26670" y="0"/>
                  </a:lnTo>
                </a:path>
              </a:pathLst>
            </a:custGeom>
            <a:noFill/>
            <a:ln w="19050" cap="rnd">
              <a:solidFill>
                <a:srgbClr val="0288D1"/>
              </a:solidFill>
              <a:round/>
            </a:ln>
          </p:spPr>
        </p:sp>
        <p:sp>
          <p:nvSpPr>
            <p:cNvPr id="45" name="Freeform 45"/>
            <p:cNvSpPr/>
            <p:nvPr/>
          </p:nvSpPr>
          <p:spPr>
            <a:xfrm>
              <a:off x="6103620" y="2455545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133"/>
                  </a:lnTo>
                </a:path>
              </a:pathLst>
            </a:custGeom>
            <a:noFill/>
            <a:ln w="19050" cap="rnd">
              <a:solidFill>
                <a:srgbClr val="0288D1"/>
              </a:solidFill>
              <a:round/>
            </a:ln>
          </p:spPr>
        </p:sp>
      </p:grpSp>
      <p:sp>
        <p:nvSpPr>
          <p:cNvPr id="47" name="Rectangle 47"/>
          <p:cNvSpPr/>
          <p:nvPr/>
        </p:nvSpPr>
        <p:spPr>
          <a:xfrm>
            <a:off x="4381500" y="3524250"/>
            <a:ext cx="3429000" cy="2533650"/>
          </a:xfrm>
          <a:prstGeom prst="roundRect">
            <a:avLst>
              <a:gd name="adj" fmla="val 3759"/>
            </a:avLst>
          </a:prstGeom>
          <a:solidFill>
            <a:srgbClr val="0F172A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4559618" y="3666649"/>
            <a:ext cx="103579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Consolas"/>
                <a:ea typeface="Microsoft YaHei"/>
                <a:cs typeface="Consolas"/>
              </a:rPr>
              <a:t># 配置 hdc 路径</a:t>
            </a:r>
            <a:endParaRPr lang="zh-CN" sz="975" dirty="0">
              <a:solidFill>
                <a:srgbClr val="94A3B8"/>
              </a:solidFill>
              <a:latin typeface="Consolas"/>
              <a:ea typeface="Microsoft YaHei"/>
              <a:cs typeface="Consolas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4560570" y="3884295"/>
            <a:ext cx="104155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DD3FC"/>
                </a:solidFill>
                <a:latin typeface="Consolas"/>
                <a:ea typeface="Microsoft YaHei"/>
                <a:cs typeface="Consolas"/>
              </a:rPr>
              <a:t>$ export PATH=\</a:t>
            </a:r>
            <a:endParaRPr lang="zh-CN" sz="900" dirty="0">
              <a:solidFill>
                <a:srgbClr val="7DD3FC"/>
              </a:solidFill>
              <a:latin typeface="Consolas"/>
              <a:ea typeface="Microsoft YaHei"/>
              <a:cs typeface="Consolas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4561522" y="4082891"/>
            <a:ext cx="175602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FFFF"/>
                </a:solidFill>
                <a:latin typeface="Consolas"/>
                <a:ea typeface="Microsoft YaHei"/>
                <a:cs typeface="Consolas"/>
              </a:rPr>
              <a:t>"/Applications/DevEco-Studio</a:t>
            </a:r>
            <a:endParaRPr lang="zh-CN" sz="825" dirty="0">
              <a:solidFill>
                <a:srgbClr val="FFFFFF"/>
              </a:solidFill>
              <a:latin typeface="Consolas"/>
              <a:ea typeface="Microsoft YaHei"/>
              <a:cs typeface="Consolas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4561522" y="4254341"/>
            <a:ext cx="171385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FFFF"/>
                </a:solidFill>
                <a:latin typeface="Consolas"/>
                <a:ea typeface="Microsoft YaHei"/>
                <a:cs typeface="Consolas"/>
              </a:rPr>
              <a:t>.app/Contents/sdk/default/</a:t>
            </a:r>
            <a:endParaRPr lang="zh-CN" sz="825" dirty="0">
              <a:solidFill>
                <a:srgbClr val="FFFFFF"/>
              </a:solidFill>
              <a:latin typeface="Consolas"/>
              <a:ea typeface="Microsoft YaHei"/>
              <a:cs typeface="Consolas"/>
            </a:endParaRPr>
          </a:p>
        </p:txBody>
      </p:sp>
      <p:sp>
        <p:nvSpPr>
          <p:cNvPr id="52" name="TextBox 52"/>
          <p:cNvSpPr txBox="1"/>
          <p:nvPr/>
        </p:nvSpPr>
        <p:spPr>
          <a:xfrm>
            <a:off x="4561522" y="4425791"/>
            <a:ext cx="190664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FFFF"/>
                </a:solidFill>
                <a:latin typeface="Consolas"/>
                <a:ea typeface="Microsoft YaHei"/>
                <a:cs typeface="Consolas"/>
              </a:rPr>
              <a:t>openharmony/toolchains:$PATH"</a:t>
            </a:r>
            <a:endParaRPr lang="zh-CN" sz="825" dirty="0">
              <a:solidFill>
                <a:srgbClr val="FFFFFF"/>
              </a:solidFill>
              <a:latin typeface="Consolas"/>
              <a:ea typeface="Microsoft YaHei"/>
              <a:cs typeface="Consolas"/>
            </a:endParaRPr>
          </a:p>
        </p:txBody>
      </p:sp>
      <p:sp>
        <p:nvSpPr>
          <p:cNvPr id="53" name="Line 53"/>
          <p:cNvSpPr/>
          <p:nvPr/>
        </p:nvSpPr>
        <p:spPr>
          <a:xfrm>
            <a:off x="4572000" y="4686300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9525">
            <a:solidFill>
              <a:srgbClr val="1F2937"/>
            </a:solidFill>
          </a:ln>
        </p:spPr>
      </p:sp>
      <p:sp>
        <p:nvSpPr>
          <p:cNvPr id="54" name="TextBox 54"/>
          <p:cNvSpPr txBox="1"/>
          <p:nvPr/>
        </p:nvSpPr>
        <p:spPr>
          <a:xfrm>
            <a:off x="4559618" y="4790599"/>
            <a:ext cx="11781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Consolas"/>
                <a:ea typeface="Microsoft YaHei"/>
                <a:cs typeface="Consolas"/>
              </a:rPr>
              <a:t># 安装 HAP 到设备</a:t>
            </a:r>
            <a:endParaRPr lang="zh-CN" sz="975" dirty="0">
              <a:solidFill>
                <a:srgbClr val="94A3B8"/>
              </a:solidFill>
              <a:latin typeface="Consolas"/>
              <a:ea typeface="Microsoft YaHei"/>
              <a:cs typeface="Consolas"/>
            </a:endParaRPr>
          </a:p>
        </p:txBody>
      </p:sp>
      <p:sp>
        <p:nvSpPr>
          <p:cNvPr id="55" name="TextBox 55"/>
          <p:cNvSpPr txBox="1"/>
          <p:nvPr/>
        </p:nvSpPr>
        <p:spPr>
          <a:xfrm>
            <a:off x="4560570" y="5008245"/>
            <a:ext cx="91011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DD3FC"/>
                </a:solidFill>
                <a:latin typeface="Consolas"/>
                <a:ea typeface="Microsoft YaHei"/>
                <a:cs typeface="Consolas"/>
              </a:rPr>
              <a:t>$ hdc install \</a:t>
            </a:r>
            <a:endParaRPr lang="zh-CN" sz="900" dirty="0">
              <a:solidFill>
                <a:srgbClr val="7DD3FC"/>
              </a:solidFill>
              <a:latin typeface="Consolas"/>
              <a:ea typeface="Microsoft YaHei"/>
              <a:cs typeface="Consolas"/>
            </a:endParaRPr>
          </a:p>
        </p:txBody>
      </p:sp>
      <p:sp>
        <p:nvSpPr>
          <p:cNvPr id="56" name="TextBox 56"/>
          <p:cNvSpPr txBox="1"/>
          <p:nvPr/>
        </p:nvSpPr>
        <p:spPr>
          <a:xfrm>
            <a:off x="4561522" y="5206841"/>
            <a:ext cx="178615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FFFF"/>
                </a:solidFill>
                <a:latin typeface="Consolas"/>
                <a:ea typeface="Microsoft YaHei"/>
                <a:cs typeface="Consolas"/>
              </a:rPr>
              <a:t>entry/build/default/outputs/</a:t>
            </a:r>
            <a:endParaRPr lang="zh-CN" sz="825" dirty="0">
              <a:solidFill>
                <a:srgbClr val="FFFFFF"/>
              </a:solidFill>
              <a:latin typeface="Consolas"/>
              <a:ea typeface="Microsoft YaHei"/>
              <a:cs typeface="Consolas"/>
            </a:endParaRPr>
          </a:p>
        </p:txBody>
      </p:sp>
      <p:sp>
        <p:nvSpPr>
          <p:cNvPr id="57" name="TextBox 57"/>
          <p:cNvSpPr txBox="1"/>
          <p:nvPr/>
        </p:nvSpPr>
        <p:spPr>
          <a:xfrm>
            <a:off x="4561522" y="5378291"/>
            <a:ext cx="141865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FFFF"/>
                </a:solidFill>
                <a:latin typeface="Consolas"/>
                <a:ea typeface="Microsoft YaHei"/>
                <a:cs typeface="Consolas"/>
              </a:rPr>
              <a:t>default/entry-default-</a:t>
            </a:r>
            <a:endParaRPr lang="zh-CN" sz="825" dirty="0">
              <a:solidFill>
                <a:srgbClr val="FFFFFF"/>
              </a:solidFill>
              <a:latin typeface="Consolas"/>
              <a:ea typeface="Microsoft YaHei"/>
              <a:cs typeface="Consolas"/>
            </a:endParaRPr>
          </a:p>
        </p:txBody>
      </p:sp>
      <p:sp>
        <p:nvSpPr>
          <p:cNvPr id="58" name="TextBox 58"/>
          <p:cNvSpPr txBox="1"/>
          <p:nvPr/>
        </p:nvSpPr>
        <p:spPr>
          <a:xfrm>
            <a:off x="4561522" y="5549741"/>
            <a:ext cx="78607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FFFF"/>
                </a:solidFill>
                <a:latin typeface="Consolas"/>
                <a:ea typeface="Microsoft YaHei"/>
                <a:cs typeface="Consolas"/>
              </a:rPr>
              <a:t>unsigned.hap</a:t>
            </a:r>
            <a:endParaRPr lang="zh-CN" sz="825" dirty="0">
              <a:solidFill>
                <a:srgbClr val="FFFFFF"/>
              </a:solidFill>
              <a:latin typeface="Consolas"/>
              <a:ea typeface="Microsoft YaHei"/>
              <a:cs typeface="Consolas"/>
            </a:endParaRPr>
          </a:p>
        </p:txBody>
      </p:sp>
      <p:sp>
        <p:nvSpPr>
          <p:cNvPr id="59" name="TextBox 59"/>
          <p:cNvSpPr txBox="1"/>
          <p:nvPr/>
        </p:nvSpPr>
        <p:spPr>
          <a:xfrm>
            <a:off x="4560570" y="5789295"/>
            <a:ext cx="182365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0B981"/>
                </a:solidFill>
                <a:latin typeface="Consolas"/>
                <a:ea typeface="Microsoft YaHei"/>
                <a:cs typeface="Consolas"/>
              </a:rPr>
              <a:t>✓ install bundle successfully</a:t>
            </a:r>
            <a:endParaRPr lang="zh-CN" sz="900" dirty="0">
              <a:solidFill>
                <a:srgbClr val="10B981"/>
              </a:solidFill>
              <a:latin typeface="Consolas"/>
              <a:ea typeface="Microsoft YaHei"/>
              <a:cs typeface="Consolas"/>
            </a:endParaRPr>
          </a:p>
        </p:txBody>
      </p:sp>
      <p:grpSp>
        <p:nvGrpSpPr>
          <p:cNvPr id="62" name="Group 62"/>
          <p:cNvGrpSpPr/>
          <p:nvPr/>
        </p:nvGrpSpPr>
        <p:grpSpPr>
          <a:xfrm>
            <a:off x="7381875" y="2686050"/>
            <a:ext cx="1047750" cy="152400"/>
            <a:chOff x="7381875" y="2686050"/>
            <a:chExt cx="1047750" cy="152400"/>
          </a:xfrm>
        </p:grpSpPr>
        <p:sp>
          <p:nvSpPr>
            <p:cNvPr id="60" name="Freeform 60"/>
            <p:cNvSpPr/>
            <p:nvPr/>
          </p:nvSpPr>
          <p:spPr>
            <a:xfrm>
              <a:off x="7381875" y="2762250"/>
              <a:ext cx="1047750" cy="9525"/>
            </a:xfrm>
            <a:custGeom>
              <a:avLst/>
              <a:gdLst/>
              <a:ahLst/>
              <a:cxnLst/>
              <a:rect l="l" t="t" r="r" b="b"/>
              <a:pathLst>
                <a:path w="1047750" h="9525">
                  <a:moveTo>
                    <a:pt x="0" y="0"/>
                  </a:moveTo>
                  <a:lnTo>
                    <a:pt x="1047750" y="0"/>
                  </a:lnTo>
                </a:path>
              </a:pathLst>
            </a:custGeom>
            <a:noFill/>
            <a:ln w="19050" cap="rnd">
              <a:solidFill>
                <a:srgbClr val="94A3B8"/>
              </a:solidFill>
              <a:round/>
            </a:ln>
          </p:spPr>
        </p:sp>
        <p:sp>
          <p:nvSpPr>
            <p:cNvPr id="61" name="Freeform 61"/>
            <p:cNvSpPr/>
            <p:nvPr/>
          </p:nvSpPr>
          <p:spPr>
            <a:xfrm>
              <a:off x="8334375" y="2686050"/>
              <a:ext cx="95250" cy="152400"/>
            </a:xfrm>
            <a:custGeom>
              <a:avLst/>
              <a:gdLst/>
              <a:ahLst/>
              <a:cxnLst/>
              <a:rect l="l" t="t" r="r" b="b"/>
              <a:pathLst>
                <a:path w="95250" h="152400">
                  <a:moveTo>
                    <a:pt x="0" y="0"/>
                  </a:moveTo>
                  <a:lnTo>
                    <a:pt x="95250" y="76200"/>
                  </a:lnTo>
                  <a:lnTo>
                    <a:pt x="0" y="152400"/>
                  </a:lnTo>
                </a:path>
              </a:pathLst>
            </a:custGeom>
            <a:noFill/>
            <a:ln w="19050" cap="rnd">
              <a:solidFill>
                <a:srgbClr val="94A3B8"/>
              </a:solidFill>
              <a:round/>
            </a:ln>
          </p:spPr>
        </p:sp>
      </p:grpSp>
      <p:grpSp>
        <p:nvGrpSpPr>
          <p:cNvPr id="66" name="Group 66"/>
          <p:cNvGrpSpPr/>
          <p:nvPr/>
        </p:nvGrpSpPr>
        <p:grpSpPr>
          <a:xfrm>
            <a:off x="9182100" y="2228850"/>
            <a:ext cx="1066800" cy="1066800"/>
            <a:chOff x="9182100" y="2228850"/>
            <a:chExt cx="1066800" cy="1066800"/>
          </a:xfrm>
        </p:grpSpPr>
        <p:sp>
          <p:nvSpPr>
            <p:cNvPr id="63" name="Ellipse 63"/>
            <p:cNvSpPr/>
            <p:nvPr/>
          </p:nvSpPr>
          <p:spPr>
            <a:xfrm>
              <a:off x="9182100" y="2228850"/>
              <a:ext cx="1066800" cy="10668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9550884" y="2400300"/>
              <a:ext cx="329232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3</a:t>
              </a:r>
              <a:endParaRPr lang="zh-CN" sz="30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506212" y="2920841"/>
              <a:ext cx="41857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LAUNCH</a:t>
              </a:r>
              <a:endParaRPr lang="zh-CN" sz="825" dirty="0">
                <a:solidFill>
                  <a:srgbClr val="FFFFFF"/>
                </a:solidFill>
                <a:latin typeface="Segoe UI"/>
                <a:ea typeface="Microsoft YaHei"/>
                <a:cs typeface="Segoe UI"/>
              </a:endParaRPr>
            </a:p>
          </p:txBody>
        </p:sp>
      </p:grpSp>
      <p:sp>
        <p:nvSpPr>
          <p:cNvPr id="67" name="TextBox 67"/>
          <p:cNvSpPr txBox="1"/>
          <p:nvPr/>
        </p:nvSpPr>
        <p:spPr>
          <a:xfrm>
            <a:off x="9466421" y="1743075"/>
            <a:ext cx="4981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启动</a:t>
            </a:r>
            <a:endParaRPr lang="zh-CN" sz="1500" b="1" dirty="0">
              <a:solidFill>
                <a:srgbClr val="10B981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68" name="TextBox 68"/>
          <p:cNvSpPr txBox="1"/>
          <p:nvPr/>
        </p:nvSpPr>
        <p:spPr>
          <a:xfrm>
            <a:off x="9172682" y="2009299"/>
            <a:ext cx="108563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ability manager</a:t>
            </a:r>
            <a:endParaRPr lang="zh-CN" sz="975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69" name="Freeform 69"/>
          <p:cNvSpPr/>
          <p:nvPr/>
        </p:nvSpPr>
        <p:spPr>
          <a:xfrm>
            <a:off x="9629775" y="2322195"/>
            <a:ext cx="200025" cy="133350"/>
          </a:xfrm>
          <a:custGeom>
            <a:avLst/>
            <a:gdLst/>
            <a:ahLst/>
            <a:cxnLst/>
            <a:rect l="l" t="t" r="r" b="b"/>
            <a:pathLst>
              <a:path w="200025" h="133350">
                <a:moveTo>
                  <a:pt x="0" y="66675"/>
                </a:moveTo>
                <a:lnTo>
                  <a:pt x="66675" y="133350"/>
                </a:lnTo>
                <a:lnTo>
                  <a:pt x="200025" y="0"/>
                </a:lnTo>
              </a:path>
            </a:pathLst>
          </a:custGeom>
          <a:noFill/>
          <a:ln w="19050" cap="rnd">
            <a:solidFill>
              <a:srgbClr val="10B981"/>
            </a:solidFill>
            <a:round/>
          </a:ln>
        </p:spPr>
      </p:sp>
      <p:sp>
        <p:nvSpPr>
          <p:cNvPr id="70" name="Rectangle 70"/>
          <p:cNvSpPr/>
          <p:nvPr/>
        </p:nvSpPr>
        <p:spPr>
          <a:xfrm>
            <a:off x="8001000" y="3524250"/>
            <a:ext cx="3429000" cy="2533650"/>
          </a:xfrm>
          <a:prstGeom prst="roundRect">
            <a:avLst>
              <a:gd name="adj" fmla="val 3759"/>
            </a:avLst>
          </a:prstGeom>
          <a:solidFill>
            <a:srgbClr val="0F172A"/>
          </a:solidFill>
          <a:ln>
            <a:noFill/>
          </a:ln>
        </p:spPr>
      </p:sp>
      <p:sp>
        <p:nvSpPr>
          <p:cNvPr id="71" name="TextBox 71"/>
          <p:cNvSpPr txBox="1"/>
          <p:nvPr/>
        </p:nvSpPr>
        <p:spPr>
          <a:xfrm>
            <a:off x="8179118" y="3666649"/>
            <a:ext cx="7153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Consolas"/>
                <a:ea typeface="Microsoft YaHei"/>
                <a:cs typeface="Consolas"/>
              </a:rPr>
              <a:t># 启动应用</a:t>
            </a:r>
            <a:endParaRPr lang="zh-CN" sz="975" dirty="0">
              <a:solidFill>
                <a:srgbClr val="94A3B8"/>
              </a:solidFill>
              <a:latin typeface="Consolas"/>
              <a:ea typeface="Microsoft YaHei"/>
              <a:cs typeface="Consolas"/>
            </a:endParaRPr>
          </a:p>
        </p:txBody>
      </p:sp>
      <p:sp>
        <p:nvSpPr>
          <p:cNvPr id="72" name="TextBox 72"/>
          <p:cNvSpPr txBox="1"/>
          <p:nvPr/>
        </p:nvSpPr>
        <p:spPr>
          <a:xfrm>
            <a:off x="8179118" y="3876199"/>
            <a:ext cx="86491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DD3FC"/>
                </a:solidFill>
                <a:latin typeface="Consolas"/>
                <a:ea typeface="Microsoft YaHei"/>
                <a:cs typeface="Consolas"/>
              </a:rPr>
              <a:t>$ hdc shell \</a:t>
            </a:r>
            <a:endParaRPr lang="zh-CN" sz="975" dirty="0">
              <a:solidFill>
                <a:srgbClr val="7DD3FC"/>
              </a:solidFill>
              <a:latin typeface="Consolas"/>
              <a:ea typeface="Microsoft YaHei"/>
              <a:cs typeface="Consolas"/>
            </a:endParaRPr>
          </a:p>
        </p:txBody>
      </p:sp>
      <p:sp>
        <p:nvSpPr>
          <p:cNvPr id="73" name="TextBox 73"/>
          <p:cNvSpPr txBox="1"/>
          <p:nvPr/>
        </p:nvSpPr>
        <p:spPr>
          <a:xfrm>
            <a:off x="8180070" y="4074795"/>
            <a:ext cx="6800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Consolas"/>
                <a:ea typeface="Microsoft YaHei"/>
                <a:cs typeface="Consolas"/>
              </a:rPr>
              <a:t>aa start \</a:t>
            </a:r>
            <a:endParaRPr lang="zh-CN" sz="900" dirty="0">
              <a:solidFill>
                <a:srgbClr val="FFFFFF"/>
              </a:solidFill>
              <a:latin typeface="Consolas"/>
              <a:ea typeface="Microsoft YaHei"/>
              <a:cs typeface="Consolas"/>
            </a:endParaRPr>
          </a:p>
        </p:txBody>
      </p:sp>
      <p:sp>
        <p:nvSpPr>
          <p:cNvPr id="74" name="TextBox 74"/>
          <p:cNvSpPr txBox="1"/>
          <p:nvPr/>
        </p:nvSpPr>
        <p:spPr>
          <a:xfrm>
            <a:off x="8181022" y="4273391"/>
            <a:ext cx="230426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FFFF"/>
                </a:solidFill>
                <a:latin typeface="Consolas"/>
                <a:ea typeface="Microsoft YaHei"/>
                <a:cs typeface="Consolas"/>
              </a:rPr>
              <a:t>-b com.darkempire78.opencalculator \</a:t>
            </a:r>
            <a:endParaRPr lang="zh-CN" sz="825" dirty="0">
              <a:solidFill>
                <a:srgbClr val="FFFFFF"/>
              </a:solidFill>
              <a:latin typeface="Consolas"/>
              <a:ea typeface="Microsoft YaHei"/>
              <a:cs typeface="Consolas"/>
            </a:endParaRPr>
          </a:p>
        </p:txBody>
      </p:sp>
      <p:sp>
        <p:nvSpPr>
          <p:cNvPr id="75" name="TextBox 75"/>
          <p:cNvSpPr txBox="1"/>
          <p:nvPr/>
        </p:nvSpPr>
        <p:spPr>
          <a:xfrm>
            <a:off x="8180070" y="4455795"/>
            <a:ext cx="97583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Consolas"/>
                <a:ea typeface="Microsoft YaHei"/>
                <a:cs typeface="Consolas"/>
              </a:rPr>
              <a:t>-a EntryAbility</a:t>
            </a:r>
            <a:endParaRPr lang="zh-CN" sz="900" dirty="0">
              <a:solidFill>
                <a:srgbClr val="FFFFFF"/>
              </a:solidFill>
              <a:latin typeface="Consolas"/>
              <a:ea typeface="Microsoft YaHei"/>
              <a:cs typeface="Consolas"/>
            </a:endParaRPr>
          </a:p>
        </p:txBody>
      </p:sp>
      <p:sp>
        <p:nvSpPr>
          <p:cNvPr id="76" name="Line 76"/>
          <p:cNvSpPr/>
          <p:nvPr/>
        </p:nvSpPr>
        <p:spPr>
          <a:xfrm>
            <a:off x="8191500" y="4724400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9525">
            <a:solidFill>
              <a:srgbClr val="1F2937"/>
            </a:solidFill>
          </a:ln>
        </p:spPr>
      </p:sp>
      <p:sp>
        <p:nvSpPr>
          <p:cNvPr id="77" name="TextBox 77"/>
          <p:cNvSpPr txBox="1"/>
          <p:nvPr/>
        </p:nvSpPr>
        <p:spPr>
          <a:xfrm>
            <a:off x="8180070" y="4836795"/>
            <a:ext cx="185651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0B981"/>
                </a:solidFill>
                <a:latin typeface="Consolas"/>
                <a:ea typeface="Microsoft YaHei"/>
                <a:cs typeface="Consolas"/>
              </a:rPr>
              <a:t>✓ start ability successfully.</a:t>
            </a:r>
            <a:endParaRPr lang="zh-CN" sz="900" dirty="0">
              <a:solidFill>
                <a:srgbClr val="10B981"/>
              </a:solidFill>
              <a:latin typeface="Consolas"/>
              <a:ea typeface="Microsoft YaHei"/>
              <a:cs typeface="Consolas"/>
            </a:endParaRPr>
          </a:p>
        </p:txBody>
      </p:sp>
      <p:sp>
        <p:nvSpPr>
          <p:cNvPr id="78" name="Line 78"/>
          <p:cNvSpPr/>
          <p:nvPr/>
        </p:nvSpPr>
        <p:spPr>
          <a:xfrm>
            <a:off x="8191500" y="5105400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9525">
            <a:solidFill>
              <a:srgbClr val="1F2937"/>
            </a:solidFill>
          </a:ln>
        </p:spPr>
      </p:sp>
      <p:sp>
        <p:nvSpPr>
          <p:cNvPr id="79" name="TextBox 79"/>
          <p:cNvSpPr txBox="1"/>
          <p:nvPr/>
        </p:nvSpPr>
        <p:spPr>
          <a:xfrm>
            <a:off x="8180070" y="5217795"/>
            <a:ext cx="73266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# 后续验证:</a:t>
            </a:r>
            <a:endParaRPr lang="zh-CN" sz="900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80" name="TextBox 80"/>
          <p:cNvSpPr txBox="1"/>
          <p:nvPr/>
        </p:nvSpPr>
        <p:spPr>
          <a:xfrm>
            <a:off x="8180070" y="5408295"/>
            <a:ext cx="142932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• demo1: 首行 5 列 % 键</a:t>
            </a:r>
            <a:endParaRPr lang="zh-CN" sz="900" dirty="0">
              <a:solidFill>
                <a:srgbClr val="FFFFFF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81" name="TextBox 81"/>
          <p:cNvSpPr txBox="1"/>
          <p:nvPr/>
        </p:nvSpPr>
        <p:spPr>
          <a:xfrm>
            <a:off x="8180070" y="5598795"/>
            <a:ext cx="148189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• demo2: 💰小费 → 28.75</a:t>
            </a:r>
            <a:endParaRPr lang="zh-CN" sz="900" dirty="0">
              <a:solidFill>
                <a:srgbClr val="FFFFFF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82" name="TextBox 82"/>
          <p:cNvSpPr txBox="1"/>
          <p:nvPr/>
        </p:nvSpPr>
        <p:spPr>
          <a:xfrm>
            <a:off x="8180070" y="5789295"/>
            <a:ext cx="14490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• demo3: 绘图 → sin(x)</a:t>
            </a:r>
            <a:endParaRPr lang="zh-CN" sz="900" dirty="0">
              <a:solidFill>
                <a:srgbClr val="FFFFFF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83" name="Line 83"/>
          <p:cNvSpPr/>
          <p:nvPr/>
        </p:nvSpPr>
        <p:spPr>
          <a:xfrm>
            <a:off x="571500" y="64770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84" name="TextBox 84"/>
          <p:cNvSpPr txBox="1"/>
          <p:nvPr/>
        </p:nvSpPr>
        <p:spPr>
          <a:xfrm>
            <a:off x="561975" y="6586538"/>
            <a:ext cx="219336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OpenCalc HarmonyOS Demo · 客户实验手册</a:t>
            </a:r>
            <a:endParaRPr lang="zh-CN" sz="750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85" name="TextBox 85"/>
          <p:cNvSpPr txBox="1"/>
          <p:nvPr/>
        </p:nvSpPr>
        <p:spPr>
          <a:xfrm>
            <a:off x="11298793" y="6586538"/>
            <a:ext cx="33123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13 / 16</a:t>
            </a:r>
            <a:endParaRPr lang="zh-CN" sz="750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1020" y="598170"/>
            <a:ext cx="3428581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常见问题 · 快速排查</a:t>
            </a:r>
            <a:endParaRPr lang="zh-CN" sz="2400" b="1" dirty="0">
              <a:solidFill>
                <a:srgbClr val="1F2937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4" name="Rectangle 4"/>
          <p:cNvSpPr/>
          <p:nvPr/>
        </p:nvSpPr>
        <p:spPr>
          <a:xfrm>
            <a:off x="571500" y="952500"/>
            <a:ext cx="7620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565C0"/>
              </a:gs>
              <a:gs pos="100000">
                <a:srgbClr val="0288D1"/>
              </a:gs>
            </a:gsLst>
            <a:lin ang="0" scaled="1"/>
          </a:gra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710053" y="743902"/>
            <a:ext cx="92378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3 类高频问题</a:t>
            </a:r>
            <a:endParaRPr lang="zh-CN" sz="1050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56260" y="1156335"/>
            <a:ext cx="536714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B5563"/>
                </a:solidFill>
                <a:latin typeface="Segoe UI"/>
                <a:ea typeface="Microsoft YaHei"/>
                <a:cs typeface="Segoe UI"/>
              </a:rPr>
              <a:t>来自三个 demo 实际验证踩坑 · 每条含「现象 → 根因 → 修复」三段式</a:t>
            </a:r>
            <a:endParaRPr lang="zh-CN" sz="1200" dirty="0">
              <a:solidFill>
                <a:srgbClr val="4B5563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7" name="Rectangle 7"/>
          <p:cNvSpPr/>
          <p:nvPr/>
        </p:nvSpPr>
        <p:spPr>
          <a:xfrm>
            <a:off x="571500" y="1524000"/>
            <a:ext cx="3543300" cy="4667250"/>
          </a:xfrm>
          <a:prstGeom prst="roundRect">
            <a:avLst>
              <a:gd name="adj" fmla="val 3226"/>
            </a:avLst>
          </a:prstGeom>
          <a:solidFill>
            <a:srgbClr val="F7F9FC"/>
          </a:solidFill>
          <a:ln w="9525">
            <a:solidFill>
              <a:srgbClr val="E5E7EB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571500" y="1524000"/>
            <a:ext cx="3543300" cy="762000"/>
          </a:xfrm>
          <a:prstGeom prst="roundRect">
            <a:avLst>
              <a:gd name="adj" fmla="val 15000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571500" y="2190750"/>
            <a:ext cx="3543300" cy="952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grpSp>
        <p:nvGrpSpPr>
          <p:cNvPr id="12" name="Group 12"/>
          <p:cNvGrpSpPr/>
          <p:nvPr/>
        </p:nvGrpSpPr>
        <p:grpSpPr>
          <a:xfrm>
            <a:off x="863291" y="1740686"/>
            <a:ext cx="277247" cy="244324"/>
            <a:chOff x="863291" y="1740686"/>
            <a:chExt cx="277247" cy="244324"/>
          </a:xfrm>
        </p:grpSpPr>
        <p:sp>
          <p:nvSpPr>
            <p:cNvPr id="10" name="Freeform 10"/>
            <p:cNvSpPr/>
            <p:nvPr/>
          </p:nvSpPr>
          <p:spPr>
            <a:xfrm>
              <a:off x="1002030" y="1832610"/>
              <a:ext cx="9525" cy="91592"/>
            </a:xfrm>
            <a:custGeom>
              <a:avLst/>
              <a:gdLst/>
              <a:ahLst/>
              <a:cxnLst/>
              <a:rect l="l" t="t" r="r" b="b"/>
              <a:pathLst>
                <a:path w="9525" h="91592">
                  <a:moveTo>
                    <a:pt x="0" y="0"/>
                  </a:moveTo>
                  <a:lnTo>
                    <a:pt x="0" y="30480"/>
                  </a:lnTo>
                  <a:moveTo>
                    <a:pt x="0" y="91440"/>
                  </a:moveTo>
                  <a:lnTo>
                    <a:pt x="0" y="91592"/>
                  </a:lnTo>
                </a:path>
              </a:pathLst>
            </a:custGeom>
            <a:noFill/>
            <a:ln w="19050" cap="rnd">
              <a:solidFill>
                <a:srgbClr val="FFFFFF"/>
              </a:solidFill>
              <a:round/>
            </a:ln>
          </p:spPr>
        </p:sp>
        <p:sp>
          <p:nvSpPr>
            <p:cNvPr id="11" name="Freeform 11"/>
            <p:cNvSpPr/>
            <p:nvPr/>
          </p:nvSpPr>
          <p:spPr>
            <a:xfrm>
              <a:off x="863291" y="1740686"/>
              <a:ext cx="277247" cy="244324"/>
            </a:xfrm>
            <a:custGeom>
              <a:avLst/>
              <a:gdLst/>
              <a:ahLst/>
              <a:cxnLst/>
              <a:rect l="l" t="t" r="r" b="b"/>
              <a:pathLst>
                <a:path w="277247" h="244324">
                  <a:moveTo>
                    <a:pt x="32059" y="244324"/>
                  </a:moveTo>
                  <a:lnTo>
                    <a:pt x="245419" y="244324"/>
                  </a:lnTo>
                  <a:cubicBezTo>
                    <a:pt x="255516" y="244253"/>
                    <a:pt x="264923" y="239186"/>
                    <a:pt x="270538" y="230794"/>
                  </a:cubicBezTo>
                  <a:cubicBezTo>
                    <a:pt x="276153" y="222402"/>
                    <a:pt x="277247" y="211774"/>
                    <a:pt x="273461" y="202414"/>
                  </a:cubicBezTo>
                  <a:lnTo>
                    <a:pt x="165257" y="15724"/>
                  </a:lnTo>
                  <a:cubicBezTo>
                    <a:pt x="159888" y="6022"/>
                    <a:pt x="149675" y="0"/>
                    <a:pt x="138587" y="0"/>
                  </a:cubicBezTo>
                  <a:cubicBezTo>
                    <a:pt x="127498" y="0"/>
                    <a:pt x="117285" y="6022"/>
                    <a:pt x="111917" y="15724"/>
                  </a:cubicBezTo>
                  <a:lnTo>
                    <a:pt x="3713" y="202414"/>
                  </a:lnTo>
                  <a:cubicBezTo>
                    <a:pt x="0" y="211554"/>
                    <a:pt x="941" y="221925"/>
                    <a:pt x="6237" y="230248"/>
                  </a:cubicBezTo>
                  <a:cubicBezTo>
                    <a:pt x="11533" y="238571"/>
                    <a:pt x="20530" y="243816"/>
                    <a:pt x="30383" y="244324"/>
                  </a:cubicBezTo>
                </a:path>
              </a:pathLst>
            </a:custGeom>
            <a:noFill/>
            <a:ln w="19050" cap="rnd">
              <a:solidFill>
                <a:srgbClr val="FFFFFF"/>
              </a:solidFill>
              <a:round/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1226820" y="1807845"/>
            <a:ext cx="73266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PROBLEM 01</a:t>
            </a:r>
            <a:endParaRPr lang="zh-CN" sz="900" dirty="0">
              <a:solidFill>
                <a:srgbClr val="FFFFFF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221105" y="1968818"/>
            <a:ext cx="188717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CLI 编译报 SDK 缺失</a:t>
            </a:r>
            <a:endParaRPr lang="zh-CN" sz="1350" b="1" dirty="0">
              <a:solidFill>
                <a:srgbClr val="FFFFFF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749618" y="2523649"/>
            <a:ext cx="4306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▾ 现象</a:t>
            </a:r>
            <a:endParaRPr lang="zh-CN" sz="975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16" name="Rectangle 16"/>
          <p:cNvSpPr/>
          <p:nvPr/>
        </p:nvSpPr>
        <p:spPr>
          <a:xfrm>
            <a:off x="762000" y="2705100"/>
            <a:ext cx="3162300" cy="47625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865822" y="2806541"/>
            <a:ext cx="75595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6B6B"/>
                </a:solidFill>
                <a:latin typeface="Consolas"/>
                <a:ea typeface="Microsoft YaHei"/>
                <a:cs typeface="Consolas"/>
              </a:rPr>
              <a:t>00303168 SDK</a:t>
            </a:r>
            <a:endParaRPr lang="zh-CN" sz="825" dirty="0">
              <a:solidFill>
                <a:srgbClr val="FF6B6B"/>
              </a:solidFill>
              <a:latin typeface="Consolas"/>
              <a:ea typeface="Microsoft YaHei"/>
              <a:cs typeface="Consolas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865822" y="2977991"/>
            <a:ext cx="110537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6B6B"/>
                </a:solidFill>
                <a:latin typeface="Consolas"/>
                <a:ea typeface="Microsoft YaHei"/>
                <a:cs typeface="Consolas"/>
              </a:rPr>
              <a:t>component missing</a:t>
            </a:r>
            <a:endParaRPr lang="zh-CN" sz="825" dirty="0">
              <a:solidFill>
                <a:srgbClr val="FF6B6B"/>
              </a:solidFill>
              <a:latin typeface="Consolas"/>
              <a:ea typeface="Microsoft YaHei"/>
              <a:cs typeface="Consolas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749618" y="3304699"/>
            <a:ext cx="4306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▾ 根因</a:t>
            </a:r>
            <a:endParaRPr lang="zh-CN" sz="975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748665" y="3506152"/>
            <a:ext cx="215827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DevEco 6.0.2 把 SDK 装成嵌套</a:t>
            </a:r>
            <a:endParaRPr lang="zh-CN" sz="1050" dirty="0">
              <a:solidFill>
                <a:srgbClr val="1F2937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749618" y="3704749"/>
            <a:ext cx="228890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B5563"/>
                </a:solidFill>
                <a:latin typeface="Consolas"/>
                <a:ea typeface="Microsoft YaHei"/>
                <a:cs typeface="Consolas"/>
              </a:rPr>
              <a:t>sdk/default/openharmony/{ets,</a:t>
            </a:r>
            <a:endParaRPr lang="zh-CN" sz="975" dirty="0">
              <a:solidFill>
                <a:srgbClr val="4B5563"/>
              </a:solidFill>
              <a:latin typeface="Consolas"/>
              <a:ea typeface="Microsoft YaHei"/>
              <a:cs typeface="Consolas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749618" y="3876199"/>
            <a:ext cx="238146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B5563"/>
                </a:solidFill>
                <a:latin typeface="Consolas"/>
                <a:ea typeface="Microsoft YaHei"/>
                <a:cs typeface="Consolas"/>
              </a:rPr>
              <a:t>js,native,previewer,toolchains}/</a:t>
            </a:r>
            <a:endParaRPr lang="zh-CN" sz="975" dirty="0">
              <a:solidFill>
                <a:srgbClr val="4B5563"/>
              </a:solidFill>
              <a:latin typeface="Consolas"/>
              <a:ea typeface="Microsoft YaHei"/>
              <a:cs typeface="Consola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749618" y="4066699"/>
            <a:ext cx="168371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B5563"/>
                </a:solidFill>
                <a:latin typeface="Segoe UI"/>
                <a:ea typeface="Microsoft YaHei"/>
                <a:cs typeface="Segoe UI"/>
              </a:rPr>
              <a:t>而 hvigor 默认走平铺扫描</a:t>
            </a:r>
            <a:endParaRPr lang="zh-CN" sz="975" dirty="0">
              <a:solidFill>
                <a:srgbClr val="4B5563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749618" y="4333399"/>
            <a:ext cx="4306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▾ 修复</a:t>
            </a:r>
            <a:endParaRPr lang="zh-CN" sz="975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25" name="Rectangle 25"/>
          <p:cNvSpPr/>
          <p:nvPr/>
        </p:nvSpPr>
        <p:spPr>
          <a:xfrm>
            <a:off x="762000" y="4533900"/>
            <a:ext cx="3162300" cy="590550"/>
          </a:xfrm>
          <a:prstGeom prst="roundRect">
            <a:avLst>
              <a:gd name="adj" fmla="val 9677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902970" y="4627245"/>
            <a:ext cx="13373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Consolas"/>
                <a:ea typeface="Microsoft YaHei"/>
                <a:cs typeface="Consolas"/>
              </a:rPr>
              <a:t>$ sudo bash scripts/</a:t>
            </a:r>
            <a:endParaRPr lang="zh-CN" sz="900" dirty="0">
              <a:solidFill>
                <a:srgbClr val="FFFFFF"/>
              </a:solidFill>
              <a:latin typeface="Consolas"/>
              <a:ea typeface="Microsoft YaHei"/>
              <a:cs typeface="Consolas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902970" y="4798695"/>
            <a:ext cx="121900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Consolas"/>
                <a:ea typeface="Microsoft YaHei"/>
                <a:cs typeface="Consolas"/>
              </a:rPr>
              <a:t>fix-deveco-sdk.sh</a:t>
            </a:r>
            <a:endParaRPr lang="zh-CN" sz="900" dirty="0">
              <a:solidFill>
                <a:srgbClr val="FFFFFF"/>
              </a:solidFill>
              <a:latin typeface="Consolas"/>
              <a:ea typeface="Microsoft YaHei"/>
              <a:cs typeface="Consolas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903922" y="4978241"/>
            <a:ext cx="208135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在 sdk/default/ 下创建 5 个符号链接</a:t>
            </a:r>
            <a:endParaRPr lang="zh-CN" sz="825" dirty="0">
              <a:solidFill>
                <a:srgbClr val="FFFFFF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749618" y="5247799"/>
            <a:ext cx="4306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▾ 备注</a:t>
            </a:r>
            <a:endParaRPr lang="zh-CN" sz="975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750570" y="5465445"/>
            <a:ext cx="20339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B5563"/>
                </a:solidFill>
                <a:latin typeface="Segoe UI"/>
                <a:ea typeface="Microsoft YaHei"/>
                <a:cs typeface="Segoe UI"/>
              </a:rPr>
              <a:t>幂等 · 改完必须杀 hvigor daemon</a:t>
            </a:r>
            <a:endParaRPr lang="zh-CN" sz="900" dirty="0">
              <a:solidFill>
                <a:srgbClr val="4B5563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751522" y="5664041"/>
            <a:ext cx="20150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4A3B8"/>
                </a:solidFill>
                <a:latin typeface="Consolas"/>
                <a:ea typeface="Microsoft YaHei"/>
                <a:cs typeface="Consolas"/>
              </a:rPr>
              <a:t>pkill -f daemon-process-boot-...</a:t>
            </a:r>
            <a:endParaRPr lang="zh-CN" sz="825" dirty="0">
              <a:solidFill>
                <a:srgbClr val="94A3B8"/>
              </a:solidFill>
              <a:latin typeface="Consolas"/>
              <a:ea typeface="Microsoft YaHei"/>
              <a:cs typeface="Consolas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751522" y="5835491"/>
            <a:ext cx="185844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4A3B8"/>
                </a:solidFill>
                <a:latin typeface="Consolas"/>
                <a:ea typeface="Microsoft YaHei"/>
                <a:cs typeface="Consolas"/>
              </a:rPr>
              <a:t>pkill -f hvigor-java-daemon.jar</a:t>
            </a:r>
            <a:endParaRPr lang="zh-CN" sz="825" dirty="0">
              <a:solidFill>
                <a:srgbClr val="94A3B8"/>
              </a:solidFill>
              <a:latin typeface="Consolas"/>
              <a:ea typeface="Microsoft YaHei"/>
              <a:cs typeface="Consolas"/>
            </a:endParaRPr>
          </a:p>
        </p:txBody>
      </p:sp>
      <p:sp>
        <p:nvSpPr>
          <p:cNvPr id="33" name="Rectangle 33"/>
          <p:cNvSpPr/>
          <p:nvPr/>
        </p:nvSpPr>
        <p:spPr>
          <a:xfrm>
            <a:off x="4324350" y="1524000"/>
            <a:ext cx="3543300" cy="4667250"/>
          </a:xfrm>
          <a:prstGeom prst="roundRect">
            <a:avLst>
              <a:gd name="adj" fmla="val 3226"/>
            </a:avLst>
          </a:prstGeom>
          <a:solidFill>
            <a:srgbClr val="F7F9FC"/>
          </a:solidFill>
          <a:ln w="9525">
            <a:solidFill>
              <a:srgbClr val="E5E7EB"/>
            </a:solidFill>
          </a:ln>
        </p:spPr>
      </p:sp>
      <p:sp>
        <p:nvSpPr>
          <p:cNvPr id="34" name="Rectangle 34"/>
          <p:cNvSpPr/>
          <p:nvPr/>
        </p:nvSpPr>
        <p:spPr>
          <a:xfrm>
            <a:off x="4324350" y="1524000"/>
            <a:ext cx="3543300" cy="762000"/>
          </a:xfrm>
          <a:prstGeom prst="roundRect">
            <a:avLst>
              <a:gd name="adj" fmla="val 15000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35" name="Rectangle 35"/>
          <p:cNvSpPr/>
          <p:nvPr/>
        </p:nvSpPr>
        <p:spPr>
          <a:xfrm>
            <a:off x="4324350" y="2190750"/>
            <a:ext cx="3543300" cy="952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grpSp>
        <p:nvGrpSpPr>
          <p:cNvPr id="41" name="Group 41"/>
          <p:cNvGrpSpPr/>
          <p:nvPr/>
        </p:nvGrpSpPr>
        <p:grpSpPr>
          <a:xfrm>
            <a:off x="4617720" y="1771650"/>
            <a:ext cx="274320" cy="228600"/>
            <a:chOff x="4617720" y="1771650"/>
            <a:chExt cx="274320" cy="228600"/>
          </a:xfrm>
        </p:grpSpPr>
        <p:sp>
          <p:nvSpPr>
            <p:cNvPr id="36" name="Freeform 36"/>
            <p:cNvSpPr/>
            <p:nvPr/>
          </p:nvSpPr>
          <p:spPr>
            <a:xfrm>
              <a:off x="4709160" y="1771650"/>
              <a:ext cx="91440" cy="60960"/>
            </a:xfrm>
            <a:custGeom>
              <a:avLst/>
              <a:gdLst/>
              <a:ahLst/>
              <a:cxnLst/>
              <a:rect l="l" t="t" r="r" b="b"/>
              <a:pathLst>
                <a:path w="91440" h="60960">
                  <a:moveTo>
                    <a:pt x="0" y="60960"/>
                  </a:moveTo>
                  <a:lnTo>
                    <a:pt x="0" y="45720"/>
                  </a:lnTo>
                  <a:cubicBezTo>
                    <a:pt x="0" y="20470"/>
                    <a:pt x="20470" y="0"/>
                    <a:pt x="45720" y="0"/>
                  </a:cubicBezTo>
                  <a:cubicBezTo>
                    <a:pt x="70970" y="0"/>
                    <a:pt x="91440" y="20470"/>
                    <a:pt x="91440" y="45720"/>
                  </a:cubicBezTo>
                  <a:lnTo>
                    <a:pt x="91440" y="60960"/>
                  </a:lnTo>
                </a:path>
              </a:pathLst>
            </a:custGeom>
            <a:noFill/>
            <a:ln w="19050" cap="rnd">
              <a:solidFill>
                <a:srgbClr val="FFFFFF"/>
              </a:solidFill>
              <a:round/>
            </a:ln>
          </p:spPr>
        </p:sp>
        <p:sp>
          <p:nvSpPr>
            <p:cNvPr id="37" name="Freeform 37"/>
            <p:cNvSpPr/>
            <p:nvPr/>
          </p:nvSpPr>
          <p:spPr>
            <a:xfrm>
              <a:off x="4678680" y="1832610"/>
              <a:ext cx="152400" cy="167640"/>
            </a:xfrm>
            <a:custGeom>
              <a:avLst/>
              <a:gdLst/>
              <a:ahLst/>
              <a:cxnLst/>
              <a:rect l="l" t="t" r="r" b="b"/>
              <a:pathLst>
                <a:path w="152400" h="167640">
                  <a:moveTo>
                    <a:pt x="15240" y="0"/>
                  </a:moveTo>
                  <a:lnTo>
                    <a:pt x="137160" y="0"/>
                  </a:lnTo>
                  <a:cubicBezTo>
                    <a:pt x="146237" y="13603"/>
                    <a:pt x="151500" y="29391"/>
                    <a:pt x="152400" y="45720"/>
                  </a:cubicBezTo>
                  <a:lnTo>
                    <a:pt x="152400" y="91440"/>
                  </a:lnTo>
                  <a:cubicBezTo>
                    <a:pt x="152400" y="133524"/>
                    <a:pt x="118284" y="167640"/>
                    <a:pt x="76200" y="167640"/>
                  </a:cubicBezTo>
                  <a:cubicBezTo>
                    <a:pt x="34116" y="167640"/>
                    <a:pt x="0" y="133524"/>
                    <a:pt x="0" y="91440"/>
                  </a:cubicBezTo>
                  <a:lnTo>
                    <a:pt x="0" y="45720"/>
                  </a:lnTo>
                  <a:cubicBezTo>
                    <a:pt x="900" y="29391"/>
                    <a:pt x="6163" y="13603"/>
                    <a:pt x="15240" y="0"/>
                  </a:cubicBezTo>
                </a:path>
              </a:pathLst>
            </a:custGeom>
            <a:noFill/>
            <a:ln w="19050" cap="rnd">
              <a:solidFill>
                <a:srgbClr val="FFFFFF"/>
              </a:solidFill>
              <a:round/>
            </a:ln>
          </p:spPr>
        </p:sp>
        <p:sp>
          <p:nvSpPr>
            <p:cNvPr id="38" name="Freeform 38"/>
            <p:cNvSpPr/>
            <p:nvPr/>
          </p:nvSpPr>
          <p:spPr>
            <a:xfrm>
              <a:off x="4617720" y="1893570"/>
              <a:ext cx="60960" cy="9525"/>
            </a:xfrm>
            <a:custGeom>
              <a:avLst/>
              <a:gdLst/>
              <a:ahLst/>
              <a:cxnLst/>
              <a:rect l="l" t="t" r="r" b="b"/>
              <a:pathLst>
                <a:path w="60960" h="9525">
                  <a:moveTo>
                    <a:pt x="0" y="0"/>
                  </a:moveTo>
                  <a:lnTo>
                    <a:pt x="60960" y="0"/>
                  </a:lnTo>
                </a:path>
              </a:pathLst>
            </a:custGeom>
            <a:noFill/>
            <a:ln w="19050" cap="rnd">
              <a:solidFill>
                <a:srgbClr val="FFFFFF"/>
              </a:solidFill>
              <a:round/>
            </a:ln>
          </p:spPr>
        </p:sp>
        <p:sp>
          <p:nvSpPr>
            <p:cNvPr id="39" name="Freeform 39"/>
            <p:cNvSpPr/>
            <p:nvPr/>
          </p:nvSpPr>
          <p:spPr>
            <a:xfrm>
              <a:off x="4831080" y="1893570"/>
              <a:ext cx="60960" cy="9525"/>
            </a:xfrm>
            <a:custGeom>
              <a:avLst/>
              <a:gdLst/>
              <a:ahLst/>
              <a:cxnLst/>
              <a:rect l="l" t="t" r="r" b="b"/>
              <a:pathLst>
                <a:path w="60960" h="9525">
                  <a:moveTo>
                    <a:pt x="0" y="0"/>
                  </a:moveTo>
                  <a:lnTo>
                    <a:pt x="60960" y="0"/>
                  </a:lnTo>
                </a:path>
              </a:pathLst>
            </a:custGeom>
            <a:noFill/>
            <a:ln w="19050" cap="rnd">
              <a:solidFill>
                <a:srgbClr val="FFFFFF"/>
              </a:solidFill>
              <a:round/>
            </a:ln>
          </p:spPr>
        </p:sp>
        <p:sp>
          <p:nvSpPr>
            <p:cNvPr id="40" name="Freeform 40"/>
            <p:cNvSpPr/>
            <p:nvPr/>
          </p:nvSpPr>
          <p:spPr>
            <a:xfrm>
              <a:off x="4754880" y="1908810"/>
              <a:ext cx="9525" cy="91440"/>
            </a:xfrm>
            <a:custGeom>
              <a:avLst/>
              <a:gdLst/>
              <a:ahLst/>
              <a:cxnLst/>
              <a:rect l="l" t="t" r="r" b="b"/>
              <a:pathLst>
                <a:path w="9525" h="91440">
                  <a:moveTo>
                    <a:pt x="0" y="91440"/>
                  </a:moveTo>
                  <a:lnTo>
                    <a:pt x="0" y="0"/>
                  </a:lnTo>
                </a:path>
              </a:pathLst>
            </a:custGeom>
            <a:noFill/>
            <a:ln w="19050" cap="rnd">
              <a:solidFill>
                <a:srgbClr val="FFFFFF"/>
              </a:solidFill>
              <a:round/>
            </a:ln>
          </p:spPr>
        </p:sp>
      </p:grpSp>
      <p:sp>
        <p:nvSpPr>
          <p:cNvPr id="42" name="TextBox 42"/>
          <p:cNvSpPr txBox="1"/>
          <p:nvPr/>
        </p:nvSpPr>
        <p:spPr>
          <a:xfrm>
            <a:off x="4979670" y="1807845"/>
            <a:ext cx="76552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PROBLEM 02</a:t>
            </a:r>
            <a:endParaRPr lang="zh-CN" sz="900" dirty="0">
              <a:solidFill>
                <a:srgbClr val="FFFFFF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4973955" y="1968818"/>
            <a:ext cx="188717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Demo 2 人均显示 --</a:t>
            </a:r>
            <a:endParaRPr lang="zh-CN" sz="1350" b="1" dirty="0">
              <a:solidFill>
                <a:srgbClr val="FFFFFF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4502468" y="2523649"/>
            <a:ext cx="4306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▾ 现象</a:t>
            </a:r>
            <a:endParaRPr lang="zh-CN" sz="975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4501515" y="2725102"/>
            <a:ext cx="149118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输入金额 100、人数 4</a:t>
            </a:r>
            <a:endParaRPr lang="zh-CN" sz="1050" dirty="0">
              <a:solidFill>
                <a:srgbClr val="1F2937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4501515" y="2934652"/>
            <a:ext cx="18822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人均一直显示「--」不更新</a:t>
            </a:r>
            <a:endParaRPr lang="zh-CN" sz="1050" dirty="0">
              <a:solidFill>
                <a:srgbClr val="1F2937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4502468" y="3266599"/>
            <a:ext cx="86491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▾ 根因(P-01)</a:t>
            </a:r>
            <a:endParaRPr lang="zh-CN" sz="975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48" name="Rectangle 48"/>
          <p:cNvSpPr/>
          <p:nvPr/>
        </p:nvSpPr>
        <p:spPr>
          <a:xfrm>
            <a:off x="4514850" y="3467100"/>
            <a:ext cx="3162300" cy="762000"/>
          </a:xfrm>
          <a:prstGeom prst="roundRect">
            <a:avLst>
              <a:gd name="adj" fmla="val 7500"/>
            </a:avLst>
          </a:prstGeom>
          <a:solidFill>
            <a:srgbClr val="0F172A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4618672" y="3568541"/>
            <a:ext cx="152107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6B6B"/>
                </a:solidFill>
                <a:latin typeface="Consolas"/>
                <a:ea typeface="Microsoft YaHei"/>
                <a:cs typeface="Consolas"/>
              </a:rPr>
              <a:t>private get perPerson():</a:t>
            </a:r>
            <a:endParaRPr lang="zh-CN" sz="825" dirty="0">
              <a:solidFill>
                <a:srgbClr val="FF6B6B"/>
              </a:solidFill>
              <a:latin typeface="Consolas"/>
              <a:ea typeface="Microsoft YaHei"/>
              <a:cs typeface="Consolas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4618672" y="3739991"/>
            <a:ext cx="82824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6B6B"/>
                </a:solidFill>
                <a:latin typeface="Consolas"/>
                <a:ea typeface="Microsoft YaHei"/>
                <a:cs typeface="Consolas"/>
              </a:rPr>
              <a:t>string { ... }</a:t>
            </a:r>
            <a:endParaRPr lang="zh-CN" sz="825" dirty="0">
              <a:solidFill>
                <a:srgbClr val="FF6B6B"/>
              </a:solidFill>
              <a:latin typeface="Consolas"/>
              <a:ea typeface="Microsoft YaHei"/>
              <a:cs typeface="Consolas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4618672" y="3949541"/>
            <a:ext cx="197291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ArkUI @Builder Text() 不读 getter</a:t>
            </a:r>
            <a:endParaRPr lang="zh-CN" sz="825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52" name="TextBox 52"/>
          <p:cNvSpPr txBox="1"/>
          <p:nvPr/>
        </p:nvSpPr>
        <p:spPr>
          <a:xfrm>
            <a:off x="4618672" y="4082891"/>
            <a:ext cx="160541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最新返回值 · 不被认作响应式</a:t>
            </a:r>
            <a:endParaRPr lang="zh-CN" sz="825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4502468" y="4333399"/>
            <a:ext cx="4306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▾ 修复</a:t>
            </a:r>
            <a:endParaRPr lang="zh-CN" sz="975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54" name="Rectangle 54"/>
          <p:cNvSpPr/>
          <p:nvPr/>
        </p:nvSpPr>
        <p:spPr>
          <a:xfrm>
            <a:off x="4514850" y="4533900"/>
            <a:ext cx="3162300" cy="762000"/>
          </a:xfrm>
          <a:prstGeom prst="roundRect">
            <a:avLst>
              <a:gd name="adj" fmla="val 7500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4618672" y="4635341"/>
            <a:ext cx="177410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FFFF"/>
                </a:solidFill>
                <a:latin typeface="Consolas"/>
                <a:ea typeface="Microsoft YaHei"/>
                <a:cs typeface="Consolas"/>
              </a:rPr>
              <a:t>private computePerPerson():</a:t>
            </a:r>
            <a:endParaRPr lang="zh-CN" sz="825" dirty="0">
              <a:solidFill>
                <a:srgbClr val="FFFFFF"/>
              </a:solidFill>
              <a:latin typeface="Consolas"/>
              <a:ea typeface="Microsoft YaHei"/>
              <a:cs typeface="Consolas"/>
            </a:endParaRPr>
          </a:p>
        </p:txBody>
      </p:sp>
      <p:sp>
        <p:nvSpPr>
          <p:cNvPr id="56" name="TextBox 56"/>
          <p:cNvSpPr txBox="1"/>
          <p:nvPr/>
        </p:nvSpPr>
        <p:spPr>
          <a:xfrm>
            <a:off x="4618672" y="4806791"/>
            <a:ext cx="82824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FFFF"/>
                </a:solidFill>
                <a:latin typeface="Consolas"/>
                <a:ea typeface="Microsoft YaHei"/>
                <a:cs typeface="Consolas"/>
              </a:rPr>
              <a:t>string { ... }</a:t>
            </a:r>
            <a:endParaRPr lang="zh-CN" sz="825" dirty="0">
              <a:solidFill>
                <a:srgbClr val="FFFFFF"/>
              </a:solidFill>
              <a:latin typeface="Consolas"/>
              <a:ea typeface="Microsoft YaHei"/>
              <a:cs typeface="Consolas"/>
            </a:endParaRPr>
          </a:p>
        </p:txBody>
      </p:sp>
      <p:sp>
        <p:nvSpPr>
          <p:cNvPr id="57" name="TextBox 57"/>
          <p:cNvSpPr txBox="1"/>
          <p:nvPr/>
        </p:nvSpPr>
        <p:spPr>
          <a:xfrm>
            <a:off x="4618672" y="4997291"/>
            <a:ext cx="193676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FFFF"/>
                </a:solidFill>
                <a:latin typeface="Consolas"/>
                <a:ea typeface="Microsoft YaHei"/>
                <a:cs typeface="Consolas"/>
              </a:rPr>
              <a:t>Text(this.computePerPerson())</a:t>
            </a:r>
            <a:endParaRPr lang="zh-CN" sz="825" dirty="0">
              <a:solidFill>
                <a:srgbClr val="FFFFFF"/>
              </a:solidFill>
              <a:latin typeface="Consolas"/>
              <a:ea typeface="Microsoft YaHei"/>
              <a:cs typeface="Consolas"/>
            </a:endParaRPr>
          </a:p>
        </p:txBody>
      </p:sp>
      <p:sp>
        <p:nvSpPr>
          <p:cNvPr id="58" name="TextBox 58"/>
          <p:cNvSpPr txBox="1"/>
          <p:nvPr/>
        </p:nvSpPr>
        <p:spPr>
          <a:xfrm>
            <a:off x="4619625" y="5157788"/>
            <a:ext cx="189214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getter → method · 调用语法改成括号</a:t>
            </a:r>
            <a:endParaRPr lang="zh-CN" sz="750" dirty="0">
              <a:solidFill>
                <a:srgbClr val="FFFFFF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59" name="TextBox 59"/>
          <p:cNvSpPr txBox="1"/>
          <p:nvPr/>
        </p:nvSpPr>
        <p:spPr>
          <a:xfrm>
            <a:off x="4502468" y="5419249"/>
            <a:ext cx="4306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▾ 验证</a:t>
            </a:r>
            <a:endParaRPr lang="zh-CN" sz="975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60" name="TextBox 60"/>
          <p:cNvSpPr txBox="1"/>
          <p:nvPr/>
        </p:nvSpPr>
        <p:spPr>
          <a:xfrm>
            <a:off x="4503420" y="5636895"/>
            <a:ext cx="16462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B5563"/>
                </a:solidFill>
                <a:latin typeface="Segoe UI"/>
                <a:ea typeface="Microsoft YaHei"/>
                <a:cs typeface="Segoe UI"/>
              </a:rPr>
              <a:t>100×1.15/4=28.75 真机命中</a:t>
            </a:r>
            <a:endParaRPr lang="zh-CN" sz="900" dirty="0">
              <a:solidFill>
                <a:srgbClr val="4B5563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61" name="TextBox 61"/>
          <p:cNvSpPr txBox="1"/>
          <p:nvPr/>
        </p:nvSpPr>
        <p:spPr>
          <a:xfrm>
            <a:off x="4504372" y="5835491"/>
            <a:ext cx="190061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详见 apply-report.md §P-01 复盘</a:t>
            </a:r>
            <a:endParaRPr lang="zh-CN" sz="825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62" name="Rectangle 62"/>
          <p:cNvSpPr/>
          <p:nvPr/>
        </p:nvSpPr>
        <p:spPr>
          <a:xfrm>
            <a:off x="8077200" y="1524000"/>
            <a:ext cx="3543300" cy="4667250"/>
          </a:xfrm>
          <a:prstGeom prst="roundRect">
            <a:avLst>
              <a:gd name="adj" fmla="val 3226"/>
            </a:avLst>
          </a:prstGeom>
          <a:solidFill>
            <a:srgbClr val="F7F9FC"/>
          </a:solidFill>
          <a:ln w="9525">
            <a:solidFill>
              <a:srgbClr val="E5E7EB"/>
            </a:solidFill>
          </a:ln>
        </p:spPr>
      </p:sp>
      <p:sp>
        <p:nvSpPr>
          <p:cNvPr id="63" name="Rectangle 63"/>
          <p:cNvSpPr/>
          <p:nvPr/>
        </p:nvSpPr>
        <p:spPr>
          <a:xfrm>
            <a:off x="8077200" y="1524000"/>
            <a:ext cx="3543300" cy="762000"/>
          </a:xfrm>
          <a:prstGeom prst="roundRect">
            <a:avLst>
              <a:gd name="adj" fmla="val 15000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64" name="Rectangle 64"/>
          <p:cNvSpPr/>
          <p:nvPr/>
        </p:nvSpPr>
        <p:spPr>
          <a:xfrm>
            <a:off x="8077200" y="2190750"/>
            <a:ext cx="3543300" cy="952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grpSp>
        <p:nvGrpSpPr>
          <p:cNvPr id="67" name="Group 67"/>
          <p:cNvGrpSpPr/>
          <p:nvPr/>
        </p:nvGrpSpPr>
        <p:grpSpPr>
          <a:xfrm>
            <a:off x="8385810" y="1786890"/>
            <a:ext cx="243840" cy="207645"/>
            <a:chOff x="8385810" y="1786890"/>
            <a:chExt cx="243840" cy="207645"/>
          </a:xfrm>
        </p:grpSpPr>
        <p:sp>
          <p:nvSpPr>
            <p:cNvPr id="65" name="Freeform 65"/>
            <p:cNvSpPr/>
            <p:nvPr/>
          </p:nvSpPr>
          <p:spPr>
            <a:xfrm>
              <a:off x="8385810" y="1985010"/>
              <a:ext cx="243840" cy="9525"/>
            </a:xfrm>
            <a:custGeom>
              <a:avLst/>
              <a:gdLst/>
              <a:ahLst/>
              <a:cxnLst/>
              <a:rect l="l" t="t" r="r" b="b"/>
              <a:pathLst>
                <a:path w="243840" h="9525">
                  <a:moveTo>
                    <a:pt x="0" y="0"/>
                  </a:moveTo>
                  <a:lnTo>
                    <a:pt x="243840" y="0"/>
                  </a:lnTo>
                </a:path>
              </a:pathLst>
            </a:custGeom>
            <a:noFill/>
            <a:ln w="19050" cap="rnd">
              <a:solidFill>
                <a:srgbClr val="FFFFFF"/>
              </a:solidFill>
              <a:round/>
            </a:ln>
          </p:spPr>
        </p:sp>
        <p:sp>
          <p:nvSpPr>
            <p:cNvPr id="66" name="Freeform 66"/>
            <p:cNvSpPr/>
            <p:nvPr/>
          </p:nvSpPr>
          <p:spPr>
            <a:xfrm>
              <a:off x="8385810" y="1786890"/>
              <a:ext cx="243840" cy="137160"/>
            </a:xfrm>
            <a:custGeom>
              <a:avLst/>
              <a:gdLst/>
              <a:ahLst/>
              <a:cxnLst/>
              <a:rect l="l" t="t" r="r" b="b"/>
              <a:pathLst>
                <a:path w="243840" h="137160">
                  <a:moveTo>
                    <a:pt x="0" y="137160"/>
                  </a:moveTo>
                  <a:lnTo>
                    <a:pt x="60960" y="45720"/>
                  </a:lnTo>
                  <a:lnTo>
                    <a:pt x="121920" y="76200"/>
                  </a:lnTo>
                  <a:lnTo>
                    <a:pt x="182880" y="0"/>
                  </a:lnTo>
                  <a:lnTo>
                    <a:pt x="243840" y="60960"/>
                  </a:lnTo>
                </a:path>
              </a:pathLst>
            </a:custGeom>
            <a:noFill/>
            <a:ln w="19050" cap="rnd">
              <a:solidFill>
                <a:srgbClr val="FFFFFF"/>
              </a:solidFill>
              <a:round/>
            </a:ln>
          </p:spPr>
        </p:sp>
      </p:grpSp>
      <p:sp>
        <p:nvSpPr>
          <p:cNvPr id="68" name="TextBox 68"/>
          <p:cNvSpPr txBox="1"/>
          <p:nvPr/>
        </p:nvSpPr>
        <p:spPr>
          <a:xfrm>
            <a:off x="8732520" y="1807845"/>
            <a:ext cx="76552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PROBLEM 03</a:t>
            </a:r>
            <a:endParaRPr lang="zh-CN" sz="900" dirty="0">
              <a:solidFill>
                <a:srgbClr val="FFFFFF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69" name="TextBox 69"/>
          <p:cNvSpPr txBox="1"/>
          <p:nvPr/>
        </p:nvSpPr>
        <p:spPr>
          <a:xfrm>
            <a:off x="8726805" y="1968818"/>
            <a:ext cx="229087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Demo 3 sin(x) 报未定义</a:t>
            </a:r>
            <a:endParaRPr lang="zh-CN" sz="1350" b="1" dirty="0">
              <a:solidFill>
                <a:srgbClr val="FFFFFF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70" name="TextBox 70"/>
          <p:cNvSpPr txBox="1"/>
          <p:nvPr/>
        </p:nvSpPr>
        <p:spPr>
          <a:xfrm>
            <a:off x="8255318" y="2523649"/>
            <a:ext cx="4306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▾ 现象</a:t>
            </a:r>
            <a:endParaRPr lang="zh-CN" sz="975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71" name="TextBox 71"/>
          <p:cNvSpPr txBox="1"/>
          <p:nvPr/>
        </p:nvSpPr>
        <p:spPr>
          <a:xfrm>
            <a:off x="8255318" y="2733199"/>
            <a:ext cx="137755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输入 sin(x) 点绘图 →</a:t>
            </a:r>
            <a:endParaRPr lang="zh-CN" sz="975" dirty="0">
              <a:solidFill>
                <a:srgbClr val="1F2937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72" name="TextBox 72"/>
          <p:cNvSpPr txBox="1"/>
          <p:nvPr/>
        </p:nvSpPr>
        <p:spPr>
          <a:xfrm>
            <a:off x="8255318" y="2923699"/>
            <a:ext cx="159115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6B6B"/>
                </a:solidFill>
                <a:latin typeface="Consolas"/>
                <a:ea typeface="Microsoft YaHei"/>
                <a:cs typeface="Consolas"/>
              </a:rPr>
              <a:t>「函数在该区间未定义」</a:t>
            </a:r>
            <a:endParaRPr lang="zh-CN" sz="975" dirty="0">
              <a:solidFill>
                <a:srgbClr val="FF6B6B"/>
              </a:solidFill>
              <a:latin typeface="Consolas"/>
              <a:ea typeface="Microsoft YaHei"/>
              <a:cs typeface="Consolas"/>
            </a:endParaRPr>
          </a:p>
        </p:txBody>
      </p:sp>
      <p:sp>
        <p:nvSpPr>
          <p:cNvPr id="73" name="TextBox 73"/>
          <p:cNvSpPr txBox="1"/>
          <p:nvPr/>
        </p:nvSpPr>
        <p:spPr>
          <a:xfrm>
            <a:off x="8255318" y="3247549"/>
            <a:ext cx="4306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▾ 根因</a:t>
            </a:r>
            <a:endParaRPr lang="zh-CN" sz="975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74" name="Rectangle 74"/>
          <p:cNvSpPr/>
          <p:nvPr/>
        </p:nvSpPr>
        <p:spPr>
          <a:xfrm>
            <a:off x="8267700" y="3448050"/>
            <a:ext cx="3162300" cy="762000"/>
          </a:xfrm>
          <a:prstGeom prst="roundRect">
            <a:avLst>
              <a:gd name="adj" fmla="val 7500"/>
            </a:avLst>
          </a:prstGeom>
          <a:solidFill>
            <a:srgbClr val="0F172A"/>
          </a:solidFill>
          <a:ln>
            <a:noFill/>
          </a:ln>
        </p:spPr>
      </p:sp>
      <p:sp>
        <p:nvSpPr>
          <p:cNvPr id="75" name="TextBox 75"/>
          <p:cNvSpPr txBox="1"/>
          <p:nvPr/>
        </p:nvSpPr>
        <p:spPr>
          <a:xfrm>
            <a:off x="8371522" y="3549491"/>
            <a:ext cx="97283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4A3B8"/>
                </a:solidFill>
                <a:latin typeface="Consolas"/>
                <a:ea typeface="Microsoft YaHei"/>
                <a:cs typeface="Consolas"/>
              </a:rPr>
              <a:t>parseFactor 中:</a:t>
            </a:r>
            <a:endParaRPr lang="zh-CN" sz="825" dirty="0">
              <a:solidFill>
                <a:srgbClr val="94A3B8"/>
              </a:solidFill>
              <a:latin typeface="Consolas"/>
              <a:ea typeface="Microsoft YaHei"/>
              <a:cs typeface="Consolas"/>
            </a:endParaRPr>
          </a:p>
        </p:txBody>
      </p:sp>
      <p:sp>
        <p:nvSpPr>
          <p:cNvPr id="76" name="TextBox 76"/>
          <p:cNvSpPr txBox="1"/>
          <p:nvPr/>
        </p:nvSpPr>
        <p:spPr>
          <a:xfrm>
            <a:off x="8371522" y="3720941"/>
            <a:ext cx="160541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6B6B"/>
                </a:solidFill>
                <a:latin typeface="Consolas"/>
                <a:ea typeface="Microsoft YaHei"/>
                <a:cs typeface="Consolas"/>
              </a:rPr>
              <a:t>else if (this.c === 120) ...</a:t>
            </a:r>
            <a:endParaRPr lang="zh-CN" sz="825" dirty="0">
              <a:solidFill>
                <a:srgbClr val="FF6B6B"/>
              </a:solidFill>
              <a:latin typeface="Consolas"/>
              <a:ea typeface="Microsoft YaHei"/>
              <a:cs typeface="Consolas"/>
            </a:endParaRPr>
          </a:p>
        </p:txBody>
      </p:sp>
      <p:sp>
        <p:nvSpPr>
          <p:cNvPr id="77" name="TextBox 77"/>
          <p:cNvSpPr txBox="1"/>
          <p:nvPr/>
        </p:nvSpPr>
        <p:spPr>
          <a:xfrm>
            <a:off x="8371522" y="3892391"/>
            <a:ext cx="182832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必须放在函数名扫描分支「之前」</a:t>
            </a:r>
            <a:endParaRPr lang="zh-CN" sz="825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78" name="TextBox 78"/>
          <p:cNvSpPr txBox="1"/>
          <p:nvPr/>
        </p:nvSpPr>
        <p:spPr>
          <a:xfrm>
            <a:off x="8371522" y="4063841"/>
            <a:ext cx="136443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否则 x 被吞进函数名扫描</a:t>
            </a:r>
            <a:endParaRPr lang="zh-CN" sz="825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79" name="TextBox 79"/>
          <p:cNvSpPr txBox="1"/>
          <p:nvPr/>
        </p:nvSpPr>
        <p:spPr>
          <a:xfrm>
            <a:off x="8255318" y="4314349"/>
            <a:ext cx="4306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▾ 修复</a:t>
            </a:r>
            <a:endParaRPr lang="zh-CN" sz="975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80" name="Rectangle 80"/>
          <p:cNvSpPr/>
          <p:nvPr/>
        </p:nvSpPr>
        <p:spPr>
          <a:xfrm>
            <a:off x="8267700" y="4514850"/>
            <a:ext cx="3162300" cy="762000"/>
          </a:xfrm>
          <a:prstGeom prst="roundRect">
            <a:avLst>
              <a:gd name="adj" fmla="val 7500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81" name="TextBox 81"/>
          <p:cNvSpPr txBox="1"/>
          <p:nvPr/>
        </p:nvSpPr>
        <p:spPr>
          <a:xfrm>
            <a:off x="8371522" y="4616291"/>
            <a:ext cx="79209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FFFF"/>
                </a:solidFill>
                <a:latin typeface="Consolas"/>
                <a:ea typeface="Microsoft YaHei"/>
                <a:cs typeface="Consolas"/>
              </a:rPr>
              <a:t>// 顺序很关键</a:t>
            </a:r>
            <a:endParaRPr lang="zh-CN" sz="825" dirty="0">
              <a:solidFill>
                <a:srgbClr val="FFFFFF"/>
              </a:solidFill>
              <a:latin typeface="Consolas"/>
              <a:ea typeface="Microsoft YaHei"/>
              <a:cs typeface="Consolas"/>
            </a:endParaRPr>
          </a:p>
        </p:txBody>
      </p:sp>
      <p:sp>
        <p:nvSpPr>
          <p:cNvPr id="82" name="TextBox 82"/>
          <p:cNvSpPr txBox="1"/>
          <p:nvPr/>
        </p:nvSpPr>
        <p:spPr>
          <a:xfrm>
            <a:off x="8371522" y="4768691"/>
            <a:ext cx="112345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FFFF"/>
                </a:solidFill>
                <a:latin typeface="Consolas"/>
                <a:ea typeface="Microsoft YaHei"/>
                <a:cs typeface="Consolas"/>
              </a:rPr>
              <a:t>if (c==='-') {...}</a:t>
            </a:r>
            <a:endParaRPr lang="zh-CN" sz="825" dirty="0">
              <a:solidFill>
                <a:srgbClr val="FFFFFF"/>
              </a:solidFill>
              <a:latin typeface="Consolas"/>
              <a:ea typeface="Microsoft YaHei"/>
              <a:cs typeface="Consolas"/>
            </a:endParaRPr>
          </a:p>
        </p:txBody>
      </p:sp>
      <p:sp>
        <p:nvSpPr>
          <p:cNvPr id="83" name="TextBox 83"/>
          <p:cNvSpPr txBox="1"/>
          <p:nvPr/>
        </p:nvSpPr>
        <p:spPr>
          <a:xfrm>
            <a:off x="8371522" y="4921091"/>
            <a:ext cx="174398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FFFF"/>
                </a:solidFill>
                <a:latin typeface="Consolas"/>
                <a:ea typeface="Microsoft YaHei"/>
                <a:cs typeface="Consolas"/>
              </a:rPr>
              <a:t>else if (c===120) {...} ← 这里</a:t>
            </a:r>
            <a:endParaRPr lang="zh-CN" sz="825" dirty="0">
              <a:solidFill>
                <a:srgbClr val="FFFFFF"/>
              </a:solidFill>
              <a:latin typeface="Consolas"/>
              <a:ea typeface="Microsoft YaHei"/>
              <a:cs typeface="Consolas"/>
            </a:endParaRPr>
          </a:p>
        </p:txBody>
      </p:sp>
      <p:sp>
        <p:nvSpPr>
          <p:cNvPr id="84" name="TextBox 84"/>
          <p:cNvSpPr txBox="1"/>
          <p:nvPr/>
        </p:nvSpPr>
        <p:spPr>
          <a:xfrm>
            <a:off x="8371522" y="5092541"/>
            <a:ext cx="173193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FFFF"/>
                </a:solidFill>
                <a:latin typeface="Consolas"/>
                <a:ea typeface="Microsoft YaHei"/>
                <a:cs typeface="Consolas"/>
              </a:rPr>
              <a:t>else if (isAlpha(c)) {/*fn*/}</a:t>
            </a:r>
            <a:endParaRPr lang="zh-CN" sz="825" dirty="0">
              <a:solidFill>
                <a:srgbClr val="FFFFFF"/>
              </a:solidFill>
              <a:latin typeface="Consolas"/>
              <a:ea typeface="Microsoft YaHei"/>
              <a:cs typeface="Consolas"/>
            </a:endParaRPr>
          </a:p>
        </p:txBody>
      </p:sp>
      <p:sp>
        <p:nvSpPr>
          <p:cNvPr id="85" name="TextBox 85"/>
          <p:cNvSpPr txBox="1"/>
          <p:nvPr/>
        </p:nvSpPr>
        <p:spPr>
          <a:xfrm>
            <a:off x="8255318" y="5400199"/>
            <a:ext cx="7153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▾ 同时检查</a:t>
            </a:r>
            <a:endParaRPr lang="zh-CN" sz="975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86" name="TextBox 86"/>
          <p:cNvSpPr txBox="1"/>
          <p:nvPr/>
        </p:nvSpPr>
        <p:spPr>
          <a:xfrm>
            <a:off x="8256270" y="5617845"/>
            <a:ext cx="209311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B5563"/>
                </a:solidFill>
                <a:latin typeface="Segoe UI"/>
                <a:ea typeface="Microsoft YaHei"/>
                <a:cs typeface="Segoe UI"/>
              </a:rPr>
              <a:t>nextC &gt;=97 &amp;&amp; &lt;=122 前瞻是否正确</a:t>
            </a:r>
            <a:endParaRPr lang="zh-CN" sz="900" dirty="0">
              <a:solidFill>
                <a:srgbClr val="4B5563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87" name="TextBox 87"/>
          <p:cNvSpPr txBox="1"/>
          <p:nvPr/>
        </p:nvSpPr>
        <p:spPr>
          <a:xfrm>
            <a:off x="8257222" y="5816441"/>
            <a:ext cx="135238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否则 xp(2) 等价 e² 失效</a:t>
            </a:r>
            <a:endParaRPr lang="zh-CN" sz="825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88" name="Line 88"/>
          <p:cNvSpPr/>
          <p:nvPr/>
        </p:nvSpPr>
        <p:spPr>
          <a:xfrm>
            <a:off x="571500" y="64770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89" name="TextBox 89"/>
          <p:cNvSpPr txBox="1"/>
          <p:nvPr/>
        </p:nvSpPr>
        <p:spPr>
          <a:xfrm>
            <a:off x="561975" y="6586538"/>
            <a:ext cx="219336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OpenCalc HarmonyOS Demo · 客户实验手册</a:t>
            </a:r>
            <a:endParaRPr lang="zh-CN" sz="750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90" name="TextBox 90"/>
          <p:cNvSpPr txBox="1"/>
          <p:nvPr/>
        </p:nvSpPr>
        <p:spPr>
          <a:xfrm>
            <a:off x="11298793" y="6586538"/>
            <a:ext cx="33123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14 / 16</a:t>
            </a:r>
            <a:endParaRPr lang="zh-CN" sz="750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1020" y="598170"/>
            <a:ext cx="4771949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SPEC 制品 · 每需求 9 份产物</a:t>
            </a:r>
            <a:endParaRPr lang="zh-CN" sz="2400" b="1" dirty="0">
              <a:solidFill>
                <a:srgbClr val="1F2937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4" name="Rectangle 4"/>
          <p:cNvSpPr/>
          <p:nvPr/>
        </p:nvSpPr>
        <p:spPr>
          <a:xfrm>
            <a:off x="571500" y="952500"/>
            <a:ext cx="7620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565C0"/>
              </a:gs>
              <a:gs pos="100000">
                <a:srgbClr val="0288D1"/>
              </a:gs>
            </a:gsLst>
            <a:lin ang="0" scaled="1"/>
          </a:gra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272998" y="743902"/>
            <a:ext cx="13608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AID 工作流交付清单</a:t>
            </a:r>
            <a:endParaRPr lang="zh-CN" sz="1050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56260" y="1156335"/>
            <a:ext cx="729500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B5563"/>
                </a:solidFill>
                <a:latin typeface="Segoe UI"/>
                <a:ea typeface="Microsoft YaHei"/>
                <a:cs typeface="Segoe UI"/>
              </a:rPr>
              <a:t>三个 demo 同构 · 同一目录结构 · 同一文件命名 · 客户可任意挑一个 demo 全文阅读复制方法</a:t>
            </a:r>
            <a:endParaRPr lang="zh-CN" sz="1200" dirty="0">
              <a:solidFill>
                <a:srgbClr val="4B5563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7" name="Rectangle 7"/>
          <p:cNvSpPr/>
          <p:nvPr/>
        </p:nvSpPr>
        <p:spPr>
          <a:xfrm>
            <a:off x="571500" y="1524000"/>
            <a:ext cx="3543300" cy="4667250"/>
          </a:xfrm>
          <a:prstGeom prst="roundRect">
            <a:avLst>
              <a:gd name="adj" fmla="val 3226"/>
            </a:avLst>
          </a:prstGeom>
          <a:solidFill>
            <a:srgbClr val="F7F9FC"/>
          </a:solidFill>
          <a:ln w="9525">
            <a:solidFill>
              <a:srgbClr val="E5E7EB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571500" y="1524000"/>
            <a:ext cx="3543300" cy="762000"/>
          </a:xfrm>
          <a:prstGeom prst="roundRect">
            <a:avLst>
              <a:gd name="adj" fmla="val 15000"/>
            </a:avLst>
          </a:prstGeom>
          <a:solidFill>
            <a:srgbClr val="1565C0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571500" y="2190750"/>
            <a:ext cx="3543300" cy="9525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grpSp>
        <p:nvGrpSpPr>
          <p:cNvPr id="13" name="Group 13"/>
          <p:cNvGrpSpPr/>
          <p:nvPr/>
        </p:nvGrpSpPr>
        <p:grpSpPr>
          <a:xfrm>
            <a:off x="910590" y="1805940"/>
            <a:ext cx="182880" cy="243840"/>
            <a:chOff x="910590" y="1805940"/>
            <a:chExt cx="182880" cy="243840"/>
          </a:xfrm>
        </p:grpSpPr>
        <p:sp>
          <p:nvSpPr>
            <p:cNvPr id="10" name="Freeform 10"/>
            <p:cNvSpPr/>
            <p:nvPr/>
          </p:nvSpPr>
          <p:spPr>
            <a:xfrm>
              <a:off x="910590" y="1805940"/>
              <a:ext cx="182880" cy="182880"/>
            </a:xfrm>
            <a:custGeom>
              <a:avLst/>
              <a:gdLst/>
              <a:ahLst/>
              <a:cxnLst/>
              <a:rect l="l" t="t" r="r" b="b"/>
              <a:pathLst>
                <a:path w="182880" h="182880">
                  <a:moveTo>
                    <a:pt x="0" y="182880"/>
                  </a:moveTo>
                  <a:lnTo>
                    <a:pt x="182880" y="0"/>
                  </a:lnTo>
                </a:path>
              </a:pathLst>
            </a:custGeom>
            <a:noFill/>
            <a:ln w="19050" cap="rnd">
              <a:solidFill>
                <a:srgbClr val="FFFFFF"/>
              </a:solidFill>
              <a:round/>
            </a:ln>
          </p:spPr>
        </p:sp>
        <p:sp>
          <p:nvSpPr>
            <p:cNvPr id="11" name="Freeform 11"/>
            <p:cNvSpPr/>
            <p:nvPr/>
          </p:nvSpPr>
          <p:spPr>
            <a:xfrm>
              <a:off x="910590" y="1805940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60" h="60960">
                  <a:moveTo>
                    <a:pt x="0" y="0"/>
                  </a:moveTo>
                  <a:moveTo>
                    <a:pt x="0" y="30480"/>
                  </a:moveTo>
                  <a:cubicBezTo>
                    <a:pt x="0" y="47314"/>
                    <a:pt x="13646" y="60960"/>
                    <a:pt x="30480" y="60960"/>
                  </a:cubicBezTo>
                  <a:cubicBezTo>
                    <a:pt x="47314" y="60960"/>
                    <a:pt x="60960" y="47314"/>
                    <a:pt x="60960" y="30480"/>
                  </a:cubicBezTo>
                  <a:cubicBezTo>
                    <a:pt x="60960" y="13646"/>
                    <a:pt x="47314" y="0"/>
                    <a:pt x="30480" y="0"/>
                  </a:cubicBezTo>
                  <a:cubicBezTo>
                    <a:pt x="13646" y="0"/>
                    <a:pt x="0" y="13646"/>
                    <a:pt x="0" y="30480"/>
                  </a:cubicBezTo>
                </a:path>
              </a:pathLst>
            </a:custGeom>
            <a:noFill/>
            <a:ln w="19050" cap="rnd">
              <a:solidFill>
                <a:srgbClr val="FFFFFF"/>
              </a:solidFill>
              <a:round/>
            </a:ln>
          </p:spPr>
        </p:sp>
        <p:sp>
          <p:nvSpPr>
            <p:cNvPr id="12" name="Freeform 12"/>
            <p:cNvSpPr/>
            <p:nvPr/>
          </p:nvSpPr>
          <p:spPr>
            <a:xfrm>
              <a:off x="1032510" y="1988820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60" h="60960">
                  <a:moveTo>
                    <a:pt x="0" y="0"/>
                  </a:moveTo>
                  <a:moveTo>
                    <a:pt x="0" y="30480"/>
                  </a:moveTo>
                  <a:cubicBezTo>
                    <a:pt x="0" y="47314"/>
                    <a:pt x="13646" y="60960"/>
                    <a:pt x="30480" y="60960"/>
                  </a:cubicBezTo>
                  <a:cubicBezTo>
                    <a:pt x="47314" y="60960"/>
                    <a:pt x="60960" y="47314"/>
                    <a:pt x="60960" y="30480"/>
                  </a:cubicBezTo>
                  <a:cubicBezTo>
                    <a:pt x="60960" y="13646"/>
                    <a:pt x="47314" y="0"/>
                    <a:pt x="30480" y="0"/>
                  </a:cubicBezTo>
                  <a:cubicBezTo>
                    <a:pt x="13646" y="0"/>
                    <a:pt x="0" y="13646"/>
                    <a:pt x="0" y="30480"/>
                  </a:cubicBezTo>
                </a:path>
              </a:pathLst>
            </a:custGeom>
            <a:noFill/>
            <a:ln w="19050" cap="rnd">
              <a:solidFill>
                <a:srgbClr val="FFFFFF"/>
              </a:solidFill>
              <a:round/>
            </a:ln>
          </p:spPr>
        </p:sp>
      </p:grpSp>
      <p:sp>
        <p:nvSpPr>
          <p:cNvPr id="14" name="TextBox 14"/>
          <p:cNvSpPr txBox="1"/>
          <p:nvPr/>
        </p:nvSpPr>
        <p:spPr>
          <a:xfrm>
            <a:off x="1226820" y="1807845"/>
            <a:ext cx="66694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DEMO 1 · S</a:t>
            </a:r>
            <a:endParaRPr lang="zh-CN" sz="900" dirty="0">
              <a:solidFill>
                <a:srgbClr val="FFFFFF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221105" y="1968818"/>
            <a:ext cx="106941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百分号按钮</a:t>
            </a:r>
            <a:endParaRPr lang="zh-CN" sz="1350" b="1" dirty="0">
              <a:solidFill>
                <a:srgbClr val="FFFFFF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751522" y="2520791"/>
            <a:ext cx="204520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4A3B8"/>
                </a:solidFill>
                <a:latin typeface="Consolas"/>
                <a:ea typeface="Microsoft YaHei"/>
                <a:cs typeface="Consolas"/>
              </a:rPr>
              <a:t>1-percent-button/specs/changes/</a:t>
            </a:r>
            <a:endParaRPr lang="zh-CN" sz="825" dirty="0">
              <a:solidFill>
                <a:srgbClr val="94A3B8"/>
              </a:solidFill>
              <a:latin typeface="Consolas"/>
              <a:ea typeface="Microsoft YaHei"/>
              <a:cs typeface="Consola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751522" y="2673191"/>
            <a:ext cx="204520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565C0"/>
                </a:solidFill>
                <a:latin typeface="Consolas"/>
                <a:ea typeface="Microsoft YaHei"/>
                <a:cs typeface="Consolas"/>
              </a:rPr>
              <a:t>20260518-...-percentage-button/</a:t>
            </a:r>
            <a:endParaRPr lang="zh-CN" sz="825" dirty="0">
              <a:solidFill>
                <a:srgbClr val="1565C0"/>
              </a:solidFill>
              <a:latin typeface="Consolas"/>
              <a:ea typeface="Microsoft YaHei"/>
              <a:cs typeface="Consolas"/>
            </a:endParaRPr>
          </a:p>
        </p:txBody>
      </p:sp>
      <p:grpSp>
        <p:nvGrpSpPr>
          <p:cNvPr id="45" name="Group 45"/>
          <p:cNvGrpSpPr/>
          <p:nvPr/>
        </p:nvGrpSpPr>
        <p:grpSpPr>
          <a:xfrm>
            <a:off x="847725" y="2953702"/>
            <a:ext cx="2687003" cy="2346960"/>
            <a:chOff x="847725" y="2953702"/>
            <a:chExt cx="2687003" cy="2346960"/>
          </a:xfrm>
        </p:grpSpPr>
        <p:sp>
          <p:nvSpPr>
            <p:cNvPr id="18" name="Ellipse 18"/>
            <p:cNvSpPr/>
            <p:nvPr/>
          </p:nvSpPr>
          <p:spPr>
            <a:xfrm>
              <a:off x="847725" y="3000375"/>
              <a:ext cx="57150" cy="571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96315" y="2953702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proposal.md</a:t>
              </a:r>
              <a:endParaRPr lang="zh-CN" sz="1050" dirty="0">
                <a:solidFill>
                  <a:srgbClr val="1F2937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670334" y="2977991"/>
              <a:ext cx="8643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需求 + 4 问澄清</a:t>
              </a:r>
              <a:endParaRPr lang="zh-CN" sz="825" dirty="0">
                <a:solidFill>
                  <a:srgbClr val="94A3B8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21" name="Ellipse 21"/>
            <p:cNvSpPr/>
            <p:nvPr/>
          </p:nvSpPr>
          <p:spPr>
            <a:xfrm>
              <a:off x="847725" y="3267075"/>
              <a:ext cx="57150" cy="571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96315" y="3220402"/>
              <a:ext cx="6094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info.md</a:t>
              </a:r>
              <a:endParaRPr lang="zh-CN" sz="1050" dirty="0">
                <a:solidFill>
                  <a:srgbClr val="1F2937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911316" y="3244691"/>
              <a:ext cx="62341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代码仓理解</a:t>
              </a:r>
              <a:endParaRPr lang="zh-CN" sz="825" dirty="0">
                <a:solidFill>
                  <a:srgbClr val="94A3B8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24" name="Ellipse 24"/>
            <p:cNvSpPr/>
            <p:nvPr/>
          </p:nvSpPr>
          <p:spPr>
            <a:xfrm>
              <a:off x="847725" y="3533775"/>
              <a:ext cx="57150" cy="571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96315" y="3487102"/>
              <a:ext cx="111547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delta-spec.md</a:t>
              </a:r>
              <a:endParaRPr lang="zh-CN" sz="1050" dirty="0">
                <a:solidFill>
                  <a:srgbClr val="1F2937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953488" y="3511391"/>
              <a:ext cx="58123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SR + FMEA</a:t>
              </a:r>
              <a:endParaRPr lang="zh-CN" sz="825" dirty="0">
                <a:solidFill>
                  <a:srgbClr val="94A3B8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27" name="Ellipse 27"/>
            <p:cNvSpPr/>
            <p:nvPr/>
          </p:nvSpPr>
          <p:spPr>
            <a:xfrm>
              <a:off x="847725" y="3800475"/>
              <a:ext cx="57150" cy="571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96315" y="3753802"/>
              <a:ext cx="12458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delta-design.md</a:t>
              </a:r>
              <a:endParaRPr lang="zh-CN" sz="1050" dirty="0">
                <a:solidFill>
                  <a:srgbClr val="1F2937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832997" y="3778091"/>
              <a:ext cx="70173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Builder 拆分</a:t>
              </a:r>
              <a:endParaRPr lang="zh-CN" sz="825" dirty="0">
                <a:solidFill>
                  <a:srgbClr val="94A3B8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30" name="Ellipse 30"/>
            <p:cNvSpPr/>
            <p:nvPr/>
          </p:nvSpPr>
          <p:spPr>
            <a:xfrm>
              <a:off x="847725" y="4067175"/>
              <a:ext cx="57150" cy="571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96315" y="4020502"/>
              <a:ext cx="13608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design-review.md</a:t>
              </a:r>
              <a:endParaRPr lang="zh-CN" sz="1050" dirty="0">
                <a:solidFill>
                  <a:srgbClr val="1F2937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929390" y="4044791"/>
              <a:ext cx="60533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7 维度审视</a:t>
              </a:r>
              <a:endParaRPr lang="zh-CN" sz="825" dirty="0">
                <a:solidFill>
                  <a:srgbClr val="94A3B8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33" name="Ellipse 33"/>
            <p:cNvSpPr/>
            <p:nvPr/>
          </p:nvSpPr>
          <p:spPr>
            <a:xfrm>
              <a:off x="847725" y="4333875"/>
              <a:ext cx="57150" cy="571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96315" y="4287202"/>
              <a:ext cx="7320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tasks.md</a:t>
              </a:r>
              <a:endParaRPr lang="zh-CN" sz="1050" dirty="0">
                <a:solidFill>
                  <a:srgbClr val="1F2937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031807" y="4311491"/>
              <a:ext cx="5029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任务分解</a:t>
              </a:r>
              <a:endParaRPr lang="zh-CN" sz="825" dirty="0">
                <a:solidFill>
                  <a:srgbClr val="94A3B8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36" name="Ellipse 36"/>
            <p:cNvSpPr/>
            <p:nvPr/>
          </p:nvSpPr>
          <p:spPr>
            <a:xfrm>
              <a:off x="847725" y="4600575"/>
              <a:ext cx="57150" cy="571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96315" y="4553902"/>
              <a:ext cx="6477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todo.md</a:t>
              </a:r>
              <a:endParaRPr lang="zh-CN" sz="1050" dirty="0">
                <a:solidFill>
                  <a:srgbClr val="1F2937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031807" y="4578191"/>
              <a:ext cx="5029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进度追踪</a:t>
              </a:r>
              <a:endParaRPr lang="zh-CN" sz="825" dirty="0">
                <a:solidFill>
                  <a:srgbClr val="94A3B8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39" name="Ellipse 39"/>
            <p:cNvSpPr/>
            <p:nvPr/>
          </p:nvSpPr>
          <p:spPr>
            <a:xfrm>
              <a:off x="847725" y="4867275"/>
              <a:ext cx="57150" cy="571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96315" y="4820602"/>
              <a:ext cx="128416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apply-report.md</a:t>
              </a:r>
              <a:endParaRPr lang="zh-CN" sz="1050" dirty="0">
                <a:solidFill>
                  <a:srgbClr val="1F2937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031807" y="4844891"/>
              <a:ext cx="5029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实施详情</a:t>
              </a:r>
              <a:endParaRPr lang="zh-CN" sz="825" dirty="0">
                <a:solidFill>
                  <a:srgbClr val="94A3B8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42" name="Ellipse 42"/>
            <p:cNvSpPr/>
            <p:nvPr/>
          </p:nvSpPr>
          <p:spPr>
            <a:xfrm>
              <a:off x="847725" y="5133975"/>
              <a:ext cx="57150" cy="5715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96315" y="5087302"/>
              <a:ext cx="18864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0B981"/>
                  </a:solidFill>
                  <a:latin typeface="Consolas"/>
                  <a:ea typeface="Microsoft YaHei"/>
                  <a:cs typeface="Consolas"/>
                </a:rPr>
                <a:t>verification-report.md</a:t>
              </a:r>
              <a:endParaRPr lang="zh-CN" sz="1050" b="1" dirty="0">
                <a:solidFill>
                  <a:srgbClr val="10B981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808899" y="5111591"/>
              <a:ext cx="72582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10B981"/>
                  </a:solidFill>
                  <a:latin typeface="Consolas"/>
                  <a:ea typeface="Microsoft YaHei"/>
                  <a:cs typeface="Consolas"/>
                </a:rPr>
                <a:t>5 用例 / 5 图</a:t>
              </a:r>
              <a:endParaRPr lang="zh-CN" sz="825" dirty="0">
                <a:solidFill>
                  <a:srgbClr val="10B981"/>
                </a:solidFill>
                <a:latin typeface="Consolas"/>
                <a:ea typeface="Microsoft YaHei"/>
                <a:cs typeface="Consolas"/>
              </a:endParaRPr>
            </a:p>
          </p:txBody>
        </p:sp>
      </p:grpSp>
      <p:sp>
        <p:nvSpPr>
          <p:cNvPr id="46" name="Rectangle 46"/>
          <p:cNvSpPr/>
          <p:nvPr/>
        </p:nvSpPr>
        <p:spPr>
          <a:xfrm>
            <a:off x="762000" y="5429250"/>
            <a:ext cx="316230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902970" y="5541645"/>
            <a:ext cx="100869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DEMO_GUIDE.md</a:t>
            </a:r>
            <a:endParaRPr lang="zh-CN" sz="900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902018" y="5743099"/>
            <a:ext cx="187132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565C0"/>
                </a:solidFill>
                <a:latin typeface="Segoe UI"/>
                <a:ea typeface="Microsoft YaHei"/>
                <a:cs typeface="Segoe UI"/>
              </a:rPr>
              <a:t>完整实验手册(本 PPT 配套)</a:t>
            </a:r>
            <a:endParaRPr lang="zh-CN" sz="975" b="1" dirty="0">
              <a:solidFill>
                <a:srgbClr val="1565C0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49" name="Rectangle 49"/>
          <p:cNvSpPr/>
          <p:nvPr/>
        </p:nvSpPr>
        <p:spPr>
          <a:xfrm>
            <a:off x="4324350" y="1524000"/>
            <a:ext cx="3543300" cy="4667250"/>
          </a:xfrm>
          <a:prstGeom prst="roundRect">
            <a:avLst>
              <a:gd name="adj" fmla="val 3226"/>
            </a:avLst>
          </a:prstGeom>
          <a:solidFill>
            <a:srgbClr val="F7F9FC"/>
          </a:solidFill>
          <a:ln w="9525">
            <a:solidFill>
              <a:srgbClr val="E5E7EB"/>
            </a:solidFill>
          </a:ln>
        </p:spPr>
      </p:sp>
      <p:sp>
        <p:nvSpPr>
          <p:cNvPr id="50" name="Rectangle 50"/>
          <p:cNvSpPr/>
          <p:nvPr/>
        </p:nvSpPr>
        <p:spPr>
          <a:xfrm>
            <a:off x="4324350" y="1524000"/>
            <a:ext cx="3543300" cy="762000"/>
          </a:xfrm>
          <a:prstGeom prst="roundRect">
            <a:avLst>
              <a:gd name="adj" fmla="val 15000"/>
            </a:avLst>
          </a:prstGeom>
          <a:solidFill>
            <a:srgbClr val="0288D1"/>
          </a:solidFill>
          <a:ln>
            <a:noFill/>
          </a:ln>
        </p:spPr>
      </p:sp>
      <p:sp>
        <p:nvSpPr>
          <p:cNvPr id="51" name="Rectangle 51"/>
          <p:cNvSpPr/>
          <p:nvPr/>
        </p:nvSpPr>
        <p:spPr>
          <a:xfrm>
            <a:off x="4324350" y="2190750"/>
            <a:ext cx="3543300" cy="95250"/>
          </a:xfrm>
          <a:prstGeom prst="rect">
            <a:avLst/>
          </a:prstGeom>
          <a:solidFill>
            <a:srgbClr val="0288D1"/>
          </a:solidFill>
          <a:ln>
            <a:noFill/>
          </a:ln>
        </p:spPr>
      </p:sp>
      <p:grpSp>
        <p:nvGrpSpPr>
          <p:cNvPr id="55" name="Group 55"/>
          <p:cNvGrpSpPr/>
          <p:nvPr/>
        </p:nvGrpSpPr>
        <p:grpSpPr>
          <a:xfrm>
            <a:off x="4648200" y="1760220"/>
            <a:ext cx="213360" cy="274320"/>
            <a:chOff x="4648200" y="1760220"/>
            <a:chExt cx="213360" cy="274320"/>
          </a:xfrm>
        </p:grpSpPr>
        <p:sp>
          <p:nvSpPr>
            <p:cNvPr id="52" name="Freeform 52"/>
            <p:cNvSpPr/>
            <p:nvPr/>
          </p:nvSpPr>
          <p:spPr>
            <a:xfrm>
              <a:off x="4648200" y="1760220"/>
              <a:ext cx="213360" cy="274320"/>
            </a:xfrm>
            <a:custGeom>
              <a:avLst/>
              <a:gdLst/>
              <a:ahLst/>
              <a:cxnLst/>
              <a:rect l="l" t="t" r="r" b="b"/>
              <a:pathLst>
                <a:path w="213360" h="274320">
                  <a:moveTo>
                    <a:pt x="0" y="274320"/>
                  </a:moveTo>
                  <a:lnTo>
                    <a:pt x="0" y="30480"/>
                  </a:lnTo>
                  <a:cubicBezTo>
                    <a:pt x="0" y="13646"/>
                    <a:pt x="13646" y="0"/>
                    <a:pt x="30480" y="0"/>
                  </a:cubicBezTo>
                  <a:lnTo>
                    <a:pt x="182880" y="0"/>
                  </a:lnTo>
                  <a:cubicBezTo>
                    <a:pt x="199714" y="0"/>
                    <a:pt x="213360" y="13646"/>
                    <a:pt x="213360" y="30480"/>
                  </a:cubicBezTo>
                  <a:lnTo>
                    <a:pt x="213360" y="274320"/>
                  </a:lnTo>
                  <a:lnTo>
                    <a:pt x="167640" y="243840"/>
                  </a:lnTo>
                  <a:lnTo>
                    <a:pt x="137160" y="274320"/>
                  </a:lnTo>
                  <a:lnTo>
                    <a:pt x="106680" y="243840"/>
                  </a:lnTo>
                  <a:lnTo>
                    <a:pt x="76200" y="274320"/>
                  </a:lnTo>
                  <a:lnTo>
                    <a:pt x="45720" y="243840"/>
                  </a:lnTo>
                  <a:lnTo>
                    <a:pt x="0" y="274320"/>
                  </a:lnTo>
                </a:path>
              </a:pathLst>
            </a:custGeom>
            <a:noFill/>
            <a:ln w="19050" cap="rnd">
              <a:solidFill>
                <a:srgbClr val="FFFFFF"/>
              </a:solidFill>
              <a:round/>
            </a:ln>
          </p:spPr>
        </p:sp>
        <p:sp>
          <p:nvSpPr>
            <p:cNvPr id="53" name="Freeform 53"/>
            <p:cNvSpPr/>
            <p:nvPr/>
          </p:nvSpPr>
          <p:spPr>
            <a:xfrm>
              <a:off x="4709160" y="1821180"/>
              <a:ext cx="91440" cy="9525"/>
            </a:xfrm>
            <a:custGeom>
              <a:avLst/>
              <a:gdLst/>
              <a:ahLst/>
              <a:cxnLst/>
              <a:rect l="l" t="t" r="r" b="b"/>
              <a:pathLst>
                <a:path w="91440" h="9525">
                  <a:moveTo>
                    <a:pt x="0" y="0"/>
                  </a:moveTo>
                  <a:lnTo>
                    <a:pt x="91440" y="0"/>
                  </a:lnTo>
                </a:path>
              </a:pathLst>
            </a:custGeom>
            <a:noFill/>
            <a:ln w="19050" cap="rnd">
              <a:solidFill>
                <a:srgbClr val="FFFFFF"/>
              </a:solidFill>
              <a:round/>
            </a:ln>
          </p:spPr>
        </p:sp>
        <p:sp>
          <p:nvSpPr>
            <p:cNvPr id="54" name="Freeform 54"/>
            <p:cNvSpPr/>
            <p:nvPr/>
          </p:nvSpPr>
          <p:spPr>
            <a:xfrm>
              <a:off x="4709160" y="1882140"/>
              <a:ext cx="91440" cy="9525"/>
            </a:xfrm>
            <a:custGeom>
              <a:avLst/>
              <a:gdLst/>
              <a:ahLst/>
              <a:cxnLst/>
              <a:rect l="l" t="t" r="r" b="b"/>
              <a:pathLst>
                <a:path w="91440" h="9525">
                  <a:moveTo>
                    <a:pt x="0" y="0"/>
                  </a:moveTo>
                  <a:lnTo>
                    <a:pt x="91440" y="0"/>
                  </a:lnTo>
                </a:path>
              </a:pathLst>
            </a:custGeom>
            <a:noFill/>
            <a:ln w="19050" cap="rnd">
              <a:solidFill>
                <a:srgbClr val="FFFFFF"/>
              </a:solidFill>
              <a:round/>
            </a:ln>
          </p:spPr>
        </p:sp>
      </p:grpSp>
      <p:sp>
        <p:nvSpPr>
          <p:cNvPr id="56" name="TextBox 56"/>
          <p:cNvSpPr txBox="1"/>
          <p:nvPr/>
        </p:nvSpPr>
        <p:spPr>
          <a:xfrm>
            <a:off x="4979670" y="1807845"/>
            <a:ext cx="69980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DEMO 2 · S</a:t>
            </a:r>
            <a:endParaRPr lang="zh-CN" sz="900" dirty="0">
              <a:solidFill>
                <a:srgbClr val="FFFFFF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57" name="TextBox 57"/>
          <p:cNvSpPr txBox="1"/>
          <p:nvPr/>
        </p:nvSpPr>
        <p:spPr>
          <a:xfrm>
            <a:off x="4973955" y="1968818"/>
            <a:ext cx="106941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小费计算器</a:t>
            </a:r>
            <a:endParaRPr lang="zh-CN" sz="1350" b="1" dirty="0">
              <a:solidFill>
                <a:srgbClr val="FFFFFF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58" name="TextBox 58"/>
          <p:cNvSpPr txBox="1"/>
          <p:nvPr/>
        </p:nvSpPr>
        <p:spPr>
          <a:xfrm>
            <a:off x="4504372" y="2520791"/>
            <a:ext cx="198496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4A3B8"/>
                </a:solidFill>
                <a:latin typeface="Consolas"/>
                <a:ea typeface="Microsoft YaHei"/>
                <a:cs typeface="Consolas"/>
              </a:rPr>
              <a:t>2-tip-calculator/specs/changes/</a:t>
            </a:r>
            <a:endParaRPr lang="zh-CN" sz="825" dirty="0">
              <a:solidFill>
                <a:srgbClr val="94A3B8"/>
              </a:solidFill>
              <a:latin typeface="Consolas"/>
              <a:ea typeface="Microsoft YaHei"/>
              <a:cs typeface="Consolas"/>
            </a:endParaRPr>
          </a:p>
        </p:txBody>
      </p:sp>
      <p:sp>
        <p:nvSpPr>
          <p:cNvPr id="59" name="TextBox 59"/>
          <p:cNvSpPr txBox="1"/>
          <p:nvPr/>
        </p:nvSpPr>
        <p:spPr>
          <a:xfrm>
            <a:off x="4504372" y="2673191"/>
            <a:ext cx="175602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0288D1"/>
                </a:solidFill>
                <a:latin typeface="Consolas"/>
                <a:ea typeface="Microsoft YaHei"/>
                <a:cs typeface="Consolas"/>
              </a:rPr>
              <a:t>20260519-...-tip-calculator/</a:t>
            </a:r>
            <a:endParaRPr lang="zh-CN" sz="825" dirty="0">
              <a:solidFill>
                <a:srgbClr val="0288D1"/>
              </a:solidFill>
              <a:latin typeface="Consolas"/>
              <a:ea typeface="Microsoft YaHei"/>
              <a:cs typeface="Consolas"/>
            </a:endParaRPr>
          </a:p>
        </p:txBody>
      </p:sp>
      <p:grpSp>
        <p:nvGrpSpPr>
          <p:cNvPr id="87" name="Group 87"/>
          <p:cNvGrpSpPr/>
          <p:nvPr/>
        </p:nvGrpSpPr>
        <p:grpSpPr>
          <a:xfrm>
            <a:off x="4600575" y="2953702"/>
            <a:ext cx="2687003" cy="2346960"/>
            <a:chOff x="4600575" y="2953702"/>
            <a:chExt cx="2687003" cy="2346960"/>
          </a:xfrm>
        </p:grpSpPr>
        <p:sp>
          <p:nvSpPr>
            <p:cNvPr id="60" name="Ellipse 60"/>
            <p:cNvSpPr/>
            <p:nvPr/>
          </p:nvSpPr>
          <p:spPr>
            <a:xfrm>
              <a:off x="4600575" y="3000375"/>
              <a:ext cx="57150" cy="57150"/>
            </a:xfrm>
            <a:prstGeom prst="ellipse">
              <a:avLst/>
            </a:prstGeom>
            <a:solidFill>
              <a:srgbClr val="0288D1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4749165" y="2953702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proposal.md</a:t>
              </a:r>
              <a:endParaRPr lang="zh-CN" sz="1050" dirty="0">
                <a:solidFill>
                  <a:srgbClr val="1F2937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423184" y="2977991"/>
              <a:ext cx="8643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需求 + 8 问澄清</a:t>
              </a:r>
              <a:endParaRPr lang="zh-CN" sz="825" dirty="0">
                <a:solidFill>
                  <a:srgbClr val="94A3B8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63" name="Ellipse 63"/>
            <p:cNvSpPr/>
            <p:nvPr/>
          </p:nvSpPr>
          <p:spPr>
            <a:xfrm>
              <a:off x="4600575" y="3267075"/>
              <a:ext cx="57150" cy="57150"/>
            </a:xfrm>
            <a:prstGeom prst="ellipse">
              <a:avLst/>
            </a:prstGeom>
            <a:solidFill>
              <a:srgbClr val="0288D1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4749165" y="3220402"/>
              <a:ext cx="6094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info.md</a:t>
              </a:r>
              <a:endParaRPr lang="zh-CN" sz="1050" dirty="0">
                <a:solidFill>
                  <a:srgbClr val="1F2937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561749" y="3244691"/>
              <a:ext cx="72582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复杂度评估 S</a:t>
              </a:r>
              <a:endParaRPr lang="zh-CN" sz="825" dirty="0">
                <a:solidFill>
                  <a:srgbClr val="94A3B8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66" name="Ellipse 66"/>
            <p:cNvSpPr/>
            <p:nvPr/>
          </p:nvSpPr>
          <p:spPr>
            <a:xfrm>
              <a:off x="4600575" y="3533775"/>
              <a:ext cx="57150" cy="57150"/>
            </a:xfrm>
            <a:prstGeom prst="ellipse">
              <a:avLst/>
            </a:prstGeom>
            <a:solidFill>
              <a:srgbClr val="0288D1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4749165" y="3487102"/>
              <a:ext cx="111547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delta-spec.md</a:t>
              </a:r>
              <a:endParaRPr lang="zh-CN" sz="1050" dirty="0">
                <a:solidFill>
                  <a:srgbClr val="1F2937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170152" y="3511391"/>
              <a:ext cx="111742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SR-001..012 + FMEA</a:t>
              </a:r>
              <a:endParaRPr lang="zh-CN" sz="825" dirty="0">
                <a:solidFill>
                  <a:srgbClr val="94A3B8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69" name="Ellipse 69"/>
            <p:cNvSpPr/>
            <p:nvPr/>
          </p:nvSpPr>
          <p:spPr>
            <a:xfrm>
              <a:off x="4600575" y="3800475"/>
              <a:ext cx="57150" cy="57150"/>
            </a:xfrm>
            <a:prstGeom prst="ellipse">
              <a:avLst/>
            </a:prstGeom>
            <a:solidFill>
              <a:srgbClr val="0288D1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4749165" y="3753802"/>
              <a:ext cx="12458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delta-design.md</a:t>
              </a:r>
              <a:endParaRPr lang="zh-CN" sz="1050" dirty="0">
                <a:solidFill>
                  <a:srgbClr val="1F2937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652117" y="3778091"/>
              <a:ext cx="63546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D1-D10 组件</a:t>
              </a:r>
              <a:endParaRPr lang="zh-CN" sz="825" dirty="0">
                <a:solidFill>
                  <a:srgbClr val="94A3B8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72" name="Ellipse 72"/>
            <p:cNvSpPr/>
            <p:nvPr/>
          </p:nvSpPr>
          <p:spPr>
            <a:xfrm>
              <a:off x="4600575" y="4067175"/>
              <a:ext cx="57150" cy="57150"/>
            </a:xfrm>
            <a:prstGeom prst="ellipse">
              <a:avLst/>
            </a:prstGeom>
            <a:solidFill>
              <a:srgbClr val="0288D1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4749165" y="4020502"/>
              <a:ext cx="13608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design-review.md</a:t>
              </a:r>
              <a:endParaRPr lang="zh-CN" sz="1050" dirty="0">
                <a:solidFill>
                  <a:srgbClr val="1F2937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543675" y="4044791"/>
              <a:ext cx="74390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三大维度审视</a:t>
              </a:r>
              <a:endParaRPr lang="zh-CN" sz="825" dirty="0">
                <a:solidFill>
                  <a:srgbClr val="94A3B8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75" name="Ellipse 75"/>
            <p:cNvSpPr/>
            <p:nvPr/>
          </p:nvSpPr>
          <p:spPr>
            <a:xfrm>
              <a:off x="4600575" y="4333875"/>
              <a:ext cx="57150" cy="57150"/>
            </a:xfrm>
            <a:prstGeom prst="ellipse">
              <a:avLst/>
            </a:prstGeom>
            <a:solidFill>
              <a:srgbClr val="0288D1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4749165" y="4287202"/>
              <a:ext cx="7320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tasks.md</a:t>
              </a:r>
              <a:endParaRPr lang="zh-CN" sz="1050" dirty="0">
                <a:solidFill>
                  <a:srgbClr val="1F2937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543675" y="4311491"/>
              <a:ext cx="74390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4 阶段 6 任务</a:t>
              </a:r>
              <a:endParaRPr lang="zh-CN" sz="825" dirty="0">
                <a:solidFill>
                  <a:srgbClr val="94A3B8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78" name="Ellipse 78"/>
            <p:cNvSpPr/>
            <p:nvPr/>
          </p:nvSpPr>
          <p:spPr>
            <a:xfrm>
              <a:off x="4600575" y="4600575"/>
              <a:ext cx="57150" cy="57150"/>
            </a:xfrm>
            <a:prstGeom prst="ellipse">
              <a:avLst/>
            </a:prstGeom>
            <a:solidFill>
              <a:srgbClr val="0288D1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4749165" y="4553902"/>
              <a:ext cx="6477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todo.md</a:t>
              </a:r>
              <a:endParaRPr lang="zh-CN" sz="1050" dirty="0">
                <a:solidFill>
                  <a:srgbClr val="1F2937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6784658" y="4578191"/>
              <a:ext cx="5029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进度追踪</a:t>
              </a:r>
              <a:endParaRPr lang="zh-CN" sz="825" dirty="0">
                <a:solidFill>
                  <a:srgbClr val="94A3B8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81" name="Ellipse 81"/>
            <p:cNvSpPr/>
            <p:nvPr/>
          </p:nvSpPr>
          <p:spPr>
            <a:xfrm>
              <a:off x="4600575" y="4867275"/>
              <a:ext cx="57150" cy="5715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4749165" y="4820602"/>
              <a:ext cx="13470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59E0B"/>
                  </a:solidFill>
                  <a:latin typeface="Consolas"/>
                  <a:ea typeface="Microsoft YaHei"/>
                  <a:cs typeface="Consolas"/>
                </a:rPr>
                <a:t>apply-report.md</a:t>
              </a:r>
              <a:endParaRPr lang="zh-CN" sz="1050" b="1" dirty="0">
                <a:solidFill>
                  <a:srgbClr val="F59E0B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6754535" y="4844891"/>
              <a:ext cx="53304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F59E0B"/>
                  </a:solidFill>
                  <a:latin typeface="Consolas"/>
                  <a:ea typeface="Microsoft YaHei"/>
                  <a:cs typeface="Consolas"/>
                </a:rPr>
                <a:t>P-01 复盘</a:t>
              </a:r>
              <a:endParaRPr lang="zh-CN" sz="825" dirty="0">
                <a:solidFill>
                  <a:srgbClr val="F59E0B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84" name="Ellipse 84"/>
            <p:cNvSpPr/>
            <p:nvPr/>
          </p:nvSpPr>
          <p:spPr>
            <a:xfrm>
              <a:off x="4600575" y="5133975"/>
              <a:ext cx="57150" cy="5715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4749165" y="5087302"/>
              <a:ext cx="18864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0B981"/>
                  </a:solidFill>
                  <a:latin typeface="Consolas"/>
                  <a:ea typeface="Microsoft YaHei"/>
                  <a:cs typeface="Consolas"/>
                </a:rPr>
                <a:t>verification-report.md</a:t>
              </a:r>
              <a:endParaRPr lang="zh-CN" sz="1050" b="1" dirty="0">
                <a:solidFill>
                  <a:srgbClr val="10B981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6561749" y="5111591"/>
              <a:ext cx="72582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10B981"/>
                  </a:solidFill>
                  <a:latin typeface="Consolas"/>
                  <a:ea typeface="Microsoft YaHei"/>
                  <a:cs typeface="Consolas"/>
                </a:rPr>
                <a:t>8 用例 / 7 图</a:t>
              </a:r>
              <a:endParaRPr lang="zh-CN" sz="825" dirty="0">
                <a:solidFill>
                  <a:srgbClr val="10B981"/>
                </a:solidFill>
                <a:latin typeface="Consolas"/>
                <a:ea typeface="Microsoft YaHei"/>
                <a:cs typeface="Consolas"/>
              </a:endParaRPr>
            </a:p>
          </p:txBody>
        </p:sp>
      </p:grpSp>
      <p:sp>
        <p:nvSpPr>
          <p:cNvPr id="88" name="Rectangle 88"/>
          <p:cNvSpPr/>
          <p:nvPr/>
        </p:nvSpPr>
        <p:spPr>
          <a:xfrm>
            <a:off x="4514850" y="5429250"/>
            <a:ext cx="316230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89" name="TextBox 89"/>
          <p:cNvSpPr txBox="1"/>
          <p:nvPr/>
        </p:nvSpPr>
        <p:spPr>
          <a:xfrm>
            <a:off x="4655820" y="5541645"/>
            <a:ext cx="100869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DEMO_GUIDE.md</a:t>
            </a:r>
            <a:endParaRPr lang="zh-CN" sz="900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90" name="TextBox 90"/>
          <p:cNvSpPr txBox="1"/>
          <p:nvPr/>
        </p:nvSpPr>
        <p:spPr>
          <a:xfrm>
            <a:off x="4654868" y="5743099"/>
            <a:ext cx="187132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288D1"/>
                </a:solidFill>
                <a:latin typeface="Segoe UI"/>
                <a:ea typeface="Microsoft YaHei"/>
                <a:cs typeface="Segoe UI"/>
              </a:rPr>
              <a:t>完整实验手册(本 PPT 配套)</a:t>
            </a:r>
            <a:endParaRPr lang="zh-CN" sz="975" b="1" dirty="0">
              <a:solidFill>
                <a:srgbClr val="0288D1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91" name="Rectangle 91"/>
          <p:cNvSpPr/>
          <p:nvPr/>
        </p:nvSpPr>
        <p:spPr>
          <a:xfrm>
            <a:off x="8077200" y="1524000"/>
            <a:ext cx="3543300" cy="4667250"/>
          </a:xfrm>
          <a:prstGeom prst="roundRect">
            <a:avLst>
              <a:gd name="adj" fmla="val 3226"/>
            </a:avLst>
          </a:prstGeom>
          <a:solidFill>
            <a:srgbClr val="F7F9FC"/>
          </a:solidFill>
          <a:ln w="9525">
            <a:solidFill>
              <a:srgbClr val="E5E7EB"/>
            </a:solidFill>
          </a:ln>
        </p:spPr>
      </p:sp>
      <p:sp>
        <p:nvSpPr>
          <p:cNvPr id="92" name="Rectangle 92"/>
          <p:cNvSpPr/>
          <p:nvPr/>
        </p:nvSpPr>
        <p:spPr>
          <a:xfrm>
            <a:off x="8077200" y="1524000"/>
            <a:ext cx="3543300" cy="762000"/>
          </a:xfrm>
          <a:prstGeom prst="roundRect">
            <a:avLst>
              <a:gd name="adj" fmla="val 15000"/>
            </a:avLst>
          </a:prstGeom>
          <a:solidFill>
            <a:srgbClr val="26A69A"/>
          </a:solidFill>
          <a:ln>
            <a:noFill/>
          </a:ln>
        </p:spPr>
      </p:sp>
      <p:sp>
        <p:nvSpPr>
          <p:cNvPr id="93" name="Rectangle 93"/>
          <p:cNvSpPr/>
          <p:nvPr/>
        </p:nvSpPr>
        <p:spPr>
          <a:xfrm>
            <a:off x="8077200" y="2190750"/>
            <a:ext cx="3543300" cy="95250"/>
          </a:xfrm>
          <a:prstGeom prst="rect">
            <a:avLst/>
          </a:prstGeom>
          <a:solidFill>
            <a:srgbClr val="26A69A"/>
          </a:solidFill>
          <a:ln>
            <a:noFill/>
          </a:ln>
        </p:spPr>
      </p:sp>
      <p:grpSp>
        <p:nvGrpSpPr>
          <p:cNvPr id="96" name="Group 96"/>
          <p:cNvGrpSpPr/>
          <p:nvPr/>
        </p:nvGrpSpPr>
        <p:grpSpPr>
          <a:xfrm>
            <a:off x="8385810" y="1805940"/>
            <a:ext cx="243840" cy="207645"/>
            <a:chOff x="8385810" y="1805940"/>
            <a:chExt cx="243840" cy="207645"/>
          </a:xfrm>
        </p:grpSpPr>
        <p:sp>
          <p:nvSpPr>
            <p:cNvPr id="94" name="Freeform 94"/>
            <p:cNvSpPr/>
            <p:nvPr/>
          </p:nvSpPr>
          <p:spPr>
            <a:xfrm>
              <a:off x="8385810" y="2004060"/>
              <a:ext cx="243840" cy="9525"/>
            </a:xfrm>
            <a:custGeom>
              <a:avLst/>
              <a:gdLst/>
              <a:ahLst/>
              <a:cxnLst/>
              <a:rect l="l" t="t" r="r" b="b"/>
              <a:pathLst>
                <a:path w="243840" h="9525">
                  <a:moveTo>
                    <a:pt x="0" y="0"/>
                  </a:moveTo>
                  <a:lnTo>
                    <a:pt x="243840" y="0"/>
                  </a:lnTo>
                </a:path>
              </a:pathLst>
            </a:custGeom>
            <a:noFill/>
            <a:ln w="19050" cap="rnd">
              <a:solidFill>
                <a:srgbClr val="FFFFFF"/>
              </a:solidFill>
              <a:round/>
            </a:ln>
          </p:spPr>
        </p:sp>
        <p:sp>
          <p:nvSpPr>
            <p:cNvPr id="95" name="Freeform 95"/>
            <p:cNvSpPr/>
            <p:nvPr/>
          </p:nvSpPr>
          <p:spPr>
            <a:xfrm>
              <a:off x="8385810" y="1805940"/>
              <a:ext cx="243840" cy="137160"/>
            </a:xfrm>
            <a:custGeom>
              <a:avLst/>
              <a:gdLst/>
              <a:ahLst/>
              <a:cxnLst/>
              <a:rect l="l" t="t" r="r" b="b"/>
              <a:pathLst>
                <a:path w="243840" h="137160">
                  <a:moveTo>
                    <a:pt x="0" y="137160"/>
                  </a:moveTo>
                  <a:lnTo>
                    <a:pt x="60960" y="45720"/>
                  </a:lnTo>
                  <a:lnTo>
                    <a:pt x="121920" y="76200"/>
                  </a:lnTo>
                  <a:lnTo>
                    <a:pt x="182880" y="0"/>
                  </a:lnTo>
                  <a:lnTo>
                    <a:pt x="243840" y="60960"/>
                  </a:lnTo>
                </a:path>
              </a:pathLst>
            </a:custGeom>
            <a:noFill/>
            <a:ln w="19050" cap="rnd">
              <a:solidFill>
                <a:srgbClr val="FFFFFF"/>
              </a:solidFill>
              <a:round/>
            </a:ln>
          </p:spPr>
        </p:sp>
      </p:grpSp>
      <p:sp>
        <p:nvSpPr>
          <p:cNvPr id="97" name="TextBox 97"/>
          <p:cNvSpPr txBox="1"/>
          <p:nvPr/>
        </p:nvSpPr>
        <p:spPr>
          <a:xfrm>
            <a:off x="8732520" y="1807845"/>
            <a:ext cx="72609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DEMO 3 · M</a:t>
            </a:r>
            <a:endParaRPr lang="zh-CN" sz="900" dirty="0">
              <a:solidFill>
                <a:srgbClr val="FFFFFF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98" name="TextBox 98"/>
          <p:cNvSpPr txBox="1"/>
          <p:nvPr/>
        </p:nvSpPr>
        <p:spPr>
          <a:xfrm>
            <a:off x="8726805" y="1968818"/>
            <a:ext cx="12764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函数图像绘制</a:t>
            </a:r>
            <a:endParaRPr lang="zh-CN" sz="1350" b="1" dirty="0">
              <a:solidFill>
                <a:srgbClr val="FFFFFF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99" name="TextBox 99"/>
          <p:cNvSpPr txBox="1"/>
          <p:nvPr/>
        </p:nvSpPr>
        <p:spPr>
          <a:xfrm>
            <a:off x="8257222" y="2520791"/>
            <a:ext cx="176807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4A3B8"/>
                </a:solidFill>
                <a:latin typeface="Consolas"/>
                <a:ea typeface="Microsoft YaHei"/>
                <a:cs typeface="Consolas"/>
              </a:rPr>
              <a:t>3-draw-func/specs/changes/</a:t>
            </a:r>
            <a:endParaRPr lang="zh-CN" sz="825" dirty="0">
              <a:solidFill>
                <a:srgbClr val="94A3B8"/>
              </a:solidFill>
              <a:latin typeface="Consolas"/>
              <a:ea typeface="Microsoft YaHei"/>
              <a:cs typeface="Consolas"/>
            </a:endParaRPr>
          </a:p>
        </p:txBody>
      </p:sp>
      <p:sp>
        <p:nvSpPr>
          <p:cNvPr id="100" name="TextBox 100"/>
          <p:cNvSpPr txBox="1"/>
          <p:nvPr/>
        </p:nvSpPr>
        <p:spPr>
          <a:xfrm>
            <a:off x="8257222" y="2673191"/>
            <a:ext cx="181627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26A69A"/>
                </a:solidFill>
                <a:latin typeface="Consolas"/>
                <a:ea typeface="Microsoft YaHei"/>
                <a:cs typeface="Consolas"/>
              </a:rPr>
              <a:t>20260519-...-function-graph/</a:t>
            </a:r>
            <a:endParaRPr lang="zh-CN" sz="825" dirty="0">
              <a:solidFill>
                <a:srgbClr val="26A69A"/>
              </a:solidFill>
              <a:latin typeface="Consolas"/>
              <a:ea typeface="Microsoft YaHei"/>
              <a:cs typeface="Consolas"/>
            </a:endParaRPr>
          </a:p>
        </p:txBody>
      </p:sp>
      <p:grpSp>
        <p:nvGrpSpPr>
          <p:cNvPr id="128" name="Group 128"/>
          <p:cNvGrpSpPr/>
          <p:nvPr/>
        </p:nvGrpSpPr>
        <p:grpSpPr>
          <a:xfrm>
            <a:off x="8353425" y="2953702"/>
            <a:ext cx="2687003" cy="2346960"/>
            <a:chOff x="8353425" y="2953702"/>
            <a:chExt cx="2687003" cy="2346960"/>
          </a:xfrm>
        </p:grpSpPr>
        <p:sp>
          <p:nvSpPr>
            <p:cNvPr id="101" name="Ellipse 101"/>
            <p:cNvSpPr/>
            <p:nvPr/>
          </p:nvSpPr>
          <p:spPr>
            <a:xfrm>
              <a:off x="8353425" y="3000375"/>
              <a:ext cx="57150" cy="57150"/>
            </a:xfrm>
            <a:prstGeom prst="ellipse">
              <a:avLst/>
            </a:prstGeom>
            <a:solidFill>
              <a:srgbClr val="26A69A"/>
            </a:solidFill>
            <a:ln>
              <a:noFill/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8502015" y="2953702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proposal.md</a:t>
              </a:r>
              <a:endParaRPr lang="zh-CN" sz="1050" dirty="0">
                <a:solidFill>
                  <a:srgbClr val="1F2937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10176034" y="2977991"/>
              <a:ext cx="8643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需求 + 4 问澄清</a:t>
              </a:r>
              <a:endParaRPr lang="zh-CN" sz="825" dirty="0">
                <a:solidFill>
                  <a:srgbClr val="94A3B8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104" name="Ellipse 104"/>
            <p:cNvSpPr/>
            <p:nvPr/>
          </p:nvSpPr>
          <p:spPr>
            <a:xfrm>
              <a:off x="8353425" y="3267075"/>
              <a:ext cx="57150" cy="57150"/>
            </a:xfrm>
            <a:prstGeom prst="ellipse">
              <a:avLst/>
            </a:prstGeom>
            <a:solidFill>
              <a:srgbClr val="26A69A"/>
            </a:solidFill>
            <a:ln>
              <a:noFill/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8502015" y="3220402"/>
              <a:ext cx="6094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info.md</a:t>
              </a:r>
              <a:endParaRPr lang="zh-CN" sz="1050" dirty="0">
                <a:solidFill>
                  <a:srgbClr val="1F2937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10290500" y="3244691"/>
              <a:ext cx="74992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复杂度评估 M</a:t>
              </a:r>
              <a:endParaRPr lang="zh-CN" sz="825" dirty="0">
                <a:solidFill>
                  <a:srgbClr val="94A3B8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107" name="Ellipse 107"/>
            <p:cNvSpPr/>
            <p:nvPr/>
          </p:nvSpPr>
          <p:spPr>
            <a:xfrm>
              <a:off x="8353425" y="3533775"/>
              <a:ext cx="57150" cy="5715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108" name="TextBox 108"/>
            <p:cNvSpPr txBox="1"/>
            <p:nvPr/>
          </p:nvSpPr>
          <p:spPr>
            <a:xfrm>
              <a:off x="8502015" y="3487102"/>
              <a:ext cx="116991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59E0B"/>
                  </a:solidFill>
                  <a:latin typeface="Consolas"/>
                  <a:ea typeface="Microsoft YaHei"/>
                  <a:cs typeface="Consolas"/>
                </a:rPr>
                <a:t>delta-spec.md</a:t>
              </a:r>
              <a:endParaRPr lang="zh-CN" sz="1050" b="1" dirty="0">
                <a:solidFill>
                  <a:srgbClr val="F59E0B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9898904" y="3511391"/>
              <a:ext cx="11415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F59E0B"/>
                  </a:solidFill>
                  <a:latin typeface="Consolas"/>
                  <a:ea typeface="Microsoft YaHei"/>
                  <a:cs typeface="Consolas"/>
                </a:rPr>
                <a:t>IR + 14 SR + R-01..10</a:t>
              </a:r>
              <a:endParaRPr lang="zh-CN" sz="825" dirty="0">
                <a:solidFill>
                  <a:srgbClr val="F59E0B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110" name="Ellipse 110"/>
            <p:cNvSpPr/>
            <p:nvPr/>
          </p:nvSpPr>
          <p:spPr>
            <a:xfrm>
              <a:off x="8353425" y="3800475"/>
              <a:ext cx="57150" cy="57150"/>
            </a:xfrm>
            <a:prstGeom prst="ellipse">
              <a:avLst/>
            </a:prstGeom>
            <a:solidFill>
              <a:srgbClr val="26A69A"/>
            </a:solidFill>
            <a:ln>
              <a:noFill/>
            </a:ln>
          </p:spPr>
        </p:sp>
        <p:sp>
          <p:nvSpPr>
            <p:cNvPr id="111" name="TextBox 111"/>
            <p:cNvSpPr txBox="1"/>
            <p:nvPr/>
          </p:nvSpPr>
          <p:spPr>
            <a:xfrm>
              <a:off x="8502015" y="3753802"/>
              <a:ext cx="12458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delta-design.md</a:t>
              </a:r>
              <a:endParaRPr lang="zh-CN" sz="1050" dirty="0">
                <a:solidFill>
                  <a:srgbClr val="1F2937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10308574" y="3778091"/>
              <a:ext cx="73185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Plotter 算法</a:t>
              </a:r>
              <a:endParaRPr lang="zh-CN" sz="825" dirty="0">
                <a:solidFill>
                  <a:srgbClr val="94A3B8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113" name="Ellipse 113"/>
            <p:cNvSpPr/>
            <p:nvPr/>
          </p:nvSpPr>
          <p:spPr>
            <a:xfrm>
              <a:off x="8353425" y="4067175"/>
              <a:ext cx="57150" cy="57150"/>
            </a:xfrm>
            <a:prstGeom prst="ellipse">
              <a:avLst/>
            </a:prstGeom>
            <a:solidFill>
              <a:srgbClr val="26A69A"/>
            </a:solidFill>
            <a:ln>
              <a:noFill/>
            </a:ln>
          </p:spPr>
        </p:sp>
        <p:sp>
          <p:nvSpPr>
            <p:cNvPr id="114" name="TextBox 114"/>
            <p:cNvSpPr txBox="1"/>
            <p:nvPr/>
          </p:nvSpPr>
          <p:spPr>
            <a:xfrm>
              <a:off x="8502015" y="4020502"/>
              <a:ext cx="13608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design-review.md</a:t>
              </a:r>
              <a:endParaRPr lang="zh-CN" sz="1050" dirty="0">
                <a:solidFill>
                  <a:srgbClr val="1F2937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10254353" y="4044791"/>
              <a:ext cx="78607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7 维度全 PASS</a:t>
              </a:r>
              <a:endParaRPr lang="zh-CN" sz="825" dirty="0">
                <a:solidFill>
                  <a:srgbClr val="94A3B8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116" name="Ellipse 116"/>
            <p:cNvSpPr/>
            <p:nvPr/>
          </p:nvSpPr>
          <p:spPr>
            <a:xfrm>
              <a:off x="8353425" y="4333875"/>
              <a:ext cx="57150" cy="57150"/>
            </a:xfrm>
            <a:prstGeom prst="ellipse">
              <a:avLst/>
            </a:prstGeom>
            <a:solidFill>
              <a:srgbClr val="26A69A"/>
            </a:solidFill>
            <a:ln>
              <a:noFill/>
            </a:ln>
          </p:spPr>
        </p:sp>
        <p:sp>
          <p:nvSpPr>
            <p:cNvPr id="117" name="TextBox 117"/>
            <p:cNvSpPr txBox="1"/>
            <p:nvPr/>
          </p:nvSpPr>
          <p:spPr>
            <a:xfrm>
              <a:off x="8502015" y="4287202"/>
              <a:ext cx="7320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tasks.md</a:t>
              </a:r>
              <a:endParaRPr lang="zh-CN" sz="1050" dirty="0">
                <a:solidFill>
                  <a:srgbClr val="1F2937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10278451" y="4311491"/>
              <a:ext cx="76197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7 块 + 12 用例</a:t>
              </a:r>
              <a:endParaRPr lang="zh-CN" sz="825" dirty="0">
                <a:solidFill>
                  <a:srgbClr val="94A3B8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119" name="Ellipse 119"/>
            <p:cNvSpPr/>
            <p:nvPr/>
          </p:nvSpPr>
          <p:spPr>
            <a:xfrm>
              <a:off x="8353425" y="4600575"/>
              <a:ext cx="57150" cy="57150"/>
            </a:xfrm>
            <a:prstGeom prst="ellipse">
              <a:avLst/>
            </a:prstGeom>
            <a:solidFill>
              <a:srgbClr val="26A69A"/>
            </a:solidFill>
            <a:ln>
              <a:noFill/>
            </a:ln>
          </p:spPr>
        </p:sp>
        <p:sp>
          <p:nvSpPr>
            <p:cNvPr id="120" name="TextBox 120"/>
            <p:cNvSpPr txBox="1"/>
            <p:nvPr/>
          </p:nvSpPr>
          <p:spPr>
            <a:xfrm>
              <a:off x="8502015" y="4553902"/>
              <a:ext cx="6477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todo.md</a:t>
              </a:r>
              <a:endParaRPr lang="zh-CN" sz="1050" dirty="0">
                <a:solidFill>
                  <a:srgbClr val="1F2937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10537508" y="4578191"/>
              <a:ext cx="5029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进度追踪</a:t>
              </a:r>
              <a:endParaRPr lang="zh-CN" sz="825" dirty="0">
                <a:solidFill>
                  <a:srgbClr val="94A3B8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122" name="Ellipse 122"/>
            <p:cNvSpPr/>
            <p:nvPr/>
          </p:nvSpPr>
          <p:spPr>
            <a:xfrm>
              <a:off x="8353425" y="4867275"/>
              <a:ext cx="57150" cy="57150"/>
            </a:xfrm>
            <a:prstGeom prst="ellipse">
              <a:avLst/>
            </a:prstGeom>
            <a:solidFill>
              <a:srgbClr val="26A69A"/>
            </a:solidFill>
            <a:ln>
              <a:noFill/>
            </a:ln>
          </p:spPr>
        </p:sp>
        <p:sp>
          <p:nvSpPr>
            <p:cNvPr id="123" name="TextBox 123"/>
            <p:cNvSpPr txBox="1"/>
            <p:nvPr/>
          </p:nvSpPr>
          <p:spPr>
            <a:xfrm>
              <a:off x="8502015" y="4820602"/>
              <a:ext cx="128416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apply-report.md</a:t>
              </a:r>
              <a:endParaRPr lang="zh-CN" sz="1050" dirty="0">
                <a:solidFill>
                  <a:srgbClr val="1F2937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10296525" y="4844891"/>
              <a:ext cx="74390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静态等价审查</a:t>
              </a:r>
              <a:endParaRPr lang="zh-CN" sz="825" dirty="0">
                <a:solidFill>
                  <a:srgbClr val="94A3B8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125" name="Ellipse 125"/>
            <p:cNvSpPr/>
            <p:nvPr/>
          </p:nvSpPr>
          <p:spPr>
            <a:xfrm>
              <a:off x="8353425" y="5133975"/>
              <a:ext cx="57150" cy="5715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126" name="TextBox 126"/>
            <p:cNvSpPr txBox="1"/>
            <p:nvPr/>
          </p:nvSpPr>
          <p:spPr>
            <a:xfrm>
              <a:off x="8502015" y="5087302"/>
              <a:ext cx="18864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0B981"/>
                  </a:solidFill>
                  <a:latin typeface="Consolas"/>
                  <a:ea typeface="Microsoft YaHei"/>
                  <a:cs typeface="Consolas"/>
                </a:rPr>
                <a:t>verification-report.md</a:t>
              </a:r>
              <a:endParaRPr lang="zh-CN" sz="1050" b="1" dirty="0">
                <a:solidFill>
                  <a:srgbClr val="10B981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127" name="TextBox 127"/>
            <p:cNvSpPr txBox="1"/>
            <p:nvPr/>
          </p:nvSpPr>
          <p:spPr>
            <a:xfrm>
              <a:off x="10242304" y="5111591"/>
              <a:ext cx="7981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10B981"/>
                  </a:solidFill>
                  <a:latin typeface="Consolas"/>
                  <a:ea typeface="Microsoft YaHei"/>
                  <a:cs typeface="Consolas"/>
                </a:rPr>
                <a:t>12 用例 / 16 图</a:t>
              </a:r>
              <a:endParaRPr lang="zh-CN" sz="825" dirty="0">
                <a:solidFill>
                  <a:srgbClr val="10B981"/>
                </a:solidFill>
                <a:latin typeface="Consolas"/>
                <a:ea typeface="Microsoft YaHei"/>
                <a:cs typeface="Consolas"/>
              </a:endParaRPr>
            </a:p>
          </p:txBody>
        </p:sp>
      </p:grpSp>
      <p:sp>
        <p:nvSpPr>
          <p:cNvPr id="129" name="Rectangle 129"/>
          <p:cNvSpPr/>
          <p:nvPr/>
        </p:nvSpPr>
        <p:spPr>
          <a:xfrm>
            <a:off x="8267700" y="5429250"/>
            <a:ext cx="316230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30" name="TextBox 130"/>
          <p:cNvSpPr txBox="1"/>
          <p:nvPr/>
        </p:nvSpPr>
        <p:spPr>
          <a:xfrm>
            <a:off x="8408670" y="5541645"/>
            <a:ext cx="100869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DEMO_GUIDE.md</a:t>
            </a:r>
            <a:endParaRPr lang="zh-CN" sz="900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131" name="TextBox 131"/>
          <p:cNvSpPr txBox="1"/>
          <p:nvPr/>
        </p:nvSpPr>
        <p:spPr>
          <a:xfrm>
            <a:off x="8407718" y="5743099"/>
            <a:ext cx="187132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26A69A"/>
                </a:solidFill>
                <a:latin typeface="Segoe UI"/>
                <a:ea typeface="Microsoft YaHei"/>
                <a:cs typeface="Segoe UI"/>
              </a:rPr>
              <a:t>完整实验手册(本 PPT 配套)</a:t>
            </a:r>
            <a:endParaRPr lang="zh-CN" sz="975" b="1" dirty="0">
              <a:solidFill>
                <a:srgbClr val="26A69A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132" name="Line 132"/>
          <p:cNvSpPr/>
          <p:nvPr/>
        </p:nvSpPr>
        <p:spPr>
          <a:xfrm>
            <a:off x="571500" y="64770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133" name="TextBox 133"/>
          <p:cNvSpPr txBox="1"/>
          <p:nvPr/>
        </p:nvSpPr>
        <p:spPr>
          <a:xfrm>
            <a:off x="561975" y="6586538"/>
            <a:ext cx="219336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OpenCalc HarmonyOS Demo · 客户实验手册</a:t>
            </a:r>
            <a:endParaRPr lang="zh-CN" sz="750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134" name="TextBox 134"/>
          <p:cNvSpPr txBox="1"/>
          <p:nvPr/>
        </p:nvSpPr>
        <p:spPr>
          <a:xfrm>
            <a:off x="11298793" y="6586538"/>
            <a:ext cx="33123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15 / 16</a:t>
            </a:r>
            <a:endParaRPr lang="zh-CN" sz="750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7F9FC"/>
              </a:gs>
            </a:gsLst>
            <a:lin ang="54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11563350" y="571500"/>
            <a:ext cx="57150" cy="57150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565C0"/>
              </a:gs>
              <a:gs pos="100000">
                <a:srgbClr val="0288D1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1505902"/>
            <a:ext cx="109247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CLOSING · 结语</a:t>
            </a:r>
            <a:endParaRPr lang="zh-CN" sz="1050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571500" y="1771650"/>
            <a:ext cx="571500" cy="1905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14350" y="2181225"/>
            <a:ext cx="6911650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500" b="1" dirty="0">
                <a:gradFill>
                  <a:gsLst>
                    <a:gs pos="0">
                      <a:srgbClr val="1565C0"/>
                    </a:gs>
                    <a:gs pos="100000">
                      <a:srgbClr val="0288D1"/>
                    </a:gs>
                  </a:gsLst>
                  <a:lin ang="0" scaled="1"/>
                </a:gradFill>
                <a:latin typeface="Segoe UI"/>
                <a:ea typeface="Microsoft YaHei"/>
                <a:cs typeface="Segoe UI"/>
              </a:rPr>
              <a:t>三个 Demo · 一套方法</a:t>
            </a:r>
            <a:endParaRPr lang="zh-CN" sz="4500" b="1" dirty="0">
              <a:gradFill>
                <a:gsLst>
                  <a:gs pos="0">
                    <a:srgbClr val="1565C0"/>
                  </a:gs>
                  <a:gs pos="100000">
                    <a:srgbClr val="0288D1"/>
                  </a:gs>
                </a:gsLst>
                <a:lin ang="0" scaled="1"/>
              </a:gradFill>
              <a:latin typeface="Segoe UI"/>
              <a:ea typeface="Microsoft YaHei"/>
              <a:cs typeface="Segoe UI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550545" y="2984182"/>
            <a:ext cx="748826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S → S → M 层层递进 · 同一 AID 工作流 · 同一目录结构 · 同一交付标准</a:t>
            </a:r>
            <a:endParaRPr lang="zh-CN" sz="1650" dirty="0">
              <a:solidFill>
                <a:srgbClr val="1F2937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8" name="Line 8"/>
          <p:cNvSpPr/>
          <p:nvPr/>
        </p:nvSpPr>
        <p:spPr>
          <a:xfrm>
            <a:off x="571500" y="3619500"/>
            <a:ext cx="1333500" cy="9525"/>
          </a:xfrm>
          <a:custGeom>
            <a:avLst/>
            <a:gdLst/>
            <a:ahLst/>
            <a:cxnLst/>
            <a:rect l="l" t="t" r="r" b="b"/>
            <a:pathLst>
              <a:path w="1333500" h="9525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/>
          <a:ln w="19050">
            <a:solidFill>
              <a:srgbClr val="0288D1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558165" y="3982402"/>
            <a:ext cx="101579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DEVELOPMENT</a:t>
            </a:r>
            <a:endParaRPr lang="zh-CN" sz="1050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58165" y="4744402"/>
            <a:ext cx="95445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VERIFICATION</a:t>
            </a:r>
            <a:endParaRPr lang="zh-CN" sz="1050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13" name="Rectangle 13"/>
          <p:cNvSpPr/>
          <p:nvPr/>
        </p:nvSpPr>
        <p:spPr>
          <a:xfrm>
            <a:off x="7239000" y="1619250"/>
            <a:ext cx="4000500" cy="3429000"/>
          </a:xfrm>
          <a:prstGeom prst="roundRect">
            <a:avLst>
              <a:gd name="adj" fmla="val 3889"/>
            </a:avLst>
          </a:prstGeom>
          <a:solidFill>
            <a:srgbClr val="0F172A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7512368" y="1856899"/>
            <a:ext cx="82931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REPOSITORY</a:t>
            </a:r>
            <a:endParaRPr lang="zh-CN" sz="975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15" name="Line 15"/>
          <p:cNvSpPr/>
          <p:nvPr/>
        </p:nvSpPr>
        <p:spPr>
          <a:xfrm>
            <a:off x="7524750" y="2057400"/>
            <a:ext cx="571500" cy="9525"/>
          </a:xfrm>
          <a:custGeom>
            <a:avLst/>
            <a:gdLst/>
            <a:ahLst/>
            <a:cxnLst/>
            <a:rect l="l" t="t" r="r" b="b"/>
            <a:pathLst>
              <a:path w="571500" h="952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/>
          <a:ln w="19050">
            <a:solidFill>
              <a:srgbClr val="0288D1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7511415" y="2248852"/>
            <a:ext cx="217360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FFFF"/>
                </a:solidFill>
                <a:latin typeface="Consolas"/>
                <a:ea typeface="Microsoft YaHei"/>
                <a:cs typeface="Consolas"/>
              </a:rPr>
              <a:t>github.com/JungleTestLabs/</a:t>
            </a:r>
            <a:endParaRPr lang="zh-CN" sz="1050" dirty="0">
              <a:solidFill>
                <a:srgbClr val="FFFFFF"/>
              </a:solidFill>
              <a:latin typeface="Consolas"/>
              <a:ea typeface="Microsoft YaHei"/>
              <a:cs typeface="Consola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7511415" y="2458402"/>
            <a:ext cx="198958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DD3FC"/>
                </a:solidFill>
                <a:latin typeface="Consolas"/>
                <a:ea typeface="Microsoft YaHei"/>
                <a:cs typeface="Consolas"/>
              </a:rPr>
              <a:t>opencalc-harmonyos-demo</a:t>
            </a:r>
            <a:endParaRPr lang="zh-CN" sz="1050" dirty="0">
              <a:solidFill>
                <a:srgbClr val="7DD3FC"/>
              </a:solidFill>
              <a:latin typeface="Consolas"/>
              <a:ea typeface="Microsoft YaHei"/>
              <a:cs typeface="Consolas"/>
            </a:endParaRPr>
          </a:p>
        </p:txBody>
      </p:sp>
      <p:sp>
        <p:nvSpPr>
          <p:cNvPr id="18" name="Line 18"/>
          <p:cNvSpPr/>
          <p:nvPr/>
        </p:nvSpPr>
        <p:spPr>
          <a:xfrm>
            <a:off x="7524750" y="2857500"/>
            <a:ext cx="3429000" cy="9525"/>
          </a:xfrm>
          <a:custGeom>
            <a:avLst/>
            <a:gdLst/>
            <a:ahLst/>
            <a:cxnLst/>
            <a:rect l="l" t="t" r="r" b="b"/>
            <a:pathLst>
              <a:path w="3429000" h="952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/>
          <a:ln w="9525">
            <a:solidFill>
              <a:srgbClr val="1F2937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7512368" y="3057049"/>
            <a:ext cx="107851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SUBDIRECTORIES</a:t>
            </a:r>
            <a:endParaRPr lang="zh-CN" sz="975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20" name="Line 20"/>
          <p:cNvSpPr/>
          <p:nvPr/>
        </p:nvSpPr>
        <p:spPr>
          <a:xfrm>
            <a:off x="7524750" y="3257550"/>
            <a:ext cx="571500" cy="9525"/>
          </a:xfrm>
          <a:custGeom>
            <a:avLst/>
            <a:gdLst/>
            <a:ahLst/>
            <a:cxnLst/>
            <a:rect l="l" t="t" r="r" b="b"/>
            <a:pathLst>
              <a:path w="571500" h="952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/>
          <a:ln w="19050">
            <a:solidFill>
              <a:srgbClr val="0288D1"/>
            </a:solidFill>
          </a:ln>
        </p:spPr>
      </p:sp>
      <p:grpSp>
        <p:nvGrpSpPr>
          <p:cNvPr id="25" name="Group 25"/>
          <p:cNvGrpSpPr/>
          <p:nvPr/>
        </p:nvGrpSpPr>
        <p:grpSpPr>
          <a:xfrm>
            <a:off x="7512368" y="3418999"/>
            <a:ext cx="2310265" cy="826770"/>
            <a:chOff x="7512368" y="3418999"/>
            <a:chExt cx="2310265" cy="826770"/>
          </a:xfrm>
        </p:grpSpPr>
        <p:sp>
          <p:nvSpPr>
            <p:cNvPr id="21" name="TextBox 21"/>
            <p:cNvSpPr txBox="1"/>
            <p:nvPr/>
          </p:nvSpPr>
          <p:spPr>
            <a:xfrm>
              <a:off x="7512368" y="3418999"/>
              <a:ext cx="150571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├── 0-basic/ 基线版本</a:t>
              </a:r>
              <a:endParaRPr lang="zh-CN" sz="975" dirty="0">
                <a:solidFill>
                  <a:srgbClr val="FFFFFF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512368" y="3628549"/>
              <a:ext cx="231026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├── 1-percent-button/ Demo 1 · S</a:t>
              </a:r>
              <a:endParaRPr lang="zh-CN" sz="975" dirty="0">
                <a:solidFill>
                  <a:srgbClr val="FFFFFF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12368" y="3838099"/>
              <a:ext cx="227466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├── 2-tip-calculator/ Demo 2 · S</a:t>
              </a:r>
              <a:endParaRPr lang="zh-CN" sz="975" dirty="0">
                <a:solidFill>
                  <a:srgbClr val="FFFFFF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12368" y="4047649"/>
              <a:ext cx="204682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└── 3-draw-func/ Demo 3 · M</a:t>
              </a:r>
              <a:endParaRPr lang="zh-CN" sz="975" dirty="0">
                <a:solidFill>
                  <a:srgbClr val="FFFFFF"/>
                </a:solidFill>
                <a:latin typeface="Consolas"/>
                <a:ea typeface="Microsoft YaHei"/>
                <a:cs typeface="Consolas"/>
              </a:endParaRPr>
            </a:p>
          </p:txBody>
        </p:sp>
      </p:grpSp>
      <p:sp>
        <p:nvSpPr>
          <p:cNvPr id="26" name="Line 26"/>
          <p:cNvSpPr/>
          <p:nvPr/>
        </p:nvSpPr>
        <p:spPr>
          <a:xfrm>
            <a:off x="7524750" y="4438650"/>
            <a:ext cx="3429000" cy="9525"/>
          </a:xfrm>
          <a:custGeom>
            <a:avLst/>
            <a:gdLst/>
            <a:ahLst/>
            <a:cxnLst/>
            <a:rect l="l" t="t" r="r" b="b"/>
            <a:pathLst>
              <a:path w="3429000" h="952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/>
          <a:ln w="9525">
            <a:solidFill>
              <a:srgbClr val="1F2937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7513320" y="4646295"/>
            <a:ext cx="8115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完整实验手册</a:t>
            </a:r>
            <a:endParaRPr lang="zh-CN" sz="900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8446770" y="4646295"/>
            <a:ext cx="175136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0B981"/>
                </a:solidFill>
                <a:latin typeface="Consolas"/>
                <a:ea typeface="Microsoft YaHei"/>
                <a:cs typeface="Consolas"/>
              </a:rPr>
              <a:t>{各子目录}/DEMO_GUIDE.md</a:t>
            </a:r>
            <a:endParaRPr lang="zh-CN" sz="900" dirty="0">
              <a:solidFill>
                <a:srgbClr val="10B981"/>
              </a:solidFill>
              <a:latin typeface="Consolas"/>
              <a:ea typeface="Microsoft YaHei"/>
              <a:cs typeface="Consolas"/>
            </a:endParaRPr>
          </a:p>
        </p:txBody>
      </p:sp>
      <p:sp>
        <p:nvSpPr>
          <p:cNvPr id="29" name="Rectangle 29"/>
          <p:cNvSpPr/>
          <p:nvPr/>
        </p:nvSpPr>
        <p:spPr>
          <a:xfrm>
            <a:off x="571500" y="5410200"/>
            <a:ext cx="10477500" cy="5715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grpSp>
        <p:nvGrpSpPr>
          <p:cNvPr id="50" name="Group 50"/>
          <p:cNvGrpSpPr/>
          <p:nvPr/>
        </p:nvGrpSpPr>
        <p:grpSpPr>
          <a:xfrm>
            <a:off x="931545" y="5524500"/>
            <a:ext cx="9860566" cy="519112"/>
            <a:chOff x="931545" y="5524500"/>
            <a:chExt cx="9860566" cy="519112"/>
          </a:xfrm>
        </p:grpSpPr>
        <p:sp>
          <p:nvSpPr>
            <p:cNvPr id="30" name="TextBox 30"/>
            <p:cNvSpPr txBox="1"/>
            <p:nvPr/>
          </p:nvSpPr>
          <p:spPr>
            <a:xfrm>
              <a:off x="942022" y="5549741"/>
              <a:ext cx="40050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DEMOS</a:t>
              </a:r>
              <a:endParaRPr lang="zh-CN" sz="825" dirty="0">
                <a:solidFill>
                  <a:srgbClr val="94A3B8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31545" y="5708332"/>
              <a:ext cx="18107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565C0"/>
                  </a:solidFill>
                  <a:latin typeface="Segoe UI"/>
                  <a:ea typeface="Microsoft YaHei"/>
                  <a:cs typeface="Segoe UI"/>
                </a:rPr>
                <a:t>3</a:t>
              </a:r>
              <a:endParaRPr lang="zh-CN" sz="1650" b="1" dirty="0">
                <a:solidFill>
                  <a:srgbClr val="1565C0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32" name="Line 32"/>
            <p:cNvSpPr/>
            <p:nvPr/>
          </p:nvSpPr>
          <p:spPr>
            <a:xfrm>
              <a:off x="1714500" y="552450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085022" y="5549741"/>
              <a:ext cx="62341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SPEC FILES</a:t>
              </a:r>
              <a:endParaRPr lang="zh-CN" sz="825" dirty="0">
                <a:solidFill>
                  <a:srgbClr val="94A3B8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074545" y="5708332"/>
              <a:ext cx="32024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288D1"/>
                  </a:solidFill>
                  <a:latin typeface="Segoe UI"/>
                  <a:ea typeface="Microsoft YaHei"/>
                  <a:cs typeface="Segoe UI"/>
                </a:rPr>
                <a:t>27</a:t>
              </a:r>
              <a:endParaRPr lang="zh-CN" sz="1650" b="1" dirty="0">
                <a:solidFill>
                  <a:srgbClr val="0288D1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35" name="Line 35"/>
            <p:cNvSpPr/>
            <p:nvPr/>
          </p:nvSpPr>
          <p:spPr>
            <a:xfrm>
              <a:off x="3048000" y="552450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418522" y="5549741"/>
              <a:ext cx="75595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VERIFY CASES</a:t>
              </a:r>
              <a:endParaRPr lang="zh-CN" sz="825" dirty="0">
                <a:solidFill>
                  <a:srgbClr val="94A3B8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408045" y="5708332"/>
              <a:ext cx="32024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6A69A"/>
                  </a:solidFill>
                  <a:latin typeface="Segoe UI"/>
                  <a:ea typeface="Microsoft YaHei"/>
                  <a:cs typeface="Segoe UI"/>
                </a:rPr>
                <a:t>25</a:t>
              </a:r>
              <a:endParaRPr lang="zh-CN" sz="1650" b="1" dirty="0">
                <a:solidFill>
                  <a:srgbClr val="26A69A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38" name="Line 38"/>
            <p:cNvSpPr/>
            <p:nvPr/>
          </p:nvSpPr>
          <p:spPr>
            <a:xfrm>
              <a:off x="4381500" y="552450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752022" y="5549741"/>
              <a:ext cx="77402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SCREENSHOTS</a:t>
              </a:r>
              <a:endParaRPr lang="zh-CN" sz="825" dirty="0">
                <a:solidFill>
                  <a:srgbClr val="94A3B8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741545" y="5708332"/>
              <a:ext cx="32024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0B981"/>
                  </a:solidFill>
                  <a:latin typeface="Segoe UI"/>
                  <a:ea typeface="Microsoft YaHei"/>
                  <a:cs typeface="Segoe UI"/>
                </a:rPr>
                <a:t>28</a:t>
              </a:r>
              <a:endParaRPr lang="zh-CN" sz="1650" b="1" dirty="0">
                <a:solidFill>
                  <a:srgbClr val="10B981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41" name="Line 41"/>
            <p:cNvSpPr/>
            <p:nvPr/>
          </p:nvSpPr>
          <p:spPr>
            <a:xfrm>
              <a:off x="5810250" y="552450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180772" y="5549741"/>
              <a:ext cx="58726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PASS RATE</a:t>
              </a:r>
              <a:endParaRPr lang="zh-CN" sz="825" dirty="0">
                <a:solidFill>
                  <a:srgbClr val="94A3B8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170295" y="5708332"/>
              <a:ext cx="53532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0B981"/>
                  </a:solidFill>
                  <a:latin typeface="Segoe UI"/>
                  <a:ea typeface="Microsoft YaHei"/>
                  <a:cs typeface="Segoe UI"/>
                </a:rPr>
                <a:t>100%</a:t>
              </a:r>
              <a:endParaRPr lang="zh-CN" sz="1650" b="1" dirty="0">
                <a:solidFill>
                  <a:srgbClr val="10B981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44" name="Line 44"/>
            <p:cNvSpPr/>
            <p:nvPr/>
          </p:nvSpPr>
          <p:spPr>
            <a:xfrm>
              <a:off x="7429500" y="552450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800022" y="5549741"/>
              <a:ext cx="21976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SDK</a:t>
              </a:r>
              <a:endParaRPr lang="zh-CN" sz="825" dirty="0">
                <a:solidFill>
                  <a:srgbClr val="94A3B8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795260" y="5756910"/>
              <a:ext cx="126343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API 22 · 6.0.2</a:t>
              </a:r>
              <a:endPara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47" name="Line 47"/>
            <p:cNvSpPr/>
            <p:nvPr/>
          </p:nvSpPr>
          <p:spPr>
            <a:xfrm>
              <a:off x="9429750" y="552450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800272" y="5549741"/>
              <a:ext cx="28603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DATE</a:t>
              </a:r>
              <a:endParaRPr lang="zh-CN" sz="825" dirty="0">
                <a:solidFill>
                  <a:srgbClr val="94A3B8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795510" y="5756910"/>
              <a:ext cx="99660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2026-05-19</a:t>
              </a:r>
              <a:endPara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endParaRPr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4541688" y="6293168"/>
            <a:ext cx="310862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565C0"/>
                </a:solidFill>
                <a:latin typeface="Segoe UI"/>
                <a:ea typeface="Microsoft YaHei"/>
                <a:cs typeface="Segoe UI"/>
              </a:rPr>
              <a:t>— 感谢阅读 · 期待与您共同迭代 —</a:t>
            </a:r>
            <a:endParaRPr lang="zh-CN" sz="1350" b="1" dirty="0">
              <a:solidFill>
                <a:srgbClr val="1565C0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52" name="TextBox 52"/>
          <p:cNvSpPr txBox="1"/>
          <p:nvPr/>
        </p:nvSpPr>
        <p:spPr>
          <a:xfrm>
            <a:off x="561975" y="6624638"/>
            <a:ext cx="253293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OpenCalc HarmonyOS Demo · 客户实验手册 · v1.0</a:t>
            </a:r>
            <a:endParaRPr lang="zh-CN" sz="750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11298793" y="6624638"/>
            <a:ext cx="33123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16 / 16</a:t>
            </a:r>
            <a:endParaRPr lang="zh-CN" sz="750" dirty="0">
              <a:solidFill>
                <a:srgbClr val="94A3B8"/>
              </a:solidFill>
              <a:latin typeface="Segoe UI"/>
              <a:ea typeface="Microsoft YaHei"/>
              <a:cs typeface="Segoe U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11340</Words>
  <Application>WPS Sheets</Application>
  <PresentationFormat>On-screen Show (4:3)</PresentationFormat>
  <Paragraphs>1712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8" baseType="lpstr">
      <vt:lpstr>Arial</vt:lpstr>
      <vt:lpstr>SimSun</vt:lpstr>
      <vt:lpstr>Wingdings</vt:lpstr>
      <vt:lpstr>Arial</vt:lpstr>
      <vt:lpstr>Segoe UI</vt:lpstr>
      <vt:lpstr>Thonburi</vt:lpstr>
      <vt:lpstr>Microsoft YaHei</vt:lpstr>
      <vt:lpstr>Consolas</vt:lpstr>
      <vt:lpstr>汉仪旗黑</vt:lpstr>
      <vt:lpstr>Microsoft YaHei</vt:lpstr>
      <vt:lpstr>Arial Unicode MS</vt:lpstr>
      <vt:lpstr>Calibri</vt:lpstr>
      <vt:lpstr>Helvetica Neue</vt:lpstr>
      <vt:lpstr>SimSun</vt:lpstr>
      <vt:lpstr>汉仪书宋二KW</vt:lpstr>
      <vt:lpstr>Consolas</vt:lpstr>
      <vt:lpstr>Microsoft YaHei</vt:lpstr>
      <vt:lpstr>Segoe UI</vt:lpstr>
      <vt:lpstr>苹方-简</vt:lpstr>
      <vt:lpstr>MS PGothic</vt:lpstr>
      <vt:lpstr>Apple Color Emoji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Jordan Tao</cp:lastModifiedBy>
  <cp:revision>2</cp:revision>
  <dcterms:created xsi:type="dcterms:W3CDTF">2026-05-25T06:18:38Z</dcterms:created>
  <dcterms:modified xsi:type="dcterms:W3CDTF">2026-05-25T06:18:38Z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1033-12.1.25867.25867</vt:lpwstr>
  </property>
  <property fmtid="{D5CDD505-2E9C-101B-9397-08002B2CF9AE}" pid="3" name="ICV">
    <vt:lpwstr>8A065180AC74A9C0BEE9136AC20D07D3_42</vt:lpwstr>
  </property>
</Properties>
</file>